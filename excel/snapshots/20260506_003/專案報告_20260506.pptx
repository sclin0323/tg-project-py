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Arial"/>
              </a:rPr>
              <a:t>整體完成率 32%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完成率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E8EEF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已完成</c:v>
                </c:pt>
                <c:pt idx="1">
                  <c:v>未完成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30</c:v>
                </c:pt>
                <c:pt idx="1">
                  <c:v>63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Arial"/>
              </a:rPr>
              <a:t>各專案任務分佈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已完成</c:v>
                </c:pt>
              </c:strCache>
            </c:strRef>
          </c:tx>
          <c:spPr>
            <a:solidFill>
              <a:srgbClr val="16A34A"/>
            </a:solidFill>
            <a:effectLst>
              <a:outerShdw sx="100000" sy="100000" kx="0" ky="0" algn="bl" blurRad="76200" rotWithShape="1" dist="25400" dir="8100000">
                <a:srgbClr val="000000">
                  <a:alpha val="8000"/>
                </a:srgbClr>
              </a:outerShdw>
            </a:effectLst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預算報支</c:v>
                  </c:pt>
                  <c:pt idx="1">
                    <c:v>團險系統專案</c:v>
                  </c:pt>
                  <c:pt idx="2">
                    <c:v>保戶 App 改版</c:v>
                  </c:pt>
                  <c:pt idx="3">
                    <c:v>核保 AI 升級</c:v>
                  </c:pt>
                  <c:pt idx="4">
                    <c:v>理賠數位化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6</c:v>
                </c:pt>
                <c:pt idx="3">
                  <c:v>4</c:v>
                </c:pt>
                <c:pt idx="4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進行中</c:v>
                </c:pt>
              </c:strCache>
            </c:strRef>
          </c:tx>
          <c:spPr>
            <a:solidFill>
              <a:srgbClr val="2E6DB4"/>
            </a:solidFill>
            <a:effectLst>
              <a:outerShdw sx="100000" sy="100000" kx="0" ky="0" algn="bl" blurRad="76200" rotWithShape="1" dist="25400" dir="8100000">
                <a:srgbClr val="000000">
                  <a:alpha val="8000"/>
                </a:srgbClr>
              </a:outerShdw>
            </a:effectLst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預算報支</c:v>
                  </c:pt>
                  <c:pt idx="1">
                    <c:v>團險系統專案</c:v>
                  </c:pt>
                  <c:pt idx="2">
                    <c:v>保戶 App 改版</c:v>
                  </c:pt>
                  <c:pt idx="3">
                    <c:v>核保 AI 升級</c:v>
                  </c:pt>
                  <c:pt idx="4">
                    <c:v>理賠數位化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風險/延遲</c:v>
                </c:pt>
              </c:strCache>
            </c:strRef>
          </c:tx>
          <c:spPr>
            <a:solidFill>
              <a:srgbClr val="DC2626"/>
            </a:solidFill>
            <a:effectLst>
              <a:outerShdw sx="100000" sy="100000" kx="0" ky="0" algn="bl" blurRad="76200" rotWithShape="1" dist="25400" dir="8100000">
                <a:srgbClr val="000000">
                  <a:alpha val="8000"/>
                </a:srgbClr>
              </a:outerShdw>
            </a:effectLst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預算報支</c:v>
                  </c:pt>
                  <c:pt idx="1">
                    <c:v>團險系統專案</c:v>
                  </c:pt>
                  <c:pt idx="2">
                    <c:v>保戶 App 改版</c:v>
                  </c:pt>
                  <c:pt idx="3">
                    <c:v>核保 AI 升級</c:v>
                  </c:pt>
                  <c:pt idx="4">
                    <c:v>理賠數位化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0</c:v>
                </c:pt>
                <c:pt idx="2">
                  <c:v>3</c:v>
                </c:pt>
                <c:pt idx="3">
                  <c:v>1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待開始</c:v>
                </c:pt>
              </c:strCache>
            </c:strRef>
          </c:tx>
          <c:spPr>
            <a:solidFill>
              <a:srgbClr val="B0BEC5"/>
            </a:solidFill>
            <a:effectLst>
              <a:outerShdw sx="100000" sy="100000" kx="0" ky="0" algn="bl" blurRad="76200" rotWithShape="1" dist="25400" dir="8100000">
                <a:srgbClr val="000000">
                  <a:alpha val="8000"/>
                </a:srgbClr>
              </a:outerShdw>
            </a:effectLst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預算報支</c:v>
                  </c:pt>
                  <c:pt idx="1">
                    <c:v>團險系統專案</c:v>
                  </c:pt>
                  <c:pt idx="2">
                    <c:v>保戶 App 改版</c:v>
                  </c:pt>
                  <c:pt idx="3">
                    <c:v>核保 AI 升級</c:v>
                  </c:pt>
                  <c:pt idx="4">
                    <c:v>理賠數位化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</c:v>
                </c:pt>
                <c:pt idx="1">
                  <c:v>15</c:v>
                </c:pt>
                <c:pt idx="2">
                  <c:v>7</c:v>
                </c:pt>
                <c:pt idx="3">
                  <c:v>13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專案管理報告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Status Report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200400" cy="36576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83464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8346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1 個專案需立即關注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報告日期　2026/05/06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下次回報　2026/05/13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執行摘要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一頁掌握所有專案 ｜ 2026/05/06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31520"/>
            <a:ext cx="2697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731520"/>
            <a:ext cx="73152" cy="777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75895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463040" y="777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需立即關注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63040" y="1097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個專案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27832" y="731520"/>
            <a:ext cx="2697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27832" y="731520"/>
            <a:ext cx="73152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75895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325112" y="777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需要觀察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25112" y="1097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個專案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89904" y="731520"/>
            <a:ext cx="2697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9904" y="731520"/>
            <a:ext cx="73152" cy="7772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72784" y="75895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187184" y="7772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進度健康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87184" y="1097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個專案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1783080"/>
            <a:ext cx="45720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1783080"/>
            <a:ext cx="155448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1783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0" y="1783080"/>
            <a:ext cx="77724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0" y="1783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063240" y="1783080"/>
            <a:ext cx="141732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1783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1783080"/>
            <a:ext cx="109728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0560" y="1783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77840" y="1783080"/>
            <a:ext cx="86868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偏差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46520" y="1783080"/>
            <a:ext cx="242316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178308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主要關鍵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2075688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" y="2180844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21214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預算報支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960" y="235000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Jeffery · 注意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286000" y="2075688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3154680" y="2253996"/>
            <a:ext cx="123444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54680" y="2253996"/>
            <a:ext cx="435757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80059" y="2217420"/>
            <a:ext cx="18288" cy="21945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54680" y="2414016"/>
            <a:ext cx="1234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已過 35.2%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480560" y="21214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2026/10/29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480560" y="235000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2026/10/30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77840" y="207568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天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537960" y="207568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Eportal 借支模組整合　延遲 4 天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2578608"/>
            <a:ext cx="8595360" cy="502920"/>
          </a:xfrm>
          <a:prstGeom prst="rect">
            <a:avLst/>
          </a:prstGeom>
          <a:solidFill>
            <a:srgbClr val="EEF4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6616" y="2683764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26243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團險系統專案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22960" y="28529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· 健康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286000" y="2578608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3154680" y="2756916"/>
            <a:ext cx="123444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154680" y="2756916"/>
            <a:ext cx="185166" cy="14630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177631" y="2720340"/>
            <a:ext cx="18288" cy="21945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54680" y="2916936"/>
            <a:ext cx="1234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已過 2.6%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480560" y="26243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2026/09/30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480560" y="28529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2026/09/30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577840" y="257860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準時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537960" y="25786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進度正常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74320" y="3081528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56616" y="3186684"/>
            <a:ext cx="292608" cy="29260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2960" y="312724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 App 改版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822960" y="3355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· 警報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286000" y="3081528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31.6%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3154680" y="3259836"/>
            <a:ext cx="123444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154680" y="3259836"/>
            <a:ext cx="390083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789914" y="3223260"/>
            <a:ext cx="18288" cy="21945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154680" y="3419856"/>
            <a:ext cx="1234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已過 52.2%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4480560" y="312724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2026/11/26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480560" y="33558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2026/07/31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77840" y="308152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 天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6537960" y="308152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UX 使用者測試 (8人)　延遲 4 天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274320" y="3584448"/>
            <a:ext cx="8595360" cy="502920"/>
          </a:xfrm>
          <a:prstGeom prst="rect">
            <a:avLst/>
          </a:prstGeom>
          <a:solidFill>
            <a:srgbClr val="EEF4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56616" y="3689604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" y="36301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核保 AI 升級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822960" y="38587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· 注意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2286000" y="3584448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3154680" y="3762756"/>
            <a:ext cx="123444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54680" y="3762756"/>
            <a:ext cx="274046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12175" y="3726180"/>
            <a:ext cx="18288" cy="21945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154680" y="3922776"/>
            <a:ext cx="1234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已過 21.6%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4480560" y="36301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2026/12/23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4480560" y="3858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2026/12/31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5577840" y="358444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 天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6537960" y="358444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資料清洗與標註　標記為延遲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274320" y="4087368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56616" y="4192524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22960" y="4133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理賠數位化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822960" y="436168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· 健康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286000" y="4087368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57.9%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3154680" y="4265676"/>
            <a:ext cx="1234440" cy="14630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54680" y="4265676"/>
            <a:ext cx="714741" cy="14630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749177" y="4229100"/>
            <a:ext cx="18288" cy="21945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154680" y="4425696"/>
            <a:ext cx="1234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已過 48.9%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4480560" y="413308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2026/07/26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4480560" y="43616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2026/08/30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5577840" y="408736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 天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6537960" y="408736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進度正常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274320" y="472744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需主管裁示事項：5 件　·　詳見後續頁面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Dashboard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任務統計 ｜ 2026/05/06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7724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777240"/>
            <a:ext cx="1554480" cy="548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8686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專案總數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66544" y="77724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66544" y="777240"/>
            <a:ext cx="1554480" cy="54864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66544" y="8686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66544" y="14173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總任務數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67328" y="77724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67328" y="777240"/>
            <a:ext cx="155448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67328" y="8686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767328" y="14173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68112" y="77724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68112" y="777240"/>
            <a:ext cx="1554480" cy="54864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8686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68112" y="14173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8896" y="77724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8896" y="777240"/>
            <a:ext cx="15544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68896" y="8686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168896" y="14173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 / 延遲</a:t>
            </a:r>
            <a:endParaRPr lang="en-US" sz="10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274320" y="2011680"/>
          <a:ext cx="2926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Chart 1" descr=""/>
          <p:cNvGraphicFramePr/>
          <p:nvPr/>
        </p:nvGraphicFramePr>
        <p:xfrm>
          <a:off x="3383280" y="1920240"/>
          <a:ext cx="54864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預算報支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Jeffery ｜ 2026/01/30 ～ 2026/10/30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31520"/>
            <a:ext cx="91440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6868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868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12344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83080" y="14173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2026/10/29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71907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提前 1 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4231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48840"/>
            <a:ext cx="855375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01008" y="2112264"/>
            <a:ext cx="18288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77440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時間已過 35.2%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731520"/>
            <a:ext cx="56692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7560" y="777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里程碑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371600"/>
            <a:ext cx="53949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16094" y="1261872"/>
            <a:ext cx="18288" cy="12801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96638" y="25146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1298448"/>
            <a:ext cx="2276772" cy="164592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1508760"/>
            <a:ext cx="28254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借支輸入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63240" y="1691640"/>
            <a:ext cx="28254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41099" y="1298448"/>
            <a:ext cx="1559094" cy="164592"/>
          </a:xfrm>
          <a:prstGeom prst="roundRect">
            <a:avLst>
              <a:gd name="adj" fmla="val 22222"/>
            </a:avLst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779" y="1691640"/>
            <a:ext cx="210773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借支還款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166779" y="1874520"/>
            <a:ext cx="210773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000193" y="1298448"/>
            <a:ext cx="1732327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5873" y="1508760"/>
            <a:ext cx="228096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測試與上線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25873" y="1691640"/>
            <a:ext cx="2280967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432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74320" y="2697480"/>
            <a:ext cx="286207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14 天完成 (0)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1480" y="353872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本期無完成任務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0" y="2697480"/>
            <a:ext cx="2862072" cy="2926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 / 即將到期 (2)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9300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Eportal 借支模組整合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9300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· 延遲 · 截止 2026/05/02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337560" y="353872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93008" y="344728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還款流程系統分析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493008" y="363016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· 進行中 · 截止 2026/05/09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126480" y="2697480"/>
            <a:ext cx="27432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2697480"/>
            <a:ext cx="274320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6364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風險議題 (1)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263640" y="317296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19088" y="3081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Eportal 借支模組整合　延遲 4 天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19088" y="326440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請關注進度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團險系統專案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｜ 2026/05/02 ～ 2026/09/30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31520"/>
            <a:ext cx="91440" cy="18745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68680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868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12344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83080" y="14173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2026/09/30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71907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4231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48840"/>
            <a:ext cx="363474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058" y="2112264"/>
            <a:ext cx="18288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77440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時間已過 2.6%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731520"/>
            <a:ext cx="56692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7560" y="777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里程碑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371600"/>
            <a:ext cx="53949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66573" y="1261872"/>
            <a:ext cx="18288" cy="12801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47117" y="25146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1298448"/>
            <a:ext cx="1726387" cy="164592"/>
          </a:xfrm>
          <a:prstGeom prst="roundRect">
            <a:avLst>
              <a:gd name="adj" fmla="val 22222"/>
            </a:avLst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1508760"/>
            <a:ext cx="22750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需求與設計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63240" y="1691640"/>
            <a:ext cx="2275027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063947" y="1298448"/>
            <a:ext cx="1942186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9627" y="1691640"/>
            <a:ext cx="24908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核心開發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9627" y="1874520"/>
            <a:ext cx="24908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006133" y="1298448"/>
            <a:ext cx="986507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31813" y="1508760"/>
            <a:ext cx="153514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測試階段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31813" y="1691640"/>
            <a:ext cx="1535147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869326" y="1298448"/>
            <a:ext cx="863194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95006" y="1691640"/>
            <a:ext cx="141183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上線準備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595006" y="1874520"/>
            <a:ext cx="141183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2697480"/>
            <a:ext cx="286207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14 天完成 (0)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353872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本期無完成任務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200400" y="2697480"/>
            <a:ext cx="2862072" cy="2926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3756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 / 即將到期 (2)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9300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Schema 設計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49300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Curtis · 進行中 · 截止 2026/06/27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337560" y="353872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93008" y="344728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介面設計文件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493008" y="363016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· 進行中 · 截止 2026/06/27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126480" y="2697480"/>
            <a:ext cx="27432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126480" y="2697480"/>
            <a:ext cx="274320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6364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風險議題 (0)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263640" y="35387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目前無風險議題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 App 改版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｜ 2026/02/01 ～ 2026/07/31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31520"/>
            <a:ext cx="91440" cy="1874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68680"/>
            <a:ext cx="292608" cy="29260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868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警報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31.6%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12344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83080" y="14173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2026/11/26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71907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落後 90 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4231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48840"/>
            <a:ext cx="765719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12946" y="2112264"/>
            <a:ext cx="18288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77440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時間已過 52.2%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731520"/>
            <a:ext cx="56692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7560" y="777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里程碑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371600"/>
            <a:ext cx="53949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0216" y="1261872"/>
            <a:ext cx="18288" cy="12801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0760" y="25146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1298448"/>
            <a:ext cx="2697480" cy="164592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1508760"/>
            <a:ext cx="3246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重新設計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63240" y="1691640"/>
            <a:ext cx="3246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105908" y="1298448"/>
            <a:ext cx="2817368" cy="164592"/>
          </a:xfrm>
          <a:prstGeom prst="roundRect">
            <a:avLst>
              <a:gd name="adj" fmla="val 22222"/>
            </a:avLst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1588" y="1691640"/>
            <a:ext cx="3366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前端開發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31588" y="1874520"/>
            <a:ext cx="33660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596384" y="1298448"/>
            <a:ext cx="2068068" cy="164592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22064" y="1508760"/>
            <a:ext cx="26167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 API 整合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322064" y="1691640"/>
            <a:ext cx="26167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825236" y="1298448"/>
            <a:ext cx="2907284" cy="164592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50916" y="1691640"/>
            <a:ext cx="34559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測試與上架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50916" y="1874520"/>
            <a:ext cx="34559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2697480"/>
            <a:ext cx="286207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14 天完成 (2)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11480" y="317296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建立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· 2026/05/01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11480" y="353872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344728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高擬真原型 (Figma)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6928" y="363016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· 2026/04/30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200400" y="2697480"/>
            <a:ext cx="2862072" cy="2926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 / 即將到期 (6)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9300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使用者測試 (8人)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49300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· 風險 · 截止 2026/05/02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337560" y="353872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93008" y="344728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保戶身分驗證 (生物識別)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493008" y="363016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· 延遲 · 截止 2026/05/02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337560" y="390448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93008" y="381304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效能測試 (冷啟動&lt;2秒)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493008" y="399592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· 風險 · 截止 2026/05/02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337560" y="427024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93008" y="417880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推播後端 (FCM/APNs)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493008" y="436168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· 進行中 · 截止 2026/05/23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337560" y="463600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93008" y="454456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 主頁面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493008" y="472744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· 進行中 · 截止 2026/06/02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126480" y="2697480"/>
            <a:ext cx="27432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126480" y="2697480"/>
            <a:ext cx="274320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6364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風險議題 (3)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263640" y="317296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19088" y="3081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UX 使用者測試 (8人)　延遲 4 天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19088" y="326440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6263640" y="353872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9088" y="344728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保戶身分驗證 (生物識別)　延遲 4 天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419088" y="363016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6263640" y="390448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19088" y="38130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效能測試 (冷啟動&lt;2秒)　延遲 4 天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419088" y="399592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核保 AI 升級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｜ 2026/03/01 ～ 2026/12/31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31520"/>
            <a:ext cx="91440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6868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868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12344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83080" y="14173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2026/12/23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71907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提前 8 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4231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48840"/>
            <a:ext cx="53794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459" y="2112264"/>
            <a:ext cx="18288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77440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時間已過 21.6%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731520"/>
            <a:ext cx="56692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7560" y="777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里程碑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371600"/>
            <a:ext cx="53949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04367" y="1261872"/>
            <a:ext cx="18288" cy="12801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84911" y="25146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1298448"/>
            <a:ext cx="972862" cy="164592"/>
          </a:xfrm>
          <a:prstGeom prst="roundRect">
            <a:avLst>
              <a:gd name="adj" fmla="val 2222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1508760"/>
            <a:ext cx="15215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需求與資料蒐集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63240" y="1691640"/>
            <a:ext cx="152150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310422" y="1298448"/>
            <a:ext cx="1609644" cy="164592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36102" y="1691640"/>
            <a:ext cx="21582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模型開發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036102" y="1874520"/>
            <a:ext cx="21582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920065" y="1298448"/>
            <a:ext cx="1114369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45745" y="1508760"/>
            <a:ext cx="166300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系統整合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645745" y="1691640"/>
            <a:ext cx="166300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034434" y="1298448"/>
            <a:ext cx="1698086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0114" y="1691640"/>
            <a:ext cx="224672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測試與上線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760114" y="1874520"/>
            <a:ext cx="224672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2697480"/>
            <a:ext cx="286207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14 天完成 (1)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11480" y="317296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個資合規審查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· 2026/04/28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200400" y="2697480"/>
            <a:ext cx="2862072" cy="2926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3756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 / 即將到期 (1)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9300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資料清洗與標註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9300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 · 延遲 · 截止 2026/05/16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26480" y="2697480"/>
            <a:ext cx="27432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126480" y="2697480"/>
            <a:ext cx="274320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6364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風險議題 (1)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263640" y="3172968"/>
            <a:ext cx="91440" cy="91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19088" y="3081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資料清洗與標註　標記為延遲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419088" y="3264408"/>
            <a:ext cx="23774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理賠數位化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｜ 2026/01/15 ～ 2026/08/30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31520"/>
            <a:ext cx="91440" cy="18745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68680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8686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12344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預估完工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783080" y="14173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2026/07/26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71907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提前 35 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4231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48840"/>
            <a:ext cx="140301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32981" y="2112264"/>
            <a:ext cx="18288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77440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時間已過 48.9%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731520"/>
            <a:ext cx="56692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7560" y="7772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里程碑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371600"/>
            <a:ext cx="53949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77924" y="1261872"/>
            <a:ext cx="18288" cy="12801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58468" y="25146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1298448"/>
            <a:ext cx="1497280" cy="164592"/>
          </a:xfrm>
          <a:prstGeom prst="roundRect">
            <a:avLst>
              <a:gd name="adj" fmla="val 2222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1508760"/>
            <a:ext cx="20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需求與設計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63240" y="1691640"/>
            <a:ext cx="20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39774" y="1298448"/>
            <a:ext cx="1164551" cy="164592"/>
          </a:xfrm>
          <a:prstGeom prst="roundRect">
            <a:avLst>
              <a:gd name="adj" fmla="val 2222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5454" y="1691640"/>
            <a:ext cx="171319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前端開發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465454" y="1874520"/>
            <a:ext cx="171319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739774" y="1298448"/>
            <a:ext cx="1497280" cy="164592"/>
          </a:xfrm>
          <a:prstGeom prst="roundRect">
            <a:avLst>
              <a:gd name="adj" fmla="val 22222"/>
            </a:avLst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5454" y="1508760"/>
            <a:ext cx="20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 + OCR 整合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465454" y="1691640"/>
            <a:ext cx="20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403418" y="1298448"/>
            <a:ext cx="2329102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9098" y="1691640"/>
            <a:ext cx="287774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測試與上線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9098" y="1874520"/>
            <a:ext cx="287774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2697480"/>
            <a:ext cx="286207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14 天完成 (5)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11480" y="317296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電子核賠通知 (Email/簡訊)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· 2026/05/04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11480" y="353872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344728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工作流引擎 (審核流程)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6928" y="363016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· 2026/05/03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11480" y="390448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6928" y="381304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服務整合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66928" y="399592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Cathy · 2026/05/02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11480" y="427024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" y="417880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進度查詢頁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66928" y="436168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· 2026/05/01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11480" y="463600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6928" y="454456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理賠人員審核介面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472744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· 2026/04/23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200400" y="2697480"/>
            <a:ext cx="286207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200400" y="2697480"/>
            <a:ext cx="2862072" cy="2926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37560" y="269748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 / 即將到期 (1)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93008" y="3081528"/>
            <a:ext cx="2496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理賠批次作業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493008" y="3264408"/>
            <a:ext cx="249631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· 進行中 · 截止 2026/05/17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2697480"/>
            <a:ext cx="27432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126480" y="2697480"/>
            <a:ext cx="274320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63640" y="2697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風險議題 (0)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263640" y="35387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目前無風險議題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需主管裁示事項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按嚴重度排序 ｜ 5 件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48640"/>
            <a:ext cx="9144000" cy="274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54864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772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777240"/>
            <a:ext cx="128016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777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03120" y="777240"/>
            <a:ext cx="237744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7772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80560" y="777240"/>
            <a:ext cx="219456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7772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影響評估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0" y="777240"/>
            <a:ext cx="219456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7772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建議行動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1106424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1243584"/>
            <a:ext cx="36576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24358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11521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 App 改版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1472184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負責人 Vincent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194560" y="11521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UX 使用者測試 (8人)　延遲 4 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11521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測試結果不佳，主流程需重做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11521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1792224"/>
            <a:ext cx="8595360" cy="685800"/>
          </a:xfrm>
          <a:prstGeom prst="rect">
            <a:avLst/>
          </a:prstGeom>
          <a:solidFill>
            <a:srgbClr val="EEF4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1929384"/>
            <a:ext cx="36576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192938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96112" y="18379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 App 改版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96112" y="2157984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負責人 Brian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194560" y="18379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保戶身分驗證 (生物識別)　延遲 4 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0" y="18379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FaceID/指紋整合測試失敗，需資安團隊協助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18379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2478024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615184"/>
            <a:ext cx="36576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61518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96112" y="25237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保戶 App 改版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96112" y="2843784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負責人 Mia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194560" y="25237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效能測試 (冷啟動&lt;2秒)　延遲 4 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0" y="25237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目前冷啟動 4.5 秒，未達標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66560" y="25237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3163824"/>
            <a:ext cx="8595360" cy="685800"/>
          </a:xfrm>
          <a:prstGeom prst="rect">
            <a:avLst/>
          </a:prstGeom>
          <a:solidFill>
            <a:srgbClr val="EEF4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3300984"/>
            <a:ext cx="36576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30098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96112" y="32095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核保 AI 升級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96112" y="3529584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負責人 Henry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194560" y="32095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資料清洗與標註　標記為延遲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572000" y="32095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標註人力不足，已找外包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66560" y="32095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需裁示：是否加派人力 / 縮減範圍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849624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3986784"/>
            <a:ext cx="36576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398678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96112" y="38953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預算報支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96112" y="4215384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負責人 Andy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194560" y="38953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Eportal 借支模組整合　延遲 4 天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0" y="38953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Eportal API 規格確認中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66560" y="389534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請關注進度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本期報告日期：2026/05/06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下次回報日期：2026/05/13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專案管理報告</dc:title>
  <dc:subject>PptxGenJS Presentation</dc:subject>
  <dc:creator>PptxGenJS</dc:creator>
  <cp:lastModifiedBy>PptxGenJS</cp:lastModifiedBy>
  <cp:revision>1</cp:revision>
  <dcterms:created xsi:type="dcterms:W3CDTF">2026-05-06T03:33:21Z</dcterms:created>
  <dcterms:modified xsi:type="dcterms:W3CDTF">2026-05-06T03:33:21Z</dcterms:modified>
</cp:coreProperties>
</file>