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整體完成率 32%</a:t>
            </a:r>
            <a:endParaRPr/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rgbClr val="16A34A"/>
              </a:solidFill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rgbClr val="E8EEF4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0"/>
              <c:spPr bwMode="auto"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/>
                </a:p>
              </c:txPr>
            </c:dLbl>
            <c:dLbl>
              <c:idx val="1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0"/>
              <c:spPr bwMode="auto"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/>
                </a:p>
              </c:txPr>
            </c:dLbl>
            <c:numFmt formatCode="General" sourceLinked="0"/>
            <c:showBubbleSize val="0"/>
            <c:showCatName val="1"/>
            <c:showLeaderLines val="0"/>
            <c:showLegendKey val="0"/>
            <c:showPercent val="1"/>
            <c:showSerName val="0"/>
            <c:showVal val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strRef>
              <c:f>Sheet1!$A$2:$A$3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63</c:v>
                </c:pt>
              </c:numCache>
            </c:numRef>
          </c:val>
        </c:ser>
        <c:dLbls>
          <c:showBubbleSize val="0"/>
          <c:showCatName val="0"/>
          <c:showLegendKey val="0"/>
          <c:showPercent val="0"/>
          <c:showSerName val="0"/>
          <c:showVal val="0"/>
        </c:dLbls>
        <c:firstSliceAng val="0"/>
        <c:holeSize val="60"/>
      </c:doughnutChart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274320" y="2011680"/>
      <a:ext cx="2926080" cy="2743200"/>
    </a:xfrm>
    <a:prstGeom prst="rect">
      <a:avLst/>
    </a:prstGeom>
    <a:solidFill>
      <a:srgbClr val="F4F7FB"/>
    </a:solidFill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各專案任務分佈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 bwMode="auto">
            <a:prstGeom prst="rect">
              <a:avLst/>
            </a:prstGeom>
            <a:solidFill>
              <a:srgbClr val="16A34A"/>
            </a:solidFill>
            <a:effectLst>
              <a:outerShdw blurRad="76200" dist="25400" dir="8100000" sx="100000" sy="100000" kx="0" ky="0" algn="bl" rotWithShape="1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進行中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6DB4"/>
            </a:solidFill>
            <a:effectLst>
              <a:outerShdw blurRad="76200" dist="25400" dir="8100000" sx="100000" sy="100000" kx="0" ky="0" algn="bl" rotWithShape="1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風險/延遲</c:v>
                </c:pt>
              </c:strCache>
            </c:strRef>
          </c:tx>
          <c:spPr bwMode="auto">
            <a:prstGeom prst="rect">
              <a:avLst/>
            </a:prstGeom>
            <a:solidFill>
              <a:srgbClr val="DC2626"/>
            </a:solidFill>
            <a:effectLst>
              <a:outerShdw blurRad="76200" dist="25400" dir="8100000" sx="100000" sy="100000" kx="0" ky="0" algn="bl" rotWithShape="1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待開始</c:v>
                </c:pt>
              </c:strCache>
            </c:strRef>
          </c:tx>
          <c:spPr bwMode="auto">
            <a:prstGeom prst="rect">
              <a:avLst/>
            </a:prstGeom>
            <a:solidFill>
              <a:srgbClr val="B0BEC5"/>
            </a:solidFill>
            <a:effectLst>
              <a:outerShdw blurRad="76200" dist="25400" dir="8100000" sx="100000" sy="100000" kx="0" ky="0" algn="bl" rotWithShape="1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</c:v>
                </c:pt>
                <c:pt idx="1">
                  <c:v>15</c:v>
                </c:pt>
                <c:pt idx="2">
                  <c:v>7</c:v>
                </c:pt>
                <c:pt idx="3">
                  <c:v>13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0"/>
  </c:chart>
  <c:spPr bwMode="auto">
    <a:xfrm rot="0">
      <a:off x="3383280" y="1920240"/>
      <a:ext cx="5486400" cy="292608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0710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403090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62718931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0586193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0039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185695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4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507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2364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966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87050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6087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159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341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5342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963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7113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5122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038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248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47821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78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1914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391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6323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8517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1919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03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8153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7101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918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680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3846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768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5877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2747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 /><Relationship Id="rId4" Type="http://schemas.openxmlformats.org/officeDocument/2006/relationships/chart" Target="../charts/char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3A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748223" name="Shape 0"/>
          <p:cNvSpPr/>
          <p:nvPr/>
        </p:nvSpPr>
        <p:spPr bwMode="auto">
          <a:xfrm>
            <a:off x="6583680" y="0"/>
            <a:ext cx="2560320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192177514" name="Shape 1"/>
          <p:cNvSpPr/>
          <p:nvPr/>
        </p:nvSpPr>
        <p:spPr bwMode="auto">
          <a:xfrm>
            <a:off x="8046720" y="0"/>
            <a:ext cx="109728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36584785" name="Text 2"/>
          <p:cNvSpPr/>
          <p:nvPr/>
        </p:nvSpPr>
        <p:spPr bwMode="auto">
          <a:xfrm>
            <a:off x="548640" y="12801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專案管理報告</a:t>
            </a:r>
            <a:endParaRPr lang="en-US" sz="3800"/>
          </a:p>
        </p:txBody>
      </p:sp>
      <p:sp>
        <p:nvSpPr>
          <p:cNvPr id="1168886888" name="Text 3"/>
          <p:cNvSpPr/>
          <p:nvPr/>
        </p:nvSpPr>
        <p:spPr bwMode="auto">
          <a:xfrm>
            <a:off x="548640" y="21031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Executive Status Report</a:t>
            </a:r>
            <a:endParaRPr lang="en-US" sz="1300"/>
          </a:p>
        </p:txBody>
      </p:sp>
      <p:sp>
        <p:nvSpPr>
          <p:cNvPr id="1231757366" name="Shape 4"/>
          <p:cNvSpPr/>
          <p:nvPr/>
        </p:nvSpPr>
        <p:spPr bwMode="auto">
          <a:xfrm>
            <a:off x="548640" y="2606040"/>
            <a:ext cx="32004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95669202" name="Shape 5"/>
          <p:cNvSpPr/>
          <p:nvPr/>
        </p:nvSpPr>
        <p:spPr bwMode="auto">
          <a:xfrm>
            <a:off x="548640" y="283464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26280372" name="Text 6"/>
          <p:cNvSpPr/>
          <p:nvPr/>
        </p:nvSpPr>
        <p:spPr bwMode="auto">
          <a:xfrm>
            <a:off x="548640" y="2834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⚠ 1 個專案需立即關注</a:t>
            </a:r>
            <a:endParaRPr lang="en-US" sz="1700"/>
          </a:p>
        </p:txBody>
      </p:sp>
      <p:sp>
        <p:nvSpPr>
          <p:cNvPr id="91329554" name="Text 7"/>
          <p:cNvSpPr/>
          <p:nvPr/>
        </p:nvSpPr>
        <p:spPr bwMode="auto">
          <a:xfrm>
            <a:off x="548640" y="3657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報告日期　2026/05/06</a:t>
            </a:r>
            <a:endParaRPr lang="en-US" sz="1300"/>
          </a:p>
        </p:txBody>
      </p:sp>
      <p:sp>
        <p:nvSpPr>
          <p:cNvPr id="1356324135" name="Text 8"/>
          <p:cNvSpPr/>
          <p:nvPr/>
        </p:nvSpPr>
        <p:spPr bwMode="auto">
          <a:xfrm>
            <a:off x="548640" y="4023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下次回報　2026/05/13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175312" name="Shape 0"/>
          <p:cNvSpPr/>
          <p:nvPr/>
        </p:nvSpPr>
        <p:spPr bwMode="auto"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4339944" name="Text 1"/>
          <p:cNvSpPr/>
          <p:nvPr/>
        </p:nvSpPr>
        <p:spPr bwMode="auto"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執行摘要</a:t>
            </a:r>
            <a:endParaRPr lang="en-US" sz="1800"/>
          </a:p>
        </p:txBody>
      </p:sp>
      <p:sp>
        <p:nvSpPr>
          <p:cNvPr id="1306624963" name="Text 2"/>
          <p:cNvSpPr/>
          <p:nvPr/>
        </p:nvSpPr>
        <p:spPr bwMode="auto"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一頁掌握所有專案 ｜ 2026/05/06</a:t>
            </a:r>
            <a:endParaRPr lang="en-US" sz="1000"/>
          </a:p>
        </p:txBody>
      </p:sp>
      <p:sp>
        <p:nvSpPr>
          <p:cNvPr id="1973687170" name="Shape 3"/>
          <p:cNvSpPr/>
          <p:nvPr/>
        </p:nvSpPr>
        <p:spPr bwMode="auto"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97123226" name="Shape 4"/>
          <p:cNvSpPr/>
          <p:nvPr/>
        </p:nvSpPr>
        <p:spPr bwMode="auto">
          <a:xfrm>
            <a:off x="365760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792869371" name="Shape 5"/>
          <p:cNvSpPr/>
          <p:nvPr/>
        </p:nvSpPr>
        <p:spPr bwMode="auto">
          <a:xfrm>
            <a:off x="365760" y="73152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30146188" name="Text 6"/>
          <p:cNvSpPr/>
          <p:nvPr/>
        </p:nvSpPr>
        <p:spPr bwMode="auto">
          <a:xfrm>
            <a:off x="548640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1</a:t>
            </a:r>
            <a:endParaRPr lang="en-US" sz="3800"/>
          </a:p>
        </p:txBody>
      </p:sp>
      <p:sp>
        <p:nvSpPr>
          <p:cNvPr id="1459327561" name="Text 7"/>
          <p:cNvSpPr/>
          <p:nvPr/>
        </p:nvSpPr>
        <p:spPr bwMode="auto">
          <a:xfrm>
            <a:off x="1463040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需立即關注</a:t>
            </a:r>
            <a:endParaRPr lang="en-US" sz="1100"/>
          </a:p>
        </p:txBody>
      </p:sp>
      <p:sp>
        <p:nvSpPr>
          <p:cNvPr id="1041100752" name="Text 8"/>
          <p:cNvSpPr/>
          <p:nvPr/>
        </p:nvSpPr>
        <p:spPr bwMode="auto">
          <a:xfrm>
            <a:off x="1463040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個專案</a:t>
            </a:r>
            <a:endParaRPr lang="en-US" sz="1400"/>
          </a:p>
        </p:txBody>
      </p:sp>
      <p:sp>
        <p:nvSpPr>
          <p:cNvPr id="1078922701" name="Shape 9"/>
          <p:cNvSpPr/>
          <p:nvPr/>
        </p:nvSpPr>
        <p:spPr bwMode="auto">
          <a:xfrm>
            <a:off x="3227832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4200278" name="Shape 10"/>
          <p:cNvSpPr/>
          <p:nvPr/>
        </p:nvSpPr>
        <p:spPr bwMode="auto">
          <a:xfrm>
            <a:off x="3227832" y="7315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72231934" name="Text 11"/>
          <p:cNvSpPr/>
          <p:nvPr/>
        </p:nvSpPr>
        <p:spPr bwMode="auto">
          <a:xfrm>
            <a:off x="3410712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2</a:t>
            </a:r>
            <a:endParaRPr lang="en-US" sz="3800"/>
          </a:p>
        </p:txBody>
      </p:sp>
      <p:sp>
        <p:nvSpPr>
          <p:cNvPr id="1607936032" name="Text 12"/>
          <p:cNvSpPr/>
          <p:nvPr/>
        </p:nvSpPr>
        <p:spPr bwMode="auto">
          <a:xfrm>
            <a:off x="4325112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需要觀察</a:t>
            </a:r>
            <a:endParaRPr lang="en-US" sz="1100"/>
          </a:p>
        </p:txBody>
      </p:sp>
      <p:sp>
        <p:nvSpPr>
          <p:cNvPr id="1832576242" name="Text 13"/>
          <p:cNvSpPr/>
          <p:nvPr/>
        </p:nvSpPr>
        <p:spPr bwMode="auto">
          <a:xfrm>
            <a:off x="4325112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個專案</a:t>
            </a:r>
            <a:endParaRPr lang="en-US" sz="1400"/>
          </a:p>
        </p:txBody>
      </p:sp>
      <p:sp>
        <p:nvSpPr>
          <p:cNvPr id="654118376" name="Shape 14"/>
          <p:cNvSpPr/>
          <p:nvPr/>
        </p:nvSpPr>
        <p:spPr bwMode="auto">
          <a:xfrm>
            <a:off x="6089904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43424796" name="Shape 15"/>
          <p:cNvSpPr/>
          <p:nvPr/>
        </p:nvSpPr>
        <p:spPr bwMode="auto">
          <a:xfrm>
            <a:off x="6089904" y="731520"/>
            <a:ext cx="7315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6797125" name="Text 16"/>
          <p:cNvSpPr/>
          <p:nvPr/>
        </p:nvSpPr>
        <p:spPr bwMode="auto">
          <a:xfrm>
            <a:off x="6272784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2</a:t>
            </a:r>
            <a:endParaRPr lang="en-US" sz="3800"/>
          </a:p>
        </p:txBody>
      </p:sp>
      <p:sp>
        <p:nvSpPr>
          <p:cNvPr id="239076234" name="Text 17"/>
          <p:cNvSpPr/>
          <p:nvPr/>
        </p:nvSpPr>
        <p:spPr bwMode="auto">
          <a:xfrm>
            <a:off x="7187184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進度健康</a:t>
            </a:r>
            <a:endParaRPr lang="en-US" sz="1100"/>
          </a:p>
        </p:txBody>
      </p:sp>
      <p:sp>
        <p:nvSpPr>
          <p:cNvPr id="1276668597" name="Text 18"/>
          <p:cNvSpPr/>
          <p:nvPr/>
        </p:nvSpPr>
        <p:spPr bwMode="auto">
          <a:xfrm>
            <a:off x="7187184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個專案</a:t>
            </a:r>
            <a:endParaRPr lang="en-US" sz="1400"/>
          </a:p>
        </p:txBody>
      </p:sp>
      <p:sp>
        <p:nvSpPr>
          <p:cNvPr id="1830008435" name="Shape 19"/>
          <p:cNvSpPr/>
          <p:nvPr/>
        </p:nvSpPr>
        <p:spPr bwMode="auto">
          <a:xfrm>
            <a:off x="274320" y="178308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7001865" name="Text 20"/>
          <p:cNvSpPr/>
          <p:nvPr/>
        </p:nvSpPr>
        <p:spPr bwMode="auto">
          <a:xfrm>
            <a:off x="2743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950"/>
          </a:p>
        </p:txBody>
      </p:sp>
      <p:sp>
        <p:nvSpPr>
          <p:cNvPr id="2091313503" name="Shape 21"/>
          <p:cNvSpPr/>
          <p:nvPr/>
        </p:nvSpPr>
        <p:spPr bwMode="auto">
          <a:xfrm>
            <a:off x="731520" y="1783080"/>
            <a:ext cx="15544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27945053" name="Text 22"/>
          <p:cNvSpPr/>
          <p:nvPr/>
        </p:nvSpPr>
        <p:spPr bwMode="auto">
          <a:xfrm>
            <a:off x="731520" y="1783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專案</a:t>
            </a:r>
            <a:endParaRPr lang="en-US" sz="950"/>
          </a:p>
        </p:txBody>
      </p:sp>
      <p:sp>
        <p:nvSpPr>
          <p:cNvPr id="16112283" name="Shape 23"/>
          <p:cNvSpPr/>
          <p:nvPr/>
        </p:nvSpPr>
        <p:spPr bwMode="auto">
          <a:xfrm>
            <a:off x="2286000" y="1783080"/>
            <a:ext cx="7772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6421695" name="Text 24"/>
          <p:cNvSpPr/>
          <p:nvPr/>
        </p:nvSpPr>
        <p:spPr bwMode="auto">
          <a:xfrm>
            <a:off x="2286000" y="1783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完成</a:t>
            </a:r>
            <a:endParaRPr lang="en-US" sz="950"/>
          </a:p>
        </p:txBody>
      </p:sp>
      <p:sp>
        <p:nvSpPr>
          <p:cNvPr id="155997664" name="Shape 25"/>
          <p:cNvSpPr/>
          <p:nvPr/>
        </p:nvSpPr>
        <p:spPr bwMode="auto">
          <a:xfrm>
            <a:off x="3063240" y="1783080"/>
            <a:ext cx="14173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9952375" name="Text 26"/>
          <p:cNvSpPr/>
          <p:nvPr/>
        </p:nvSpPr>
        <p:spPr bwMode="auto">
          <a:xfrm>
            <a:off x="3063240" y="1783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進度</a:t>
            </a:r>
            <a:endParaRPr lang="en-US" sz="950"/>
          </a:p>
        </p:txBody>
      </p:sp>
      <p:sp>
        <p:nvSpPr>
          <p:cNvPr id="1470186301" name="Shape 27"/>
          <p:cNvSpPr/>
          <p:nvPr/>
        </p:nvSpPr>
        <p:spPr bwMode="auto">
          <a:xfrm>
            <a:off x="4480560" y="1783080"/>
            <a:ext cx="1097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17453906" name="Text 28"/>
          <p:cNvSpPr/>
          <p:nvPr/>
        </p:nvSpPr>
        <p:spPr bwMode="auto">
          <a:xfrm>
            <a:off x="448056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預估完工</a:t>
            </a:r>
            <a:endParaRPr lang="en-US" sz="950"/>
          </a:p>
        </p:txBody>
      </p:sp>
      <p:sp>
        <p:nvSpPr>
          <p:cNvPr id="550613645" name="Shape 29"/>
          <p:cNvSpPr/>
          <p:nvPr/>
        </p:nvSpPr>
        <p:spPr bwMode="auto">
          <a:xfrm>
            <a:off x="5577840" y="1783080"/>
            <a:ext cx="8686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60146385" name="Text 30"/>
          <p:cNvSpPr/>
          <p:nvPr/>
        </p:nvSpPr>
        <p:spPr bwMode="auto">
          <a:xfrm>
            <a:off x="557784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偏差</a:t>
            </a:r>
            <a:endParaRPr lang="en-US" sz="950"/>
          </a:p>
        </p:txBody>
      </p:sp>
      <p:sp>
        <p:nvSpPr>
          <p:cNvPr id="2041312306" name="Shape 31"/>
          <p:cNvSpPr/>
          <p:nvPr/>
        </p:nvSpPr>
        <p:spPr bwMode="auto">
          <a:xfrm>
            <a:off x="6446520" y="1783080"/>
            <a:ext cx="24231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83733516" name="Text 32"/>
          <p:cNvSpPr/>
          <p:nvPr/>
        </p:nvSpPr>
        <p:spPr bwMode="auto">
          <a:xfrm>
            <a:off x="644652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主要關鍵</a:t>
            </a:r>
            <a:endParaRPr lang="en-US" sz="950"/>
          </a:p>
        </p:txBody>
      </p:sp>
      <p:sp>
        <p:nvSpPr>
          <p:cNvPr id="963681044" name="Shape 33"/>
          <p:cNvSpPr/>
          <p:nvPr/>
        </p:nvSpPr>
        <p:spPr bwMode="auto">
          <a:xfrm>
            <a:off x="274320" y="207568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810063" name="Shape 34"/>
          <p:cNvSpPr/>
          <p:nvPr/>
        </p:nvSpPr>
        <p:spPr bwMode="auto">
          <a:xfrm>
            <a:off x="356616" y="218084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737691" name="Text 35"/>
          <p:cNvSpPr/>
          <p:nvPr/>
        </p:nvSpPr>
        <p:spPr bwMode="auto">
          <a:xfrm>
            <a:off x="822960" y="2121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預算報支</a:t>
            </a:r>
            <a:endParaRPr lang="en-US" sz="1150"/>
          </a:p>
        </p:txBody>
      </p:sp>
      <p:sp>
        <p:nvSpPr>
          <p:cNvPr id="1753672520" name="Text 36"/>
          <p:cNvSpPr/>
          <p:nvPr/>
        </p:nvSpPr>
        <p:spPr bwMode="auto">
          <a:xfrm>
            <a:off x="822960" y="23500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Jeffery · 注意</a:t>
            </a:r>
            <a:endParaRPr lang="en-US" sz="900"/>
          </a:p>
        </p:txBody>
      </p:sp>
      <p:sp>
        <p:nvSpPr>
          <p:cNvPr id="1013382286" name="Text 37"/>
          <p:cNvSpPr/>
          <p:nvPr/>
        </p:nvSpPr>
        <p:spPr bwMode="auto">
          <a:xfrm>
            <a:off x="2286000" y="20756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35.3%</a:t>
            </a:r>
            <a:endParaRPr lang="en-US" sz="1800"/>
          </a:p>
        </p:txBody>
      </p:sp>
      <p:sp>
        <p:nvSpPr>
          <p:cNvPr id="1902709709" name="Shape 38"/>
          <p:cNvSpPr/>
          <p:nvPr/>
        </p:nvSpPr>
        <p:spPr bwMode="auto">
          <a:xfrm>
            <a:off x="3154680" y="225399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22147626" name="Shape 39"/>
          <p:cNvSpPr/>
          <p:nvPr/>
        </p:nvSpPr>
        <p:spPr bwMode="auto">
          <a:xfrm>
            <a:off x="3154680" y="2253996"/>
            <a:ext cx="435757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28376510" name="Shape 40"/>
          <p:cNvSpPr/>
          <p:nvPr/>
        </p:nvSpPr>
        <p:spPr bwMode="auto">
          <a:xfrm>
            <a:off x="3580059" y="221742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468311756" name="Text 41"/>
          <p:cNvSpPr/>
          <p:nvPr/>
        </p:nvSpPr>
        <p:spPr bwMode="auto">
          <a:xfrm>
            <a:off x="3154680" y="241401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已過 35.2%</a:t>
            </a:r>
            <a:endParaRPr lang="en-US" sz="750"/>
          </a:p>
        </p:txBody>
      </p:sp>
      <p:sp>
        <p:nvSpPr>
          <p:cNvPr id="1096296008" name="Text 42"/>
          <p:cNvSpPr/>
          <p:nvPr/>
        </p:nvSpPr>
        <p:spPr bwMode="auto">
          <a:xfrm>
            <a:off x="4480560" y="2121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2026/10/29</a:t>
            </a:r>
            <a:endParaRPr lang="en-US" sz="1050"/>
          </a:p>
        </p:txBody>
      </p:sp>
      <p:sp>
        <p:nvSpPr>
          <p:cNvPr id="1110456903" name="Text 43"/>
          <p:cNvSpPr/>
          <p:nvPr/>
        </p:nvSpPr>
        <p:spPr bwMode="auto">
          <a:xfrm>
            <a:off x="4480560" y="2350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目標 2026/10/30</a:t>
            </a:r>
            <a:endParaRPr lang="en-US" sz="800"/>
          </a:p>
        </p:txBody>
      </p:sp>
      <p:sp>
        <p:nvSpPr>
          <p:cNvPr id="296733948" name="Text 44"/>
          <p:cNvSpPr/>
          <p:nvPr/>
        </p:nvSpPr>
        <p:spPr bwMode="auto">
          <a:xfrm>
            <a:off x="5577840" y="207568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-1 天</a:t>
            </a:r>
            <a:endParaRPr lang="en-US" sz="1300"/>
          </a:p>
        </p:txBody>
      </p:sp>
      <p:sp>
        <p:nvSpPr>
          <p:cNvPr id="1909048199" name="Text 45"/>
          <p:cNvSpPr/>
          <p:nvPr/>
        </p:nvSpPr>
        <p:spPr bwMode="auto">
          <a:xfrm>
            <a:off x="6537960" y="20756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1.7 Eportal 借支模組整合　延遲 4 天</a:t>
            </a:r>
            <a:endParaRPr lang="en-US" sz="950"/>
          </a:p>
        </p:txBody>
      </p:sp>
      <p:sp>
        <p:nvSpPr>
          <p:cNvPr id="1686510259" name="Shape 46"/>
          <p:cNvSpPr/>
          <p:nvPr/>
        </p:nvSpPr>
        <p:spPr bwMode="auto">
          <a:xfrm>
            <a:off x="274320" y="2578608"/>
            <a:ext cx="859536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5500379" name="Shape 47"/>
          <p:cNvSpPr/>
          <p:nvPr/>
        </p:nvSpPr>
        <p:spPr bwMode="auto">
          <a:xfrm>
            <a:off x="356616" y="268376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9189057" name="Text 48"/>
          <p:cNvSpPr/>
          <p:nvPr/>
        </p:nvSpPr>
        <p:spPr bwMode="auto">
          <a:xfrm>
            <a:off x="822960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團險系統專案</a:t>
            </a:r>
            <a:endParaRPr lang="en-US" sz="1150"/>
          </a:p>
        </p:txBody>
      </p:sp>
      <p:sp>
        <p:nvSpPr>
          <p:cNvPr id="1285093703" name="Text 49"/>
          <p:cNvSpPr/>
          <p:nvPr/>
        </p:nvSpPr>
        <p:spPr bwMode="auto">
          <a:xfrm>
            <a:off x="822960" y="28529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Leo · 健康</a:t>
            </a:r>
            <a:endParaRPr lang="en-US" sz="900"/>
          </a:p>
        </p:txBody>
      </p:sp>
      <p:sp>
        <p:nvSpPr>
          <p:cNvPr id="619900141" name="Text 50"/>
          <p:cNvSpPr/>
          <p:nvPr/>
        </p:nvSpPr>
        <p:spPr bwMode="auto">
          <a:xfrm>
            <a:off x="2286000" y="257860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15%</a:t>
            </a:r>
            <a:endParaRPr lang="en-US" sz="1800"/>
          </a:p>
        </p:txBody>
      </p:sp>
      <p:sp>
        <p:nvSpPr>
          <p:cNvPr id="122116840" name="Shape 51"/>
          <p:cNvSpPr/>
          <p:nvPr/>
        </p:nvSpPr>
        <p:spPr bwMode="auto">
          <a:xfrm>
            <a:off x="3154680" y="275691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1312588" name="Shape 52"/>
          <p:cNvSpPr/>
          <p:nvPr/>
        </p:nvSpPr>
        <p:spPr bwMode="auto">
          <a:xfrm>
            <a:off x="3154680" y="2756916"/>
            <a:ext cx="185166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26425597" name="Shape 53"/>
          <p:cNvSpPr/>
          <p:nvPr/>
        </p:nvSpPr>
        <p:spPr bwMode="auto">
          <a:xfrm>
            <a:off x="3177631" y="272034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66889697" name="Text 54"/>
          <p:cNvSpPr/>
          <p:nvPr/>
        </p:nvSpPr>
        <p:spPr bwMode="auto">
          <a:xfrm>
            <a:off x="3154680" y="291693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已過 2.6%</a:t>
            </a:r>
            <a:endParaRPr lang="en-US" sz="750"/>
          </a:p>
        </p:txBody>
      </p:sp>
      <p:sp>
        <p:nvSpPr>
          <p:cNvPr id="2092176533" name="Text 55"/>
          <p:cNvSpPr/>
          <p:nvPr/>
        </p:nvSpPr>
        <p:spPr bwMode="auto">
          <a:xfrm>
            <a:off x="4480560" y="2624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2026/09/30</a:t>
            </a:r>
            <a:endParaRPr lang="en-US" sz="1050"/>
          </a:p>
        </p:txBody>
      </p:sp>
      <p:sp>
        <p:nvSpPr>
          <p:cNvPr id="2005795931" name="Text 56"/>
          <p:cNvSpPr/>
          <p:nvPr/>
        </p:nvSpPr>
        <p:spPr bwMode="auto">
          <a:xfrm>
            <a:off x="4480560" y="28529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目標 2026/09/30</a:t>
            </a:r>
            <a:endParaRPr lang="en-US" sz="800"/>
          </a:p>
        </p:txBody>
      </p:sp>
      <p:sp>
        <p:nvSpPr>
          <p:cNvPr id="1179682557" name="Text 57"/>
          <p:cNvSpPr/>
          <p:nvPr/>
        </p:nvSpPr>
        <p:spPr bwMode="auto">
          <a:xfrm>
            <a:off x="5577840" y="257860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準時</a:t>
            </a:r>
            <a:endParaRPr lang="en-US" sz="1300"/>
          </a:p>
        </p:txBody>
      </p:sp>
      <p:sp>
        <p:nvSpPr>
          <p:cNvPr id="139025297" name="Text 58"/>
          <p:cNvSpPr/>
          <p:nvPr/>
        </p:nvSpPr>
        <p:spPr bwMode="auto">
          <a:xfrm>
            <a:off x="6537960" y="2578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進度正常</a:t>
            </a:r>
            <a:endParaRPr lang="en-US" sz="950"/>
          </a:p>
        </p:txBody>
      </p:sp>
      <p:sp>
        <p:nvSpPr>
          <p:cNvPr id="2095650036" name="Shape 59"/>
          <p:cNvSpPr/>
          <p:nvPr/>
        </p:nvSpPr>
        <p:spPr bwMode="auto">
          <a:xfrm>
            <a:off x="274320" y="308152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66142778" name="Shape 60"/>
          <p:cNvSpPr/>
          <p:nvPr/>
        </p:nvSpPr>
        <p:spPr bwMode="auto">
          <a:xfrm>
            <a:off x="356616" y="318668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0144835" name="Text 61"/>
          <p:cNvSpPr/>
          <p:nvPr/>
        </p:nvSpPr>
        <p:spPr bwMode="auto">
          <a:xfrm>
            <a:off x="822960" y="3127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保戶 App 改版</a:t>
            </a:r>
            <a:endParaRPr lang="en-US" sz="1150"/>
          </a:p>
        </p:txBody>
      </p:sp>
      <p:sp>
        <p:nvSpPr>
          <p:cNvPr id="690955471" name="Text 62"/>
          <p:cNvSpPr/>
          <p:nvPr/>
        </p:nvSpPr>
        <p:spPr bwMode="auto">
          <a:xfrm>
            <a:off x="8229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Vincent · 警報</a:t>
            </a:r>
            <a:endParaRPr lang="en-US" sz="900"/>
          </a:p>
        </p:txBody>
      </p:sp>
      <p:sp>
        <p:nvSpPr>
          <p:cNvPr id="1982462926" name="Text 63"/>
          <p:cNvSpPr/>
          <p:nvPr/>
        </p:nvSpPr>
        <p:spPr bwMode="auto">
          <a:xfrm>
            <a:off x="2286000" y="30815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31.6%</a:t>
            </a:r>
            <a:endParaRPr lang="en-US" sz="1800"/>
          </a:p>
        </p:txBody>
      </p:sp>
      <p:sp>
        <p:nvSpPr>
          <p:cNvPr id="662292453" name="Shape 64"/>
          <p:cNvSpPr/>
          <p:nvPr/>
        </p:nvSpPr>
        <p:spPr bwMode="auto">
          <a:xfrm>
            <a:off x="3154680" y="325983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6560948" name="Shape 65"/>
          <p:cNvSpPr/>
          <p:nvPr/>
        </p:nvSpPr>
        <p:spPr bwMode="auto">
          <a:xfrm>
            <a:off x="3154680" y="3259836"/>
            <a:ext cx="390083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371093" name="Shape 66"/>
          <p:cNvSpPr/>
          <p:nvPr/>
        </p:nvSpPr>
        <p:spPr bwMode="auto">
          <a:xfrm>
            <a:off x="3789914" y="322326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29652384" name="Text 67"/>
          <p:cNvSpPr/>
          <p:nvPr/>
        </p:nvSpPr>
        <p:spPr bwMode="auto">
          <a:xfrm>
            <a:off x="3154680" y="341985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已過 52.2%</a:t>
            </a:r>
            <a:endParaRPr lang="en-US" sz="750"/>
          </a:p>
        </p:txBody>
      </p:sp>
      <p:sp>
        <p:nvSpPr>
          <p:cNvPr id="1291477404" name="Text 68"/>
          <p:cNvSpPr/>
          <p:nvPr/>
        </p:nvSpPr>
        <p:spPr bwMode="auto">
          <a:xfrm>
            <a:off x="4480560" y="3127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2026/11/26</a:t>
            </a:r>
            <a:endParaRPr lang="en-US" sz="1050"/>
          </a:p>
        </p:txBody>
      </p:sp>
      <p:sp>
        <p:nvSpPr>
          <p:cNvPr id="1468000006" name="Text 69"/>
          <p:cNvSpPr/>
          <p:nvPr/>
        </p:nvSpPr>
        <p:spPr bwMode="auto">
          <a:xfrm>
            <a:off x="4480560" y="3355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目標 2026/07/31</a:t>
            </a:r>
            <a:endParaRPr lang="en-US" sz="800"/>
          </a:p>
        </p:txBody>
      </p:sp>
      <p:sp>
        <p:nvSpPr>
          <p:cNvPr id="1847180305" name="Text 70"/>
          <p:cNvSpPr/>
          <p:nvPr/>
        </p:nvSpPr>
        <p:spPr bwMode="auto">
          <a:xfrm>
            <a:off x="5577840" y="308152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+90 天</a:t>
            </a:r>
            <a:endParaRPr lang="en-US" sz="1300"/>
          </a:p>
        </p:txBody>
      </p:sp>
      <p:sp>
        <p:nvSpPr>
          <p:cNvPr id="447676027" name="Text 71"/>
          <p:cNvSpPr/>
          <p:nvPr/>
        </p:nvSpPr>
        <p:spPr bwMode="auto">
          <a:xfrm>
            <a:off x="6537960" y="30815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1.5 UX 使用者測試 (8人)　延遲 4 天</a:t>
            </a:r>
            <a:endParaRPr lang="en-US" sz="950"/>
          </a:p>
        </p:txBody>
      </p:sp>
      <p:sp>
        <p:nvSpPr>
          <p:cNvPr id="1586216390" name="Shape 72"/>
          <p:cNvSpPr/>
          <p:nvPr/>
        </p:nvSpPr>
        <p:spPr bwMode="auto">
          <a:xfrm>
            <a:off x="274320" y="3584448"/>
            <a:ext cx="859536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0183141" name="Shape 73"/>
          <p:cNvSpPr/>
          <p:nvPr/>
        </p:nvSpPr>
        <p:spPr bwMode="auto">
          <a:xfrm>
            <a:off x="356616" y="368960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9475813" name="Text 74"/>
          <p:cNvSpPr/>
          <p:nvPr/>
        </p:nvSpPr>
        <p:spPr bwMode="auto">
          <a:xfrm>
            <a:off x="822960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核保 AI 升級</a:t>
            </a:r>
            <a:endParaRPr lang="en-US" sz="1150"/>
          </a:p>
        </p:txBody>
      </p:sp>
      <p:sp>
        <p:nvSpPr>
          <p:cNvPr id="365412266" name="Text 75"/>
          <p:cNvSpPr/>
          <p:nvPr/>
        </p:nvSpPr>
        <p:spPr bwMode="auto">
          <a:xfrm>
            <a:off x="822960" y="38587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Diana · 注意</a:t>
            </a:r>
            <a:endParaRPr lang="en-US" sz="900"/>
          </a:p>
        </p:txBody>
      </p:sp>
      <p:sp>
        <p:nvSpPr>
          <p:cNvPr id="1337287572" name="Text 76"/>
          <p:cNvSpPr/>
          <p:nvPr/>
        </p:nvSpPr>
        <p:spPr bwMode="auto">
          <a:xfrm>
            <a:off x="2286000" y="35844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22.2%</a:t>
            </a:r>
            <a:endParaRPr lang="en-US" sz="1800"/>
          </a:p>
        </p:txBody>
      </p:sp>
      <p:sp>
        <p:nvSpPr>
          <p:cNvPr id="62806795" name="Shape 77"/>
          <p:cNvSpPr/>
          <p:nvPr/>
        </p:nvSpPr>
        <p:spPr bwMode="auto">
          <a:xfrm>
            <a:off x="3154680" y="376275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0228504" name="Shape 78"/>
          <p:cNvSpPr/>
          <p:nvPr/>
        </p:nvSpPr>
        <p:spPr bwMode="auto">
          <a:xfrm>
            <a:off x="3154680" y="3762756"/>
            <a:ext cx="27404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63861632" name="Shape 79"/>
          <p:cNvSpPr/>
          <p:nvPr/>
        </p:nvSpPr>
        <p:spPr bwMode="auto">
          <a:xfrm>
            <a:off x="3412175" y="372618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69419140" name="Text 80"/>
          <p:cNvSpPr/>
          <p:nvPr/>
        </p:nvSpPr>
        <p:spPr bwMode="auto">
          <a:xfrm>
            <a:off x="3154680" y="392277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已過 21.6%</a:t>
            </a:r>
            <a:endParaRPr lang="en-US" sz="750"/>
          </a:p>
        </p:txBody>
      </p:sp>
      <p:sp>
        <p:nvSpPr>
          <p:cNvPr id="8640111" name="Text 81"/>
          <p:cNvSpPr/>
          <p:nvPr/>
        </p:nvSpPr>
        <p:spPr bwMode="auto">
          <a:xfrm>
            <a:off x="4480560" y="3630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2026/12/23</a:t>
            </a:r>
            <a:endParaRPr lang="en-US" sz="1050"/>
          </a:p>
        </p:txBody>
      </p:sp>
      <p:sp>
        <p:nvSpPr>
          <p:cNvPr id="1074719901" name="Text 82"/>
          <p:cNvSpPr/>
          <p:nvPr/>
        </p:nvSpPr>
        <p:spPr bwMode="auto">
          <a:xfrm>
            <a:off x="4480560" y="3858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目標 2026/12/31</a:t>
            </a:r>
            <a:endParaRPr lang="en-US" sz="800"/>
          </a:p>
        </p:txBody>
      </p:sp>
      <p:sp>
        <p:nvSpPr>
          <p:cNvPr id="979330630" name="Text 83"/>
          <p:cNvSpPr/>
          <p:nvPr/>
        </p:nvSpPr>
        <p:spPr bwMode="auto">
          <a:xfrm>
            <a:off x="5577840" y="358444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-8 天</a:t>
            </a:r>
            <a:endParaRPr lang="en-US" sz="1300"/>
          </a:p>
        </p:txBody>
      </p:sp>
      <p:sp>
        <p:nvSpPr>
          <p:cNvPr id="1371259604" name="Text 84"/>
          <p:cNvSpPr/>
          <p:nvPr/>
        </p:nvSpPr>
        <p:spPr bwMode="auto">
          <a:xfrm>
            <a:off x="6537960" y="35844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2.1 資料清洗與標註　標記為延遲</a:t>
            </a:r>
            <a:endParaRPr lang="en-US" sz="950"/>
          </a:p>
        </p:txBody>
      </p:sp>
      <p:sp>
        <p:nvSpPr>
          <p:cNvPr id="2018828160" name="Shape 85"/>
          <p:cNvSpPr/>
          <p:nvPr/>
        </p:nvSpPr>
        <p:spPr bwMode="auto">
          <a:xfrm>
            <a:off x="274320" y="408736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6537768" name="Shape 86"/>
          <p:cNvSpPr/>
          <p:nvPr/>
        </p:nvSpPr>
        <p:spPr bwMode="auto">
          <a:xfrm>
            <a:off x="356616" y="419252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90846566" name="Text 87"/>
          <p:cNvSpPr/>
          <p:nvPr/>
        </p:nvSpPr>
        <p:spPr bwMode="auto">
          <a:xfrm>
            <a:off x="822960" y="4133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理賠數位化</a:t>
            </a:r>
            <a:endParaRPr lang="en-US" sz="1150"/>
          </a:p>
        </p:txBody>
      </p:sp>
      <p:sp>
        <p:nvSpPr>
          <p:cNvPr id="1356579513" name="Text 88"/>
          <p:cNvSpPr/>
          <p:nvPr/>
        </p:nvSpPr>
        <p:spPr bwMode="auto">
          <a:xfrm>
            <a:off x="822960" y="43616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Nelson · 健康</a:t>
            </a:r>
            <a:endParaRPr lang="en-US" sz="900"/>
          </a:p>
        </p:txBody>
      </p:sp>
      <p:sp>
        <p:nvSpPr>
          <p:cNvPr id="612703473" name="Text 89"/>
          <p:cNvSpPr/>
          <p:nvPr/>
        </p:nvSpPr>
        <p:spPr bwMode="auto">
          <a:xfrm>
            <a:off x="2286000" y="40873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57.9%</a:t>
            </a:r>
            <a:endParaRPr lang="en-US" sz="1800"/>
          </a:p>
        </p:txBody>
      </p:sp>
      <p:sp>
        <p:nvSpPr>
          <p:cNvPr id="1284622575" name="Shape 90"/>
          <p:cNvSpPr/>
          <p:nvPr/>
        </p:nvSpPr>
        <p:spPr bwMode="auto">
          <a:xfrm>
            <a:off x="3154680" y="426567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9051348" name="Shape 91"/>
          <p:cNvSpPr/>
          <p:nvPr/>
        </p:nvSpPr>
        <p:spPr bwMode="auto">
          <a:xfrm>
            <a:off x="3154680" y="4265676"/>
            <a:ext cx="714741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0849626" name="Shape 92"/>
          <p:cNvSpPr/>
          <p:nvPr/>
        </p:nvSpPr>
        <p:spPr bwMode="auto">
          <a:xfrm>
            <a:off x="3749177" y="422910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353017937" name="Text 93"/>
          <p:cNvSpPr/>
          <p:nvPr/>
        </p:nvSpPr>
        <p:spPr bwMode="auto">
          <a:xfrm>
            <a:off x="3154680" y="442569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已過 48.9%</a:t>
            </a:r>
            <a:endParaRPr lang="en-US" sz="750"/>
          </a:p>
        </p:txBody>
      </p:sp>
      <p:sp>
        <p:nvSpPr>
          <p:cNvPr id="1008778070" name="Text 94"/>
          <p:cNvSpPr/>
          <p:nvPr/>
        </p:nvSpPr>
        <p:spPr bwMode="auto">
          <a:xfrm>
            <a:off x="4480560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2026/07/26</a:t>
            </a:r>
            <a:endParaRPr lang="en-US" sz="1050"/>
          </a:p>
        </p:txBody>
      </p:sp>
      <p:sp>
        <p:nvSpPr>
          <p:cNvPr id="1294436919" name="Text 95"/>
          <p:cNvSpPr/>
          <p:nvPr/>
        </p:nvSpPr>
        <p:spPr bwMode="auto">
          <a:xfrm>
            <a:off x="4480560" y="4361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目標 2026/08/30</a:t>
            </a:r>
            <a:endParaRPr lang="en-US" sz="800"/>
          </a:p>
        </p:txBody>
      </p:sp>
      <p:sp>
        <p:nvSpPr>
          <p:cNvPr id="2058958382" name="Text 96"/>
          <p:cNvSpPr/>
          <p:nvPr/>
        </p:nvSpPr>
        <p:spPr bwMode="auto">
          <a:xfrm>
            <a:off x="5577840" y="408736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-35 天</a:t>
            </a:r>
            <a:endParaRPr lang="en-US" sz="1300"/>
          </a:p>
        </p:txBody>
      </p:sp>
      <p:sp>
        <p:nvSpPr>
          <p:cNvPr id="2141876322" name="Text 97"/>
          <p:cNvSpPr/>
          <p:nvPr/>
        </p:nvSpPr>
        <p:spPr bwMode="auto">
          <a:xfrm>
            <a:off x="6537960" y="40873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進度正常</a:t>
            </a:r>
            <a:endParaRPr lang="en-US" sz="950"/>
          </a:p>
        </p:txBody>
      </p:sp>
      <p:sp>
        <p:nvSpPr>
          <p:cNvPr id="1852102216" name="Text 98"/>
          <p:cNvSpPr/>
          <p:nvPr/>
        </p:nvSpPr>
        <p:spPr bwMode="auto"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需主管裁示事項：5 件　·　詳見後續頁面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647162" name="Shape 0"/>
          <p:cNvSpPr/>
          <p:nvPr/>
        </p:nvSpPr>
        <p:spPr bwMode="auto"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39686368" name="Text 1"/>
          <p:cNvSpPr/>
          <p:nvPr/>
        </p:nvSpPr>
        <p:spPr bwMode="auto"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Portfolio Dashboard</a:t>
            </a:r>
            <a:endParaRPr lang="en-US" sz="1800"/>
          </a:p>
        </p:txBody>
      </p:sp>
      <p:sp>
        <p:nvSpPr>
          <p:cNvPr id="1379282373" name="Text 2"/>
          <p:cNvSpPr/>
          <p:nvPr/>
        </p:nvSpPr>
        <p:spPr bwMode="auto"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任務統計 ｜ 2026/05/06</a:t>
            </a:r>
            <a:endParaRPr lang="en-US" sz="1000"/>
          </a:p>
        </p:txBody>
      </p:sp>
      <p:sp>
        <p:nvSpPr>
          <p:cNvPr id="470634961" name="Shape 3"/>
          <p:cNvSpPr/>
          <p:nvPr/>
        </p:nvSpPr>
        <p:spPr bwMode="auto"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26358616" name="Shape 4"/>
          <p:cNvSpPr/>
          <p:nvPr/>
        </p:nvSpPr>
        <p:spPr bwMode="auto">
          <a:xfrm>
            <a:off x="365760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466553173" name="Shape 5"/>
          <p:cNvSpPr/>
          <p:nvPr/>
        </p:nvSpPr>
        <p:spPr bwMode="auto">
          <a:xfrm>
            <a:off x="365760" y="777240"/>
            <a:ext cx="15544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59199109" name="Text 6"/>
          <p:cNvSpPr/>
          <p:nvPr/>
        </p:nvSpPr>
        <p:spPr bwMode="auto">
          <a:xfrm>
            <a:off x="36576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3200"/>
          </a:p>
        </p:txBody>
      </p:sp>
      <p:sp>
        <p:nvSpPr>
          <p:cNvPr id="1376822516" name="Text 7"/>
          <p:cNvSpPr/>
          <p:nvPr/>
        </p:nvSpPr>
        <p:spPr bwMode="auto">
          <a:xfrm>
            <a:off x="365760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專案總數</a:t>
            </a:r>
            <a:endParaRPr lang="en-US" sz="1000"/>
          </a:p>
        </p:txBody>
      </p:sp>
      <p:sp>
        <p:nvSpPr>
          <p:cNvPr id="1787928858" name="Shape 8"/>
          <p:cNvSpPr/>
          <p:nvPr/>
        </p:nvSpPr>
        <p:spPr bwMode="auto">
          <a:xfrm>
            <a:off x="2066544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58133221" name="Shape 9"/>
          <p:cNvSpPr/>
          <p:nvPr/>
        </p:nvSpPr>
        <p:spPr bwMode="auto">
          <a:xfrm>
            <a:off x="2066544" y="777240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24819272" name="Text 10"/>
          <p:cNvSpPr/>
          <p:nvPr/>
        </p:nvSpPr>
        <p:spPr bwMode="auto">
          <a:xfrm>
            <a:off x="2066544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2E6DB4"/>
                </a:solidFill>
                <a:latin typeface="Calibri"/>
                <a:ea typeface="Calibri"/>
                <a:cs typeface="Calibri"/>
              </a:rPr>
              <a:t>93</a:t>
            </a:r>
            <a:endParaRPr lang="en-US" sz="3200"/>
          </a:p>
        </p:txBody>
      </p:sp>
      <p:sp>
        <p:nvSpPr>
          <p:cNvPr id="1282085417" name="Text 11"/>
          <p:cNvSpPr/>
          <p:nvPr/>
        </p:nvSpPr>
        <p:spPr bwMode="auto">
          <a:xfrm>
            <a:off x="2066544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總任務數</a:t>
            </a:r>
            <a:endParaRPr lang="en-US" sz="1000"/>
          </a:p>
        </p:txBody>
      </p:sp>
      <p:sp>
        <p:nvSpPr>
          <p:cNvPr id="1395323176" name="Shape 12"/>
          <p:cNvSpPr/>
          <p:nvPr/>
        </p:nvSpPr>
        <p:spPr bwMode="auto">
          <a:xfrm>
            <a:off x="3767328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313508938" name="Shape 13"/>
          <p:cNvSpPr/>
          <p:nvPr/>
        </p:nvSpPr>
        <p:spPr bwMode="auto">
          <a:xfrm>
            <a:off x="3767328" y="777240"/>
            <a:ext cx="1554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58506541" name="Text 14"/>
          <p:cNvSpPr/>
          <p:nvPr/>
        </p:nvSpPr>
        <p:spPr bwMode="auto">
          <a:xfrm>
            <a:off x="3767328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30</a:t>
            </a:r>
            <a:endParaRPr lang="en-US" sz="3200"/>
          </a:p>
        </p:txBody>
      </p:sp>
      <p:sp>
        <p:nvSpPr>
          <p:cNvPr id="637168853" name="Text 15"/>
          <p:cNvSpPr/>
          <p:nvPr/>
        </p:nvSpPr>
        <p:spPr bwMode="auto">
          <a:xfrm>
            <a:off x="3767328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已完成</a:t>
            </a:r>
            <a:endParaRPr lang="en-US" sz="1000"/>
          </a:p>
        </p:txBody>
      </p:sp>
      <p:sp>
        <p:nvSpPr>
          <p:cNvPr id="279437806" name="Shape 16"/>
          <p:cNvSpPr/>
          <p:nvPr/>
        </p:nvSpPr>
        <p:spPr bwMode="auto">
          <a:xfrm>
            <a:off x="5468112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591925696" name="Shape 17"/>
          <p:cNvSpPr/>
          <p:nvPr/>
        </p:nvSpPr>
        <p:spPr bwMode="auto">
          <a:xfrm>
            <a:off x="5468112" y="777240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29351452" name="Text 18"/>
          <p:cNvSpPr/>
          <p:nvPr/>
        </p:nvSpPr>
        <p:spPr bwMode="auto">
          <a:xfrm>
            <a:off x="5468112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2E6DB4"/>
                </a:solidFill>
                <a:latin typeface="Calibri"/>
                <a:ea typeface="Calibri"/>
                <a:cs typeface="Calibri"/>
              </a:rPr>
              <a:t>7</a:t>
            </a:r>
            <a:endParaRPr lang="en-US" sz="3200"/>
          </a:p>
        </p:txBody>
      </p:sp>
      <p:sp>
        <p:nvSpPr>
          <p:cNvPr id="1078099343" name="Text 19"/>
          <p:cNvSpPr/>
          <p:nvPr/>
        </p:nvSpPr>
        <p:spPr bwMode="auto">
          <a:xfrm>
            <a:off x="5468112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進行中</a:t>
            </a:r>
            <a:endParaRPr lang="en-US" sz="1000"/>
          </a:p>
        </p:txBody>
      </p:sp>
      <p:sp>
        <p:nvSpPr>
          <p:cNvPr id="613754219" name="Shape 20"/>
          <p:cNvSpPr/>
          <p:nvPr/>
        </p:nvSpPr>
        <p:spPr bwMode="auto">
          <a:xfrm>
            <a:off x="7168896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22854458" name="Shape 21"/>
          <p:cNvSpPr/>
          <p:nvPr/>
        </p:nvSpPr>
        <p:spPr bwMode="auto">
          <a:xfrm>
            <a:off x="7168896" y="777240"/>
            <a:ext cx="1554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3346550" name="Text 22"/>
          <p:cNvSpPr/>
          <p:nvPr/>
        </p:nvSpPr>
        <p:spPr bwMode="auto">
          <a:xfrm>
            <a:off x="7168896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5</a:t>
            </a:r>
            <a:endParaRPr lang="en-US" sz="3200"/>
          </a:p>
        </p:txBody>
      </p:sp>
      <p:sp>
        <p:nvSpPr>
          <p:cNvPr id="1781008671" name="Text 23"/>
          <p:cNvSpPr/>
          <p:nvPr/>
        </p:nvSpPr>
        <p:spPr bwMode="auto">
          <a:xfrm>
            <a:off x="7168896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風險 / 延遲</a:t>
            </a:r>
            <a:endParaRPr lang="en-US" sz="1000"/>
          </a:p>
        </p:txBody>
      </p:sp>
      <p:graphicFrame>
        <p:nvGraphicFramePr>
          <p:cNvPr id="1898803928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274320" y="2011680"/>
          <a:ext cx="2926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75638428" name="Chart 1" descr=""/>
          <p:cNvGraphicFramePr>
            <a:graphicFrameLocks xmlns:a="http://schemas.openxmlformats.org/drawingml/2006/main"/>
          </p:cNvGraphicFramePr>
          <p:nvPr/>
        </p:nvGraphicFramePr>
        <p:xfrm rot="0">
          <a:off x="3383280" y="192024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396072" name="Shape 0"/>
          <p:cNvSpPr/>
          <p:nvPr/>
        </p:nvSpPr>
        <p:spPr bwMode="auto"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65267982" name="Text 1"/>
          <p:cNvSpPr/>
          <p:nvPr/>
        </p:nvSpPr>
        <p:spPr bwMode="auto"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預算報支</a:t>
            </a:r>
            <a:endParaRPr lang="en-US" sz="1800"/>
          </a:p>
        </p:txBody>
      </p:sp>
      <p:sp>
        <p:nvSpPr>
          <p:cNvPr id="1415409244" name="Text 2"/>
          <p:cNvSpPr/>
          <p:nvPr/>
        </p:nvSpPr>
        <p:spPr bwMode="auto"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Jeffery ｜ 2026/01/30 ～ 2026/10/30</a:t>
            </a:r>
            <a:endParaRPr lang="en-US" sz="1000"/>
          </a:p>
        </p:txBody>
      </p:sp>
      <p:sp>
        <p:nvSpPr>
          <p:cNvPr id="1055461354" name="Shape 3"/>
          <p:cNvSpPr/>
          <p:nvPr/>
        </p:nvSpPr>
        <p:spPr bwMode="auto"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1782604" name="Shape 4"/>
          <p:cNvSpPr/>
          <p:nvPr/>
        </p:nvSpPr>
        <p:spPr bwMode="auto"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1867092" name="Shape 5"/>
          <p:cNvSpPr/>
          <p:nvPr/>
        </p:nvSpPr>
        <p:spPr bwMode="auto">
          <a:xfrm>
            <a:off x="274320" y="73152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01820260" name="Shape 6"/>
          <p:cNvSpPr/>
          <p:nvPr/>
        </p:nvSpPr>
        <p:spPr bwMode="auto">
          <a:xfrm>
            <a:off x="502920" y="868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85338881" name="Text 7"/>
          <p:cNvSpPr/>
          <p:nvPr/>
        </p:nvSpPr>
        <p:spPr bwMode="auto"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注意</a:t>
            </a:r>
            <a:endParaRPr lang="en-US" sz="1600"/>
          </a:p>
        </p:txBody>
      </p:sp>
      <p:sp>
        <p:nvSpPr>
          <p:cNvPr id="117923581" name="Text 8"/>
          <p:cNvSpPr/>
          <p:nvPr/>
        </p:nvSpPr>
        <p:spPr bwMode="auto"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35.3%</a:t>
            </a:r>
            <a:endParaRPr lang="en-US" sz="3600"/>
          </a:p>
        </p:txBody>
      </p:sp>
      <p:sp>
        <p:nvSpPr>
          <p:cNvPr id="462644982" name="Text 9"/>
          <p:cNvSpPr/>
          <p:nvPr/>
        </p:nvSpPr>
        <p:spPr bwMode="auto"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已完成</a:t>
            </a:r>
            <a:endParaRPr lang="en-US" sz="950"/>
          </a:p>
        </p:txBody>
      </p:sp>
      <p:sp>
        <p:nvSpPr>
          <p:cNvPr id="672085555" name="Text 10"/>
          <p:cNvSpPr/>
          <p:nvPr/>
        </p:nvSpPr>
        <p:spPr bwMode="auto"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預估完工</a:t>
            </a:r>
            <a:endParaRPr lang="en-US" sz="950"/>
          </a:p>
        </p:txBody>
      </p:sp>
      <p:sp>
        <p:nvSpPr>
          <p:cNvPr id="336201666" name="Text 11"/>
          <p:cNvSpPr/>
          <p:nvPr/>
        </p:nvSpPr>
        <p:spPr bwMode="auto"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2026/10/29</a:t>
            </a:r>
            <a:endParaRPr lang="en-US" sz="1300"/>
          </a:p>
        </p:txBody>
      </p:sp>
      <p:sp>
        <p:nvSpPr>
          <p:cNvPr id="239197442" name="Text 12"/>
          <p:cNvSpPr/>
          <p:nvPr/>
        </p:nvSpPr>
        <p:spPr bwMode="auto"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提前 1 天</a:t>
            </a:r>
            <a:endParaRPr lang="en-US" sz="1000"/>
          </a:p>
        </p:txBody>
      </p:sp>
      <p:sp>
        <p:nvSpPr>
          <p:cNvPr id="412557762" name="Shape 13"/>
          <p:cNvSpPr/>
          <p:nvPr/>
        </p:nvSpPr>
        <p:spPr bwMode="auto"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5972229" name="Shape 14"/>
          <p:cNvSpPr/>
          <p:nvPr/>
        </p:nvSpPr>
        <p:spPr bwMode="auto">
          <a:xfrm>
            <a:off x="457200" y="2148840"/>
            <a:ext cx="85537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40926693" name="Shape 15"/>
          <p:cNvSpPr/>
          <p:nvPr/>
        </p:nvSpPr>
        <p:spPr bwMode="auto">
          <a:xfrm>
            <a:off x="1301008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03370754" name="Text 16"/>
          <p:cNvSpPr/>
          <p:nvPr/>
        </p:nvSpPr>
        <p:spPr bwMode="auto"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時間已過 35.2%</a:t>
            </a:r>
            <a:endParaRPr lang="en-US" sz="800"/>
          </a:p>
        </p:txBody>
      </p:sp>
      <p:sp>
        <p:nvSpPr>
          <p:cNvPr id="1036442873" name="Shape 17"/>
          <p:cNvSpPr/>
          <p:nvPr/>
        </p:nvSpPr>
        <p:spPr bwMode="auto"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09457355" name="Text 18"/>
          <p:cNvSpPr/>
          <p:nvPr/>
        </p:nvSpPr>
        <p:spPr bwMode="auto"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里程碑</a:t>
            </a:r>
            <a:endParaRPr lang="en-US" sz="1200"/>
          </a:p>
        </p:txBody>
      </p:sp>
      <p:sp>
        <p:nvSpPr>
          <p:cNvPr id="2026803278" name="Shape 19"/>
          <p:cNvSpPr/>
          <p:nvPr/>
        </p:nvSpPr>
        <p:spPr bwMode="auto"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0137260" name="Shape 20"/>
          <p:cNvSpPr/>
          <p:nvPr/>
        </p:nvSpPr>
        <p:spPr bwMode="auto">
          <a:xfrm>
            <a:off x="5716094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29951041" name="Text 21"/>
          <p:cNvSpPr/>
          <p:nvPr/>
        </p:nvSpPr>
        <p:spPr bwMode="auto">
          <a:xfrm>
            <a:off x="5496638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0A500"/>
                </a:solidFill>
                <a:latin typeface="Calibri"/>
                <a:ea typeface="Calibri"/>
                <a:cs typeface="Calibri"/>
              </a:rPr>
              <a:t>今日</a:t>
            </a:r>
            <a:endParaRPr lang="en-US" sz="750"/>
          </a:p>
        </p:txBody>
      </p:sp>
      <p:sp>
        <p:nvSpPr>
          <p:cNvPr id="31266190" name="Shape 22"/>
          <p:cNvSpPr/>
          <p:nvPr/>
        </p:nvSpPr>
        <p:spPr bwMode="auto">
          <a:xfrm>
            <a:off x="3337560" y="1298448"/>
            <a:ext cx="2276772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05107970" name="Text 23"/>
          <p:cNvSpPr/>
          <p:nvPr/>
        </p:nvSpPr>
        <p:spPr bwMode="auto">
          <a:xfrm>
            <a:off x="3063240" y="1508759"/>
            <a:ext cx="2825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借支輸入</a:t>
            </a:r>
            <a:endParaRPr lang="en-US" sz="800"/>
          </a:p>
        </p:txBody>
      </p:sp>
      <p:sp>
        <p:nvSpPr>
          <p:cNvPr id="1022960743" name="Text 24"/>
          <p:cNvSpPr/>
          <p:nvPr/>
        </p:nvSpPr>
        <p:spPr bwMode="auto">
          <a:xfrm>
            <a:off x="3063240" y="1691640"/>
            <a:ext cx="28254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86%</a:t>
            </a:r>
            <a:endParaRPr lang="en-US" sz="750"/>
          </a:p>
        </p:txBody>
      </p:sp>
      <p:sp>
        <p:nvSpPr>
          <p:cNvPr id="1640445230" name="Shape 25"/>
          <p:cNvSpPr/>
          <p:nvPr/>
        </p:nvSpPr>
        <p:spPr bwMode="auto">
          <a:xfrm>
            <a:off x="5441099" y="1298448"/>
            <a:ext cx="1559094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774514568" name="Text 26"/>
          <p:cNvSpPr/>
          <p:nvPr/>
        </p:nvSpPr>
        <p:spPr bwMode="auto">
          <a:xfrm>
            <a:off x="5166779" y="1691640"/>
            <a:ext cx="21077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借支還款</a:t>
            </a:r>
            <a:endParaRPr lang="en-US" sz="800"/>
          </a:p>
        </p:txBody>
      </p:sp>
      <p:sp>
        <p:nvSpPr>
          <p:cNvPr id="502333375" name="Text 27"/>
          <p:cNvSpPr/>
          <p:nvPr/>
        </p:nvSpPr>
        <p:spPr bwMode="auto">
          <a:xfrm>
            <a:off x="5166779" y="1874520"/>
            <a:ext cx="210773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2E6DB4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1117778679" name="Shape 28"/>
          <p:cNvSpPr/>
          <p:nvPr/>
        </p:nvSpPr>
        <p:spPr bwMode="auto">
          <a:xfrm>
            <a:off x="7000192" y="1298448"/>
            <a:ext cx="1732327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56205320" name="Text 29"/>
          <p:cNvSpPr/>
          <p:nvPr/>
        </p:nvSpPr>
        <p:spPr bwMode="auto">
          <a:xfrm>
            <a:off x="6725873" y="1508759"/>
            <a:ext cx="228096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測試與上線</a:t>
            </a:r>
            <a:endParaRPr lang="en-US" sz="800"/>
          </a:p>
        </p:txBody>
      </p:sp>
      <p:sp>
        <p:nvSpPr>
          <p:cNvPr id="1322850912" name="Text 30"/>
          <p:cNvSpPr/>
          <p:nvPr/>
        </p:nvSpPr>
        <p:spPr bwMode="auto">
          <a:xfrm>
            <a:off x="6725873" y="1691640"/>
            <a:ext cx="228096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191860520" name="Shape 31"/>
          <p:cNvSpPr/>
          <p:nvPr/>
        </p:nvSpPr>
        <p:spPr bwMode="auto"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538085214" name="Shape 32"/>
          <p:cNvSpPr/>
          <p:nvPr/>
        </p:nvSpPr>
        <p:spPr bwMode="auto"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8293590" name="Text 33"/>
          <p:cNvSpPr/>
          <p:nvPr/>
        </p:nvSpPr>
        <p:spPr bwMode="auto"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近 14 天完成 (0)</a:t>
            </a:r>
            <a:endParaRPr lang="en-US" sz="1100"/>
          </a:p>
        </p:txBody>
      </p:sp>
      <p:sp>
        <p:nvSpPr>
          <p:cNvPr id="1675703901" name="Text 34"/>
          <p:cNvSpPr/>
          <p:nvPr/>
        </p:nvSpPr>
        <p:spPr bwMode="auto"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本期無完成任務</a:t>
            </a:r>
            <a:endParaRPr lang="en-US" sz="1000"/>
          </a:p>
        </p:txBody>
      </p:sp>
      <p:sp>
        <p:nvSpPr>
          <p:cNvPr id="852010676" name="Shape 35"/>
          <p:cNvSpPr/>
          <p:nvPr/>
        </p:nvSpPr>
        <p:spPr bwMode="auto"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286034083" name="Shape 36"/>
          <p:cNvSpPr/>
          <p:nvPr/>
        </p:nvSpPr>
        <p:spPr bwMode="auto"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09770497" name="Text 37"/>
          <p:cNvSpPr/>
          <p:nvPr/>
        </p:nvSpPr>
        <p:spPr bwMode="auto"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進行中 / 即將到期 (2)</a:t>
            </a:r>
            <a:endParaRPr lang="en-US" sz="1100"/>
          </a:p>
        </p:txBody>
      </p:sp>
      <p:sp>
        <p:nvSpPr>
          <p:cNvPr id="1534492897" name="Shape 38"/>
          <p:cNvSpPr/>
          <p:nvPr/>
        </p:nvSpPr>
        <p:spPr bwMode="auto"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6215531" name="Text 39"/>
          <p:cNvSpPr/>
          <p:nvPr/>
        </p:nvSpPr>
        <p:spPr bwMode="auto"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Eportal 借支模組整合</a:t>
            </a:r>
            <a:endParaRPr lang="en-US" sz="950"/>
          </a:p>
        </p:txBody>
      </p:sp>
      <p:sp>
        <p:nvSpPr>
          <p:cNvPr id="1580718274" name="Text 40"/>
          <p:cNvSpPr/>
          <p:nvPr/>
        </p:nvSpPr>
        <p:spPr bwMode="auto"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Andy · 延遲 · 截止 2026/05/02</a:t>
            </a:r>
            <a:endParaRPr lang="en-US" sz="800"/>
          </a:p>
        </p:txBody>
      </p:sp>
      <p:sp>
        <p:nvSpPr>
          <p:cNvPr id="1153666459" name="Shape 41"/>
          <p:cNvSpPr/>
          <p:nvPr/>
        </p:nvSpPr>
        <p:spPr bwMode="auto">
          <a:xfrm>
            <a:off x="3337560" y="353872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02537963" name="Text 42"/>
          <p:cNvSpPr/>
          <p:nvPr/>
        </p:nvSpPr>
        <p:spPr bwMode="auto"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還款流程系統分析</a:t>
            </a:r>
            <a:endParaRPr lang="en-US" sz="950"/>
          </a:p>
        </p:txBody>
      </p:sp>
      <p:sp>
        <p:nvSpPr>
          <p:cNvPr id="1597506007" name="Text 43"/>
          <p:cNvSpPr/>
          <p:nvPr/>
        </p:nvSpPr>
        <p:spPr bwMode="auto"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Andy · 進行中 · 截止 2026/05/09</a:t>
            </a:r>
            <a:endParaRPr lang="en-US" sz="800"/>
          </a:p>
        </p:txBody>
      </p:sp>
      <p:sp>
        <p:nvSpPr>
          <p:cNvPr id="1175310068" name="Shape 44"/>
          <p:cNvSpPr/>
          <p:nvPr/>
        </p:nvSpPr>
        <p:spPr bwMode="auto"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982274457" name="Shape 45"/>
          <p:cNvSpPr/>
          <p:nvPr/>
        </p:nvSpPr>
        <p:spPr bwMode="auto"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35462684" name="Text 46"/>
          <p:cNvSpPr/>
          <p:nvPr/>
        </p:nvSpPr>
        <p:spPr bwMode="auto"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風險議題 (1)</a:t>
            </a:r>
            <a:endParaRPr lang="en-US" sz="1100"/>
          </a:p>
        </p:txBody>
      </p:sp>
      <p:sp>
        <p:nvSpPr>
          <p:cNvPr id="646716165" name="Shape 47"/>
          <p:cNvSpPr/>
          <p:nvPr/>
        </p:nvSpPr>
        <p:spPr bwMode="auto">
          <a:xfrm>
            <a:off x="6263640" y="31729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86329135" name="Text 48"/>
          <p:cNvSpPr/>
          <p:nvPr/>
        </p:nvSpPr>
        <p:spPr bwMode="auto"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1.7 Eportal 借支模組整合　延遲 4 天</a:t>
            </a:r>
            <a:endParaRPr lang="en-US" sz="900"/>
          </a:p>
        </p:txBody>
      </p:sp>
      <p:sp>
        <p:nvSpPr>
          <p:cNvPr id="1444985871" name="Text 49"/>
          <p:cNvSpPr/>
          <p:nvPr/>
        </p:nvSpPr>
        <p:spPr bwMode="auto"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 i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請關注進度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275034" name="Shape 0"/>
          <p:cNvSpPr/>
          <p:nvPr/>
        </p:nvSpPr>
        <p:spPr bwMode="auto"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1664849" name="Text 1"/>
          <p:cNvSpPr/>
          <p:nvPr/>
        </p:nvSpPr>
        <p:spPr bwMode="auto"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團險系統專案</a:t>
            </a:r>
            <a:endParaRPr lang="en-US" sz="1800"/>
          </a:p>
        </p:txBody>
      </p:sp>
      <p:sp>
        <p:nvSpPr>
          <p:cNvPr id="675744380" name="Text 2"/>
          <p:cNvSpPr/>
          <p:nvPr/>
        </p:nvSpPr>
        <p:spPr bwMode="auto"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Leo ｜ 2026/05/02 ～ 2026/09/30</a:t>
            </a:r>
            <a:endParaRPr lang="en-US" sz="1000"/>
          </a:p>
        </p:txBody>
      </p:sp>
      <p:sp>
        <p:nvSpPr>
          <p:cNvPr id="1013532812" name="Shape 3"/>
          <p:cNvSpPr/>
          <p:nvPr/>
        </p:nvSpPr>
        <p:spPr bwMode="auto"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7458667" name="Shape 4"/>
          <p:cNvSpPr/>
          <p:nvPr/>
        </p:nvSpPr>
        <p:spPr bwMode="auto"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406219134" name="Shape 5"/>
          <p:cNvSpPr/>
          <p:nvPr/>
        </p:nvSpPr>
        <p:spPr bwMode="auto">
          <a:xfrm>
            <a:off x="274320" y="731520"/>
            <a:ext cx="9144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39955144" name="Shape 6"/>
          <p:cNvSpPr/>
          <p:nvPr/>
        </p:nvSpPr>
        <p:spPr bwMode="auto">
          <a:xfrm>
            <a:off x="502920" y="868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2833371" name="Text 7"/>
          <p:cNvSpPr/>
          <p:nvPr/>
        </p:nvSpPr>
        <p:spPr bwMode="auto"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健康</a:t>
            </a:r>
            <a:endParaRPr lang="en-US" sz="1600"/>
          </a:p>
        </p:txBody>
      </p:sp>
      <p:sp>
        <p:nvSpPr>
          <p:cNvPr id="626378315" name="Text 8"/>
          <p:cNvSpPr/>
          <p:nvPr/>
        </p:nvSpPr>
        <p:spPr bwMode="auto"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15%</a:t>
            </a:r>
            <a:endParaRPr lang="en-US" sz="3600"/>
          </a:p>
        </p:txBody>
      </p:sp>
      <p:sp>
        <p:nvSpPr>
          <p:cNvPr id="207478708" name="Text 9"/>
          <p:cNvSpPr/>
          <p:nvPr/>
        </p:nvSpPr>
        <p:spPr bwMode="auto"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已完成</a:t>
            </a:r>
            <a:endParaRPr lang="en-US" sz="950"/>
          </a:p>
        </p:txBody>
      </p:sp>
      <p:sp>
        <p:nvSpPr>
          <p:cNvPr id="952291044" name="Text 10"/>
          <p:cNvSpPr/>
          <p:nvPr/>
        </p:nvSpPr>
        <p:spPr bwMode="auto"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預估完工</a:t>
            </a:r>
            <a:endParaRPr lang="en-US" sz="950"/>
          </a:p>
        </p:txBody>
      </p:sp>
      <p:sp>
        <p:nvSpPr>
          <p:cNvPr id="963230131" name="Text 11"/>
          <p:cNvSpPr/>
          <p:nvPr/>
        </p:nvSpPr>
        <p:spPr bwMode="auto"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2026/09/30</a:t>
            </a:r>
            <a:endParaRPr lang="en-US" sz="1300"/>
          </a:p>
        </p:txBody>
      </p:sp>
      <p:sp>
        <p:nvSpPr>
          <p:cNvPr id="1732211602" name="Text 12"/>
          <p:cNvSpPr/>
          <p:nvPr/>
        </p:nvSpPr>
        <p:spPr bwMode="auto"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準時</a:t>
            </a:r>
            <a:endParaRPr lang="en-US" sz="1000"/>
          </a:p>
        </p:txBody>
      </p:sp>
      <p:sp>
        <p:nvSpPr>
          <p:cNvPr id="644712791" name="Shape 13"/>
          <p:cNvSpPr/>
          <p:nvPr/>
        </p:nvSpPr>
        <p:spPr bwMode="auto"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9530085" name="Shape 14"/>
          <p:cNvSpPr/>
          <p:nvPr/>
        </p:nvSpPr>
        <p:spPr bwMode="auto">
          <a:xfrm>
            <a:off x="457200" y="2148840"/>
            <a:ext cx="36347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36776499" name="Shape 15"/>
          <p:cNvSpPr/>
          <p:nvPr/>
        </p:nvSpPr>
        <p:spPr bwMode="auto">
          <a:xfrm>
            <a:off x="511058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407121785" name="Text 16"/>
          <p:cNvSpPr/>
          <p:nvPr/>
        </p:nvSpPr>
        <p:spPr bwMode="auto"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時間已過 2.6%</a:t>
            </a:r>
            <a:endParaRPr lang="en-US" sz="800"/>
          </a:p>
        </p:txBody>
      </p:sp>
      <p:sp>
        <p:nvSpPr>
          <p:cNvPr id="484991206" name="Shape 17"/>
          <p:cNvSpPr/>
          <p:nvPr/>
        </p:nvSpPr>
        <p:spPr bwMode="auto"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043470865" name="Text 18"/>
          <p:cNvSpPr/>
          <p:nvPr/>
        </p:nvSpPr>
        <p:spPr bwMode="auto"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里程碑</a:t>
            </a:r>
            <a:endParaRPr lang="en-US" sz="1200"/>
          </a:p>
        </p:txBody>
      </p:sp>
      <p:sp>
        <p:nvSpPr>
          <p:cNvPr id="907130238" name="Shape 19"/>
          <p:cNvSpPr/>
          <p:nvPr/>
        </p:nvSpPr>
        <p:spPr bwMode="auto"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2730909" name="Shape 20"/>
          <p:cNvSpPr/>
          <p:nvPr/>
        </p:nvSpPr>
        <p:spPr bwMode="auto">
          <a:xfrm>
            <a:off x="3466573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3620476" name="Text 21"/>
          <p:cNvSpPr/>
          <p:nvPr/>
        </p:nvSpPr>
        <p:spPr bwMode="auto">
          <a:xfrm>
            <a:off x="3247117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0A500"/>
                </a:solidFill>
                <a:latin typeface="Calibri"/>
                <a:ea typeface="Calibri"/>
                <a:cs typeface="Calibri"/>
              </a:rPr>
              <a:t>今日</a:t>
            </a:r>
            <a:endParaRPr lang="en-US" sz="750"/>
          </a:p>
        </p:txBody>
      </p:sp>
      <p:sp>
        <p:nvSpPr>
          <p:cNvPr id="1927616915" name="Shape 22"/>
          <p:cNvSpPr/>
          <p:nvPr/>
        </p:nvSpPr>
        <p:spPr bwMode="auto">
          <a:xfrm>
            <a:off x="3337560" y="1298448"/>
            <a:ext cx="1726387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37150496" name="Text 23"/>
          <p:cNvSpPr/>
          <p:nvPr/>
        </p:nvSpPr>
        <p:spPr bwMode="auto">
          <a:xfrm>
            <a:off x="3063240" y="1508759"/>
            <a:ext cx="22750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需求與設計</a:t>
            </a:r>
            <a:endParaRPr lang="en-US" sz="800"/>
          </a:p>
        </p:txBody>
      </p:sp>
      <p:sp>
        <p:nvSpPr>
          <p:cNvPr id="986737792" name="Text 24"/>
          <p:cNvSpPr/>
          <p:nvPr/>
        </p:nvSpPr>
        <p:spPr bwMode="auto">
          <a:xfrm>
            <a:off x="3063240" y="1691640"/>
            <a:ext cx="227502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2E6DB4"/>
                </a:solidFill>
                <a:latin typeface="Calibri"/>
                <a:ea typeface="Calibri"/>
                <a:cs typeface="Calibri"/>
              </a:rPr>
              <a:t>60%</a:t>
            </a:r>
            <a:endParaRPr lang="en-US" sz="750"/>
          </a:p>
        </p:txBody>
      </p:sp>
      <p:sp>
        <p:nvSpPr>
          <p:cNvPr id="307346666" name="Shape 25"/>
          <p:cNvSpPr/>
          <p:nvPr/>
        </p:nvSpPr>
        <p:spPr bwMode="auto">
          <a:xfrm>
            <a:off x="5063947" y="1298448"/>
            <a:ext cx="1942186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7292373" name="Text 26"/>
          <p:cNvSpPr/>
          <p:nvPr/>
        </p:nvSpPr>
        <p:spPr bwMode="auto">
          <a:xfrm>
            <a:off x="4789627" y="1691640"/>
            <a:ext cx="24908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核心開發</a:t>
            </a:r>
            <a:endParaRPr lang="en-US" sz="800"/>
          </a:p>
        </p:txBody>
      </p:sp>
      <p:sp>
        <p:nvSpPr>
          <p:cNvPr id="771254381" name="Text 27"/>
          <p:cNvSpPr/>
          <p:nvPr/>
        </p:nvSpPr>
        <p:spPr bwMode="auto">
          <a:xfrm>
            <a:off x="4789627" y="1874520"/>
            <a:ext cx="24908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1625008251" name="Shape 28"/>
          <p:cNvSpPr/>
          <p:nvPr/>
        </p:nvSpPr>
        <p:spPr bwMode="auto">
          <a:xfrm>
            <a:off x="7006133" y="1298448"/>
            <a:ext cx="986507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50846170" name="Text 29"/>
          <p:cNvSpPr/>
          <p:nvPr/>
        </p:nvSpPr>
        <p:spPr bwMode="auto">
          <a:xfrm>
            <a:off x="6731813" y="1508759"/>
            <a:ext cx="15351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測試階段</a:t>
            </a:r>
            <a:endParaRPr lang="en-US" sz="800"/>
          </a:p>
        </p:txBody>
      </p:sp>
      <p:sp>
        <p:nvSpPr>
          <p:cNvPr id="1140244062" name="Text 30"/>
          <p:cNvSpPr/>
          <p:nvPr/>
        </p:nvSpPr>
        <p:spPr bwMode="auto">
          <a:xfrm>
            <a:off x="6731813" y="1691640"/>
            <a:ext cx="15351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920201867" name="Shape 31"/>
          <p:cNvSpPr/>
          <p:nvPr/>
        </p:nvSpPr>
        <p:spPr bwMode="auto">
          <a:xfrm>
            <a:off x="7869326" y="1298448"/>
            <a:ext cx="863194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70099681" name="Text 32"/>
          <p:cNvSpPr/>
          <p:nvPr/>
        </p:nvSpPr>
        <p:spPr bwMode="auto">
          <a:xfrm>
            <a:off x="7595006" y="1691640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上線準備</a:t>
            </a:r>
            <a:endParaRPr lang="en-US" sz="800"/>
          </a:p>
        </p:txBody>
      </p:sp>
      <p:sp>
        <p:nvSpPr>
          <p:cNvPr id="1969983454" name="Text 33"/>
          <p:cNvSpPr/>
          <p:nvPr/>
        </p:nvSpPr>
        <p:spPr bwMode="auto">
          <a:xfrm>
            <a:off x="7595006" y="1874520"/>
            <a:ext cx="141183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2100456609" name="Shape 34"/>
          <p:cNvSpPr/>
          <p:nvPr/>
        </p:nvSpPr>
        <p:spPr bwMode="auto"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2916176" name="Shape 35"/>
          <p:cNvSpPr/>
          <p:nvPr/>
        </p:nvSpPr>
        <p:spPr bwMode="auto"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65522015" name="Text 36"/>
          <p:cNvSpPr/>
          <p:nvPr/>
        </p:nvSpPr>
        <p:spPr bwMode="auto"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近 14 天完成 (0)</a:t>
            </a:r>
            <a:endParaRPr lang="en-US" sz="1100"/>
          </a:p>
        </p:txBody>
      </p:sp>
      <p:sp>
        <p:nvSpPr>
          <p:cNvPr id="1448558698" name="Text 37"/>
          <p:cNvSpPr/>
          <p:nvPr/>
        </p:nvSpPr>
        <p:spPr bwMode="auto"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本期無完成任務</a:t>
            </a:r>
            <a:endParaRPr lang="en-US" sz="1000"/>
          </a:p>
        </p:txBody>
      </p:sp>
      <p:sp>
        <p:nvSpPr>
          <p:cNvPr id="1527021561" name="Shape 38"/>
          <p:cNvSpPr/>
          <p:nvPr/>
        </p:nvSpPr>
        <p:spPr bwMode="auto"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444534851" name="Shape 39"/>
          <p:cNvSpPr/>
          <p:nvPr/>
        </p:nvSpPr>
        <p:spPr bwMode="auto"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400738274" name="Text 40"/>
          <p:cNvSpPr/>
          <p:nvPr/>
        </p:nvSpPr>
        <p:spPr bwMode="auto"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進行中 / 即將到期 (2)</a:t>
            </a:r>
            <a:endParaRPr lang="en-US" sz="1100"/>
          </a:p>
        </p:txBody>
      </p:sp>
      <p:sp>
        <p:nvSpPr>
          <p:cNvPr id="926388998" name="Shape 41"/>
          <p:cNvSpPr/>
          <p:nvPr/>
        </p:nvSpPr>
        <p:spPr bwMode="auto">
          <a:xfrm>
            <a:off x="3337560" y="317296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495584144" name="Text 42"/>
          <p:cNvSpPr/>
          <p:nvPr/>
        </p:nvSpPr>
        <p:spPr bwMode="auto"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DB Schema 設計</a:t>
            </a:r>
            <a:endParaRPr lang="en-US" sz="950"/>
          </a:p>
        </p:txBody>
      </p:sp>
      <p:sp>
        <p:nvSpPr>
          <p:cNvPr id="716465509" name="Text 43"/>
          <p:cNvSpPr/>
          <p:nvPr/>
        </p:nvSpPr>
        <p:spPr bwMode="auto"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Curtis · 進行中 · 截止 2026/06/27</a:t>
            </a:r>
            <a:endParaRPr lang="en-US" sz="800"/>
          </a:p>
        </p:txBody>
      </p:sp>
      <p:sp>
        <p:nvSpPr>
          <p:cNvPr id="391700265" name="Shape 44"/>
          <p:cNvSpPr/>
          <p:nvPr/>
        </p:nvSpPr>
        <p:spPr bwMode="auto">
          <a:xfrm>
            <a:off x="3337560" y="353872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655149642" name="Text 45"/>
          <p:cNvSpPr/>
          <p:nvPr/>
        </p:nvSpPr>
        <p:spPr bwMode="auto"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API 介面設計文件</a:t>
            </a:r>
            <a:endParaRPr lang="en-US" sz="950"/>
          </a:p>
        </p:txBody>
      </p:sp>
      <p:sp>
        <p:nvSpPr>
          <p:cNvPr id="1447904976" name="Text 46"/>
          <p:cNvSpPr/>
          <p:nvPr/>
        </p:nvSpPr>
        <p:spPr bwMode="auto"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Andy · 進行中 · 截止 2026/06/27</a:t>
            </a:r>
            <a:endParaRPr lang="en-US" sz="800"/>
          </a:p>
        </p:txBody>
      </p:sp>
      <p:sp>
        <p:nvSpPr>
          <p:cNvPr id="410924869" name="Shape 47"/>
          <p:cNvSpPr/>
          <p:nvPr/>
        </p:nvSpPr>
        <p:spPr bwMode="auto"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45928379" name="Shape 48"/>
          <p:cNvSpPr/>
          <p:nvPr/>
        </p:nvSpPr>
        <p:spPr bwMode="auto"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4256802" name="Text 49"/>
          <p:cNvSpPr/>
          <p:nvPr/>
        </p:nvSpPr>
        <p:spPr bwMode="auto"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風險議題 (0)</a:t>
            </a:r>
            <a:endParaRPr lang="en-US" sz="1100"/>
          </a:p>
        </p:txBody>
      </p:sp>
      <p:sp>
        <p:nvSpPr>
          <p:cNvPr id="1798001014" name="Text 50"/>
          <p:cNvSpPr/>
          <p:nvPr/>
        </p:nvSpPr>
        <p:spPr bwMode="auto">
          <a:xfrm>
            <a:off x="626364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目前無風險議題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670068" name="Shape 0"/>
          <p:cNvSpPr/>
          <p:nvPr/>
        </p:nvSpPr>
        <p:spPr bwMode="auto"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51705128" name="Text 1"/>
          <p:cNvSpPr/>
          <p:nvPr/>
        </p:nvSpPr>
        <p:spPr bwMode="auto"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保戶 App 改版</a:t>
            </a:r>
            <a:endParaRPr lang="en-US" sz="1800"/>
          </a:p>
        </p:txBody>
      </p:sp>
      <p:sp>
        <p:nvSpPr>
          <p:cNvPr id="1483420591" name="Text 2"/>
          <p:cNvSpPr/>
          <p:nvPr/>
        </p:nvSpPr>
        <p:spPr bwMode="auto"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Vincent ｜ 2026/02/01 ～ 2026/07/31</a:t>
            </a:r>
            <a:endParaRPr lang="en-US" sz="1000"/>
          </a:p>
        </p:txBody>
      </p:sp>
      <p:sp>
        <p:nvSpPr>
          <p:cNvPr id="227785233" name="Shape 3"/>
          <p:cNvSpPr/>
          <p:nvPr/>
        </p:nvSpPr>
        <p:spPr bwMode="auto"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72965681" name="Shape 4"/>
          <p:cNvSpPr/>
          <p:nvPr/>
        </p:nvSpPr>
        <p:spPr bwMode="auto"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972558528" name="Shape 5"/>
          <p:cNvSpPr/>
          <p:nvPr/>
        </p:nvSpPr>
        <p:spPr bwMode="auto">
          <a:xfrm>
            <a:off x="274320" y="731520"/>
            <a:ext cx="91440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1726273" name="Shape 6"/>
          <p:cNvSpPr/>
          <p:nvPr/>
        </p:nvSpPr>
        <p:spPr bwMode="auto">
          <a:xfrm>
            <a:off x="502920" y="868680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6088558" name="Text 7"/>
          <p:cNvSpPr/>
          <p:nvPr/>
        </p:nvSpPr>
        <p:spPr bwMode="auto"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警報</a:t>
            </a:r>
            <a:endParaRPr lang="en-US" sz="1600"/>
          </a:p>
        </p:txBody>
      </p:sp>
      <p:sp>
        <p:nvSpPr>
          <p:cNvPr id="785017454" name="Text 8"/>
          <p:cNvSpPr/>
          <p:nvPr/>
        </p:nvSpPr>
        <p:spPr bwMode="auto"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31.6%</a:t>
            </a:r>
            <a:endParaRPr lang="en-US" sz="3600"/>
          </a:p>
        </p:txBody>
      </p:sp>
      <p:sp>
        <p:nvSpPr>
          <p:cNvPr id="259678571" name="Text 9"/>
          <p:cNvSpPr/>
          <p:nvPr/>
        </p:nvSpPr>
        <p:spPr bwMode="auto"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已完成</a:t>
            </a:r>
            <a:endParaRPr lang="en-US" sz="950"/>
          </a:p>
        </p:txBody>
      </p:sp>
      <p:sp>
        <p:nvSpPr>
          <p:cNvPr id="1593610320" name="Text 10"/>
          <p:cNvSpPr/>
          <p:nvPr/>
        </p:nvSpPr>
        <p:spPr bwMode="auto"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預估完工</a:t>
            </a:r>
            <a:endParaRPr lang="en-US" sz="950"/>
          </a:p>
        </p:txBody>
      </p:sp>
      <p:sp>
        <p:nvSpPr>
          <p:cNvPr id="627031081" name="Text 11"/>
          <p:cNvSpPr/>
          <p:nvPr/>
        </p:nvSpPr>
        <p:spPr bwMode="auto"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2026/11/26</a:t>
            </a:r>
            <a:endParaRPr lang="en-US" sz="1300"/>
          </a:p>
        </p:txBody>
      </p:sp>
      <p:sp>
        <p:nvSpPr>
          <p:cNvPr id="354217142" name="Text 12"/>
          <p:cNvSpPr/>
          <p:nvPr/>
        </p:nvSpPr>
        <p:spPr bwMode="auto"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落後 90 天</a:t>
            </a:r>
            <a:endParaRPr lang="en-US" sz="1000"/>
          </a:p>
        </p:txBody>
      </p:sp>
      <p:sp>
        <p:nvSpPr>
          <p:cNvPr id="702723152" name="Shape 13"/>
          <p:cNvSpPr/>
          <p:nvPr/>
        </p:nvSpPr>
        <p:spPr bwMode="auto"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8377088" name="Shape 14"/>
          <p:cNvSpPr/>
          <p:nvPr/>
        </p:nvSpPr>
        <p:spPr bwMode="auto">
          <a:xfrm>
            <a:off x="457200" y="2148840"/>
            <a:ext cx="765719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90079230" name="Shape 15"/>
          <p:cNvSpPr/>
          <p:nvPr/>
        </p:nvSpPr>
        <p:spPr bwMode="auto">
          <a:xfrm>
            <a:off x="1712946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18534359" name="Text 16"/>
          <p:cNvSpPr/>
          <p:nvPr/>
        </p:nvSpPr>
        <p:spPr bwMode="auto"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時間已過 52.2%</a:t>
            </a:r>
            <a:endParaRPr lang="en-US" sz="800"/>
          </a:p>
        </p:txBody>
      </p:sp>
      <p:sp>
        <p:nvSpPr>
          <p:cNvPr id="1681202632" name="Shape 17"/>
          <p:cNvSpPr/>
          <p:nvPr/>
        </p:nvSpPr>
        <p:spPr bwMode="auto"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758850924" name="Text 18"/>
          <p:cNvSpPr/>
          <p:nvPr/>
        </p:nvSpPr>
        <p:spPr bwMode="auto"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里程碑</a:t>
            </a:r>
            <a:endParaRPr lang="en-US" sz="1200"/>
          </a:p>
        </p:txBody>
      </p:sp>
      <p:sp>
        <p:nvSpPr>
          <p:cNvPr id="1292077179" name="Shape 19"/>
          <p:cNvSpPr/>
          <p:nvPr/>
        </p:nvSpPr>
        <p:spPr bwMode="auto"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9456218" name="Shape 20"/>
          <p:cNvSpPr/>
          <p:nvPr/>
        </p:nvSpPr>
        <p:spPr bwMode="auto">
          <a:xfrm>
            <a:off x="6160216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89953969" name="Text 21"/>
          <p:cNvSpPr/>
          <p:nvPr/>
        </p:nvSpPr>
        <p:spPr bwMode="auto">
          <a:xfrm>
            <a:off x="5940760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0A500"/>
                </a:solidFill>
                <a:latin typeface="Calibri"/>
                <a:ea typeface="Calibri"/>
                <a:cs typeface="Calibri"/>
              </a:rPr>
              <a:t>今日</a:t>
            </a:r>
            <a:endParaRPr lang="en-US" sz="750"/>
          </a:p>
        </p:txBody>
      </p:sp>
      <p:sp>
        <p:nvSpPr>
          <p:cNvPr id="339944079" name="Shape 22"/>
          <p:cNvSpPr/>
          <p:nvPr/>
        </p:nvSpPr>
        <p:spPr bwMode="auto">
          <a:xfrm>
            <a:off x="3337560" y="1298448"/>
            <a:ext cx="2697480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2081333" name="Text 23"/>
          <p:cNvSpPr/>
          <p:nvPr/>
        </p:nvSpPr>
        <p:spPr bwMode="auto">
          <a:xfrm>
            <a:off x="3063240" y="1508759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UX 重新設計</a:t>
            </a:r>
            <a:endParaRPr lang="en-US" sz="800"/>
          </a:p>
        </p:txBody>
      </p:sp>
      <p:sp>
        <p:nvSpPr>
          <p:cNvPr id="2039987435" name="Text 24"/>
          <p:cNvSpPr/>
          <p:nvPr/>
        </p:nvSpPr>
        <p:spPr bwMode="auto">
          <a:xfrm>
            <a:off x="3063240" y="169164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80%</a:t>
            </a:r>
            <a:endParaRPr lang="en-US" sz="750"/>
          </a:p>
        </p:txBody>
      </p:sp>
      <p:sp>
        <p:nvSpPr>
          <p:cNvPr id="165358801" name="Shape 25"/>
          <p:cNvSpPr/>
          <p:nvPr/>
        </p:nvSpPr>
        <p:spPr bwMode="auto">
          <a:xfrm>
            <a:off x="5105908" y="1298448"/>
            <a:ext cx="2817368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73555261" name="Text 26"/>
          <p:cNvSpPr/>
          <p:nvPr/>
        </p:nvSpPr>
        <p:spPr bwMode="auto">
          <a:xfrm>
            <a:off x="4831587" y="1691640"/>
            <a:ext cx="3366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前端開發</a:t>
            </a:r>
            <a:endParaRPr lang="en-US" sz="800"/>
          </a:p>
        </p:txBody>
      </p:sp>
      <p:sp>
        <p:nvSpPr>
          <p:cNvPr id="640790253" name="Text 27"/>
          <p:cNvSpPr/>
          <p:nvPr/>
        </p:nvSpPr>
        <p:spPr bwMode="auto">
          <a:xfrm>
            <a:off x="4831587" y="1874520"/>
            <a:ext cx="3366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2E6DB4"/>
                </a:solidFill>
                <a:latin typeface="Calibri"/>
                <a:ea typeface="Calibri"/>
                <a:cs typeface="Calibri"/>
              </a:rPr>
              <a:t>17%</a:t>
            </a:r>
            <a:endParaRPr lang="en-US" sz="750"/>
          </a:p>
        </p:txBody>
      </p:sp>
      <p:sp>
        <p:nvSpPr>
          <p:cNvPr id="1777069840" name="Shape 28"/>
          <p:cNvSpPr/>
          <p:nvPr/>
        </p:nvSpPr>
        <p:spPr bwMode="auto">
          <a:xfrm>
            <a:off x="4596384" y="1298448"/>
            <a:ext cx="2068068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0394899" name="Text 29"/>
          <p:cNvSpPr/>
          <p:nvPr/>
        </p:nvSpPr>
        <p:spPr bwMode="auto">
          <a:xfrm>
            <a:off x="4322064" y="1508759"/>
            <a:ext cx="26167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後端 API 整合</a:t>
            </a:r>
            <a:endParaRPr lang="en-US" sz="800"/>
          </a:p>
        </p:txBody>
      </p:sp>
      <p:sp>
        <p:nvSpPr>
          <p:cNvPr id="2011220925" name="Text 30"/>
          <p:cNvSpPr/>
          <p:nvPr/>
        </p:nvSpPr>
        <p:spPr bwMode="auto">
          <a:xfrm>
            <a:off x="4322064" y="1691640"/>
            <a:ext cx="26167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33%</a:t>
            </a:r>
            <a:endParaRPr lang="en-US" sz="750"/>
          </a:p>
        </p:txBody>
      </p:sp>
      <p:sp>
        <p:nvSpPr>
          <p:cNvPr id="672670918" name="Shape 31"/>
          <p:cNvSpPr/>
          <p:nvPr/>
        </p:nvSpPr>
        <p:spPr bwMode="auto">
          <a:xfrm>
            <a:off x="5825236" y="1298448"/>
            <a:ext cx="2907284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26342070" name="Text 32"/>
          <p:cNvSpPr/>
          <p:nvPr/>
        </p:nvSpPr>
        <p:spPr bwMode="auto">
          <a:xfrm>
            <a:off x="5550916" y="1691640"/>
            <a:ext cx="3455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測試與上架</a:t>
            </a:r>
            <a:endParaRPr lang="en-US" sz="800"/>
          </a:p>
        </p:txBody>
      </p:sp>
      <p:sp>
        <p:nvSpPr>
          <p:cNvPr id="1307254492" name="Text 33"/>
          <p:cNvSpPr/>
          <p:nvPr/>
        </p:nvSpPr>
        <p:spPr bwMode="auto">
          <a:xfrm>
            <a:off x="5550916" y="1874520"/>
            <a:ext cx="34559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281207260" name="Shape 34"/>
          <p:cNvSpPr/>
          <p:nvPr/>
        </p:nvSpPr>
        <p:spPr bwMode="auto"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53073413" name="Shape 35"/>
          <p:cNvSpPr/>
          <p:nvPr/>
        </p:nvSpPr>
        <p:spPr bwMode="auto"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57228311" name="Text 36"/>
          <p:cNvSpPr/>
          <p:nvPr/>
        </p:nvSpPr>
        <p:spPr bwMode="auto"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近 14 天完成 (2)</a:t>
            </a:r>
            <a:endParaRPr lang="en-US" sz="1100"/>
          </a:p>
        </p:txBody>
      </p:sp>
      <p:sp>
        <p:nvSpPr>
          <p:cNvPr id="252543438" name="Shape 37"/>
          <p:cNvSpPr/>
          <p:nvPr/>
        </p:nvSpPr>
        <p:spPr bwMode="auto"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64863339" name="Text 38"/>
          <p:cNvSpPr/>
          <p:nvPr/>
        </p:nvSpPr>
        <p:spPr bwMode="auto"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Design System 建立</a:t>
            </a:r>
            <a:endParaRPr lang="en-US" sz="950"/>
          </a:p>
        </p:txBody>
      </p:sp>
      <p:sp>
        <p:nvSpPr>
          <p:cNvPr id="1659314126" name="Text 39"/>
          <p:cNvSpPr/>
          <p:nvPr/>
        </p:nvSpPr>
        <p:spPr bwMode="auto"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Daniel · 2026/05/01</a:t>
            </a:r>
            <a:endParaRPr lang="en-US" sz="800"/>
          </a:p>
        </p:txBody>
      </p:sp>
      <p:sp>
        <p:nvSpPr>
          <p:cNvPr id="1908805230" name="Shape 40"/>
          <p:cNvSpPr/>
          <p:nvPr/>
        </p:nvSpPr>
        <p:spPr bwMode="auto">
          <a:xfrm>
            <a:off x="411480" y="35387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58131374" name="Text 41"/>
          <p:cNvSpPr/>
          <p:nvPr/>
        </p:nvSpPr>
        <p:spPr bwMode="auto">
          <a:xfrm>
            <a:off x="56692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高擬真原型 (Figma)</a:t>
            </a:r>
            <a:endParaRPr lang="en-US" sz="950"/>
          </a:p>
        </p:txBody>
      </p:sp>
      <p:sp>
        <p:nvSpPr>
          <p:cNvPr id="326003143" name="Text 42"/>
          <p:cNvSpPr/>
          <p:nvPr/>
        </p:nvSpPr>
        <p:spPr bwMode="auto">
          <a:xfrm>
            <a:off x="56692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Mia · 2026/04/30</a:t>
            </a:r>
            <a:endParaRPr lang="en-US" sz="800"/>
          </a:p>
        </p:txBody>
      </p:sp>
      <p:sp>
        <p:nvSpPr>
          <p:cNvPr id="738080985" name="Shape 43"/>
          <p:cNvSpPr/>
          <p:nvPr/>
        </p:nvSpPr>
        <p:spPr bwMode="auto"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975589255" name="Shape 44"/>
          <p:cNvSpPr/>
          <p:nvPr/>
        </p:nvSpPr>
        <p:spPr bwMode="auto"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39157495" name="Text 45"/>
          <p:cNvSpPr/>
          <p:nvPr/>
        </p:nvSpPr>
        <p:spPr bwMode="auto"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進行中 / 即將到期 (6)</a:t>
            </a:r>
            <a:endParaRPr lang="en-US" sz="1100"/>
          </a:p>
        </p:txBody>
      </p:sp>
      <p:sp>
        <p:nvSpPr>
          <p:cNvPr id="2034283755" name="Shape 46"/>
          <p:cNvSpPr/>
          <p:nvPr/>
        </p:nvSpPr>
        <p:spPr bwMode="auto"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554255" name="Text 47"/>
          <p:cNvSpPr/>
          <p:nvPr/>
        </p:nvSpPr>
        <p:spPr bwMode="auto"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UX 使用者測試 (8人)</a:t>
            </a:r>
            <a:endParaRPr lang="en-US" sz="950"/>
          </a:p>
        </p:txBody>
      </p:sp>
      <p:sp>
        <p:nvSpPr>
          <p:cNvPr id="1019500619" name="Text 48"/>
          <p:cNvSpPr/>
          <p:nvPr/>
        </p:nvSpPr>
        <p:spPr bwMode="auto"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Vincent · 風險 · 截止 2026/05/02</a:t>
            </a:r>
            <a:endParaRPr lang="en-US" sz="800"/>
          </a:p>
        </p:txBody>
      </p:sp>
      <p:sp>
        <p:nvSpPr>
          <p:cNvPr id="1555644755" name="Shape 49"/>
          <p:cNvSpPr/>
          <p:nvPr/>
        </p:nvSpPr>
        <p:spPr bwMode="auto">
          <a:xfrm>
            <a:off x="333756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2692766" name="Text 50"/>
          <p:cNvSpPr/>
          <p:nvPr/>
        </p:nvSpPr>
        <p:spPr bwMode="auto"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保戶身分驗證 (生物識別)</a:t>
            </a:r>
            <a:endParaRPr lang="en-US" sz="950"/>
          </a:p>
        </p:txBody>
      </p:sp>
      <p:sp>
        <p:nvSpPr>
          <p:cNvPr id="1977185260" name="Text 51"/>
          <p:cNvSpPr/>
          <p:nvPr/>
        </p:nvSpPr>
        <p:spPr bwMode="auto"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Brian · 延遲 · 截止 2026/05/02</a:t>
            </a:r>
            <a:endParaRPr lang="en-US" sz="800"/>
          </a:p>
        </p:txBody>
      </p:sp>
      <p:sp>
        <p:nvSpPr>
          <p:cNvPr id="1301925859" name="Shape 52"/>
          <p:cNvSpPr/>
          <p:nvPr/>
        </p:nvSpPr>
        <p:spPr bwMode="auto">
          <a:xfrm>
            <a:off x="3337560" y="39044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53937475" name="Text 53"/>
          <p:cNvSpPr/>
          <p:nvPr/>
        </p:nvSpPr>
        <p:spPr bwMode="auto">
          <a:xfrm>
            <a:off x="349300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效能測試 (冷啟動&lt;2秒)</a:t>
            </a:r>
            <a:endParaRPr lang="en-US" sz="950"/>
          </a:p>
        </p:txBody>
      </p:sp>
      <p:sp>
        <p:nvSpPr>
          <p:cNvPr id="1287022559" name="Text 54"/>
          <p:cNvSpPr/>
          <p:nvPr/>
        </p:nvSpPr>
        <p:spPr bwMode="auto">
          <a:xfrm>
            <a:off x="349300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Mia · 風險 · 截止 2026/05/02</a:t>
            </a:r>
            <a:endParaRPr lang="en-US" sz="800"/>
          </a:p>
        </p:txBody>
      </p:sp>
      <p:sp>
        <p:nvSpPr>
          <p:cNvPr id="904482081" name="Shape 55"/>
          <p:cNvSpPr/>
          <p:nvPr/>
        </p:nvSpPr>
        <p:spPr bwMode="auto">
          <a:xfrm>
            <a:off x="3337560" y="427024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894541336" name="Text 56"/>
          <p:cNvSpPr/>
          <p:nvPr/>
        </p:nvSpPr>
        <p:spPr bwMode="auto">
          <a:xfrm>
            <a:off x="3493008" y="417880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推播後端 (FCM/APNs)</a:t>
            </a:r>
            <a:endParaRPr lang="en-US" sz="950"/>
          </a:p>
        </p:txBody>
      </p:sp>
      <p:sp>
        <p:nvSpPr>
          <p:cNvPr id="997365026" name="Text 57"/>
          <p:cNvSpPr/>
          <p:nvPr/>
        </p:nvSpPr>
        <p:spPr bwMode="auto">
          <a:xfrm>
            <a:off x="3493008" y="436168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Brian · 進行中 · 截止 2026/05/23</a:t>
            </a:r>
            <a:endParaRPr lang="en-US" sz="800"/>
          </a:p>
        </p:txBody>
      </p:sp>
      <p:sp>
        <p:nvSpPr>
          <p:cNvPr id="1421718443" name="Shape 58"/>
          <p:cNvSpPr/>
          <p:nvPr/>
        </p:nvSpPr>
        <p:spPr bwMode="auto">
          <a:xfrm>
            <a:off x="3337560" y="463600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773710721" name="Text 59"/>
          <p:cNvSpPr/>
          <p:nvPr/>
        </p:nvSpPr>
        <p:spPr bwMode="auto">
          <a:xfrm>
            <a:off x="3493008" y="45445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iOS App 主頁面</a:t>
            </a:r>
            <a:endParaRPr lang="en-US" sz="950"/>
          </a:p>
        </p:txBody>
      </p:sp>
      <p:sp>
        <p:nvSpPr>
          <p:cNvPr id="1927262505" name="Text 60"/>
          <p:cNvSpPr/>
          <p:nvPr/>
        </p:nvSpPr>
        <p:spPr bwMode="auto">
          <a:xfrm>
            <a:off x="3493008" y="472744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Daniel · 進行中 · 截止 2026/06/02</a:t>
            </a:r>
            <a:endParaRPr lang="en-US" sz="800"/>
          </a:p>
        </p:txBody>
      </p:sp>
      <p:sp>
        <p:nvSpPr>
          <p:cNvPr id="982406600" name="Shape 61"/>
          <p:cNvSpPr/>
          <p:nvPr/>
        </p:nvSpPr>
        <p:spPr bwMode="auto"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91253106" name="Shape 62"/>
          <p:cNvSpPr/>
          <p:nvPr/>
        </p:nvSpPr>
        <p:spPr bwMode="auto"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33883518" name="Text 63"/>
          <p:cNvSpPr/>
          <p:nvPr/>
        </p:nvSpPr>
        <p:spPr bwMode="auto"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風險議題 (3)</a:t>
            </a:r>
            <a:endParaRPr lang="en-US" sz="1100"/>
          </a:p>
        </p:txBody>
      </p:sp>
      <p:sp>
        <p:nvSpPr>
          <p:cNvPr id="999513375" name="Shape 64"/>
          <p:cNvSpPr/>
          <p:nvPr/>
        </p:nvSpPr>
        <p:spPr bwMode="auto">
          <a:xfrm>
            <a:off x="626364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3614315" name="Text 65"/>
          <p:cNvSpPr/>
          <p:nvPr/>
        </p:nvSpPr>
        <p:spPr bwMode="auto"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1.5 UX 使用者測試 (8人)　延遲 4 天</a:t>
            </a:r>
            <a:endParaRPr lang="en-US" sz="900"/>
          </a:p>
        </p:txBody>
      </p:sp>
      <p:sp>
        <p:nvSpPr>
          <p:cNvPr id="745752741" name="Text 66"/>
          <p:cNvSpPr/>
          <p:nvPr/>
        </p:nvSpPr>
        <p:spPr bwMode="auto"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 i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需裁示：是否加派人力 / 縮減範圍</a:t>
            </a:r>
            <a:endParaRPr lang="en-US" sz="750"/>
          </a:p>
        </p:txBody>
      </p:sp>
      <p:sp>
        <p:nvSpPr>
          <p:cNvPr id="2026680912" name="Shape 67"/>
          <p:cNvSpPr/>
          <p:nvPr/>
        </p:nvSpPr>
        <p:spPr bwMode="auto">
          <a:xfrm>
            <a:off x="626364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8764280" name="Text 68"/>
          <p:cNvSpPr/>
          <p:nvPr/>
        </p:nvSpPr>
        <p:spPr bwMode="auto">
          <a:xfrm>
            <a:off x="6419088" y="3447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3.2 保戶身分驗證 (生物識別)　延遲 4 天</a:t>
            </a:r>
            <a:endParaRPr lang="en-US" sz="900"/>
          </a:p>
        </p:txBody>
      </p:sp>
      <p:sp>
        <p:nvSpPr>
          <p:cNvPr id="831872697" name="Text 69"/>
          <p:cNvSpPr/>
          <p:nvPr/>
        </p:nvSpPr>
        <p:spPr bwMode="auto">
          <a:xfrm>
            <a:off x="6419088" y="36301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 i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需裁示：是否加派人力 / 縮減範圍</a:t>
            </a:r>
            <a:endParaRPr lang="en-US" sz="750"/>
          </a:p>
        </p:txBody>
      </p:sp>
      <p:sp>
        <p:nvSpPr>
          <p:cNvPr id="721026025" name="Shape 70"/>
          <p:cNvSpPr/>
          <p:nvPr/>
        </p:nvSpPr>
        <p:spPr bwMode="auto">
          <a:xfrm>
            <a:off x="6263640" y="39044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8743571" name="Text 71"/>
          <p:cNvSpPr/>
          <p:nvPr/>
        </p:nvSpPr>
        <p:spPr bwMode="auto">
          <a:xfrm>
            <a:off x="6419088" y="3813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4.1 效能測試 (冷啟動&lt;2秒)　延遲 4 天</a:t>
            </a:r>
            <a:endParaRPr lang="en-US" sz="900"/>
          </a:p>
        </p:txBody>
      </p:sp>
      <p:sp>
        <p:nvSpPr>
          <p:cNvPr id="115877693" name="Text 72"/>
          <p:cNvSpPr/>
          <p:nvPr/>
        </p:nvSpPr>
        <p:spPr bwMode="auto">
          <a:xfrm>
            <a:off x="6419088" y="399592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 i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需裁示：是否加派人力 / 縮減範圍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098023" name="Shape 0"/>
          <p:cNvSpPr/>
          <p:nvPr/>
        </p:nvSpPr>
        <p:spPr bwMode="auto"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7571759" name="Text 1"/>
          <p:cNvSpPr/>
          <p:nvPr/>
        </p:nvSpPr>
        <p:spPr bwMode="auto"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核保 AI 升級</a:t>
            </a:r>
            <a:endParaRPr lang="en-US" sz="1800"/>
          </a:p>
        </p:txBody>
      </p:sp>
      <p:sp>
        <p:nvSpPr>
          <p:cNvPr id="776428678" name="Text 2"/>
          <p:cNvSpPr/>
          <p:nvPr/>
        </p:nvSpPr>
        <p:spPr bwMode="auto"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Diana ｜ 2026/03/01 ～ 2026/12/31</a:t>
            </a:r>
            <a:endParaRPr lang="en-US" sz="1000"/>
          </a:p>
        </p:txBody>
      </p:sp>
      <p:sp>
        <p:nvSpPr>
          <p:cNvPr id="1315135311" name="Shape 3"/>
          <p:cNvSpPr/>
          <p:nvPr/>
        </p:nvSpPr>
        <p:spPr bwMode="auto"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0876606" name="Shape 4"/>
          <p:cNvSpPr/>
          <p:nvPr/>
        </p:nvSpPr>
        <p:spPr bwMode="auto"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840462364" name="Shape 5"/>
          <p:cNvSpPr/>
          <p:nvPr/>
        </p:nvSpPr>
        <p:spPr bwMode="auto">
          <a:xfrm>
            <a:off x="274320" y="73152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5937381" name="Shape 6"/>
          <p:cNvSpPr/>
          <p:nvPr/>
        </p:nvSpPr>
        <p:spPr bwMode="auto">
          <a:xfrm>
            <a:off x="502920" y="868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0429145" name="Text 7"/>
          <p:cNvSpPr/>
          <p:nvPr/>
        </p:nvSpPr>
        <p:spPr bwMode="auto"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注意</a:t>
            </a:r>
            <a:endParaRPr lang="en-US" sz="1600"/>
          </a:p>
        </p:txBody>
      </p:sp>
      <p:sp>
        <p:nvSpPr>
          <p:cNvPr id="1122775549" name="Text 8"/>
          <p:cNvSpPr/>
          <p:nvPr/>
        </p:nvSpPr>
        <p:spPr bwMode="auto"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22.2%</a:t>
            </a:r>
            <a:endParaRPr lang="en-US" sz="3600"/>
          </a:p>
        </p:txBody>
      </p:sp>
      <p:sp>
        <p:nvSpPr>
          <p:cNvPr id="1169166166" name="Text 9"/>
          <p:cNvSpPr/>
          <p:nvPr/>
        </p:nvSpPr>
        <p:spPr bwMode="auto"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已完成</a:t>
            </a:r>
            <a:endParaRPr lang="en-US" sz="950"/>
          </a:p>
        </p:txBody>
      </p:sp>
      <p:sp>
        <p:nvSpPr>
          <p:cNvPr id="1492130851" name="Text 10"/>
          <p:cNvSpPr/>
          <p:nvPr/>
        </p:nvSpPr>
        <p:spPr bwMode="auto"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預估完工</a:t>
            </a:r>
            <a:endParaRPr lang="en-US" sz="950"/>
          </a:p>
        </p:txBody>
      </p:sp>
      <p:sp>
        <p:nvSpPr>
          <p:cNvPr id="292783511" name="Text 11"/>
          <p:cNvSpPr/>
          <p:nvPr/>
        </p:nvSpPr>
        <p:spPr bwMode="auto"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2026/12/23</a:t>
            </a:r>
            <a:endParaRPr lang="en-US" sz="1300"/>
          </a:p>
        </p:txBody>
      </p:sp>
      <p:sp>
        <p:nvSpPr>
          <p:cNvPr id="438845611" name="Text 12"/>
          <p:cNvSpPr/>
          <p:nvPr/>
        </p:nvSpPr>
        <p:spPr bwMode="auto"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提前 8 天</a:t>
            </a:r>
            <a:endParaRPr lang="en-US" sz="1000"/>
          </a:p>
        </p:txBody>
      </p:sp>
      <p:sp>
        <p:nvSpPr>
          <p:cNvPr id="1535168606" name="Shape 13"/>
          <p:cNvSpPr/>
          <p:nvPr/>
        </p:nvSpPr>
        <p:spPr bwMode="auto"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0245707" name="Shape 14"/>
          <p:cNvSpPr/>
          <p:nvPr/>
        </p:nvSpPr>
        <p:spPr bwMode="auto">
          <a:xfrm>
            <a:off x="457200" y="2148840"/>
            <a:ext cx="53794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59639582" name="Shape 15"/>
          <p:cNvSpPr/>
          <p:nvPr/>
        </p:nvSpPr>
        <p:spPr bwMode="auto">
          <a:xfrm>
            <a:off x="971459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9137548" name="Text 16"/>
          <p:cNvSpPr/>
          <p:nvPr/>
        </p:nvSpPr>
        <p:spPr bwMode="auto"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時間已過 21.6%</a:t>
            </a:r>
            <a:endParaRPr lang="en-US" sz="800"/>
          </a:p>
        </p:txBody>
      </p:sp>
      <p:sp>
        <p:nvSpPr>
          <p:cNvPr id="1314102724" name="Shape 17"/>
          <p:cNvSpPr/>
          <p:nvPr/>
        </p:nvSpPr>
        <p:spPr bwMode="auto"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407834287" name="Text 18"/>
          <p:cNvSpPr/>
          <p:nvPr/>
        </p:nvSpPr>
        <p:spPr bwMode="auto"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里程碑</a:t>
            </a:r>
            <a:endParaRPr lang="en-US" sz="1200"/>
          </a:p>
        </p:txBody>
      </p:sp>
      <p:sp>
        <p:nvSpPr>
          <p:cNvPr id="367975740" name="Shape 19"/>
          <p:cNvSpPr/>
          <p:nvPr/>
        </p:nvSpPr>
        <p:spPr bwMode="auto"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4070939" name="Shape 20"/>
          <p:cNvSpPr/>
          <p:nvPr/>
        </p:nvSpPr>
        <p:spPr bwMode="auto">
          <a:xfrm>
            <a:off x="4504367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07855174" name="Text 21"/>
          <p:cNvSpPr/>
          <p:nvPr/>
        </p:nvSpPr>
        <p:spPr bwMode="auto">
          <a:xfrm>
            <a:off x="4284911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0A500"/>
                </a:solidFill>
                <a:latin typeface="Calibri"/>
                <a:ea typeface="Calibri"/>
                <a:cs typeface="Calibri"/>
              </a:rPr>
              <a:t>今日</a:t>
            </a:r>
            <a:endParaRPr lang="en-US" sz="750"/>
          </a:p>
        </p:txBody>
      </p:sp>
      <p:sp>
        <p:nvSpPr>
          <p:cNvPr id="325835733" name="Shape 22"/>
          <p:cNvSpPr/>
          <p:nvPr/>
        </p:nvSpPr>
        <p:spPr bwMode="auto">
          <a:xfrm>
            <a:off x="3337560" y="1298448"/>
            <a:ext cx="972862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9865738" name="Text 23"/>
          <p:cNvSpPr/>
          <p:nvPr/>
        </p:nvSpPr>
        <p:spPr bwMode="auto">
          <a:xfrm>
            <a:off x="3063240" y="1508759"/>
            <a:ext cx="15215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需求與資料蒐集</a:t>
            </a:r>
            <a:endParaRPr lang="en-US" sz="800"/>
          </a:p>
        </p:txBody>
      </p:sp>
      <p:sp>
        <p:nvSpPr>
          <p:cNvPr id="455069695" name="Text 24"/>
          <p:cNvSpPr/>
          <p:nvPr/>
        </p:nvSpPr>
        <p:spPr bwMode="auto">
          <a:xfrm>
            <a:off x="3063240" y="1691640"/>
            <a:ext cx="152150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100%</a:t>
            </a:r>
            <a:endParaRPr lang="en-US" sz="750"/>
          </a:p>
        </p:txBody>
      </p:sp>
      <p:sp>
        <p:nvSpPr>
          <p:cNvPr id="146666781" name="Shape 25"/>
          <p:cNvSpPr/>
          <p:nvPr/>
        </p:nvSpPr>
        <p:spPr bwMode="auto">
          <a:xfrm>
            <a:off x="4310422" y="1298448"/>
            <a:ext cx="1609644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75091192" name="Text 26"/>
          <p:cNvSpPr/>
          <p:nvPr/>
        </p:nvSpPr>
        <p:spPr bwMode="auto">
          <a:xfrm>
            <a:off x="4036102" y="1691640"/>
            <a:ext cx="21582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AI 模型開發</a:t>
            </a:r>
            <a:endParaRPr lang="en-US" sz="800"/>
          </a:p>
        </p:txBody>
      </p:sp>
      <p:sp>
        <p:nvSpPr>
          <p:cNvPr id="497936406" name="Text 27"/>
          <p:cNvSpPr/>
          <p:nvPr/>
        </p:nvSpPr>
        <p:spPr bwMode="auto">
          <a:xfrm>
            <a:off x="4036102" y="1874520"/>
            <a:ext cx="21582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1016465526" name="Shape 28"/>
          <p:cNvSpPr/>
          <p:nvPr/>
        </p:nvSpPr>
        <p:spPr bwMode="auto">
          <a:xfrm>
            <a:off x="5920065" y="1298448"/>
            <a:ext cx="1114369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27703406" name="Text 29"/>
          <p:cNvSpPr/>
          <p:nvPr/>
        </p:nvSpPr>
        <p:spPr bwMode="auto">
          <a:xfrm>
            <a:off x="5645745" y="1508759"/>
            <a:ext cx="16630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系統整合</a:t>
            </a:r>
            <a:endParaRPr lang="en-US" sz="800"/>
          </a:p>
        </p:txBody>
      </p:sp>
      <p:sp>
        <p:nvSpPr>
          <p:cNvPr id="1331555851" name="Text 30"/>
          <p:cNvSpPr/>
          <p:nvPr/>
        </p:nvSpPr>
        <p:spPr bwMode="auto">
          <a:xfrm>
            <a:off x="5645745" y="1691640"/>
            <a:ext cx="166300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1076309739" name="Shape 31"/>
          <p:cNvSpPr/>
          <p:nvPr/>
        </p:nvSpPr>
        <p:spPr bwMode="auto">
          <a:xfrm>
            <a:off x="7034434" y="1298448"/>
            <a:ext cx="1698086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80111856" name="Text 32"/>
          <p:cNvSpPr/>
          <p:nvPr/>
        </p:nvSpPr>
        <p:spPr bwMode="auto">
          <a:xfrm>
            <a:off x="6760114" y="1691640"/>
            <a:ext cx="2246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測試與上線</a:t>
            </a:r>
            <a:endParaRPr lang="en-US" sz="800"/>
          </a:p>
        </p:txBody>
      </p:sp>
      <p:sp>
        <p:nvSpPr>
          <p:cNvPr id="830463944" name="Text 33"/>
          <p:cNvSpPr/>
          <p:nvPr/>
        </p:nvSpPr>
        <p:spPr bwMode="auto">
          <a:xfrm>
            <a:off x="6760114" y="1874520"/>
            <a:ext cx="22467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1337532295" name="Shape 34"/>
          <p:cNvSpPr/>
          <p:nvPr/>
        </p:nvSpPr>
        <p:spPr bwMode="auto"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05462932" name="Shape 35"/>
          <p:cNvSpPr/>
          <p:nvPr/>
        </p:nvSpPr>
        <p:spPr bwMode="auto"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17154610" name="Text 36"/>
          <p:cNvSpPr/>
          <p:nvPr/>
        </p:nvSpPr>
        <p:spPr bwMode="auto"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近 14 天完成 (1)</a:t>
            </a:r>
            <a:endParaRPr lang="en-US" sz="1100"/>
          </a:p>
        </p:txBody>
      </p:sp>
      <p:sp>
        <p:nvSpPr>
          <p:cNvPr id="1234511140" name="Shape 37"/>
          <p:cNvSpPr/>
          <p:nvPr/>
        </p:nvSpPr>
        <p:spPr bwMode="auto"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1044348" name="Text 38"/>
          <p:cNvSpPr/>
          <p:nvPr/>
        </p:nvSpPr>
        <p:spPr bwMode="auto"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個資合規審查</a:t>
            </a:r>
            <a:endParaRPr lang="en-US" sz="950"/>
          </a:p>
        </p:txBody>
      </p:sp>
      <p:sp>
        <p:nvSpPr>
          <p:cNvPr id="1043642771" name="Text 39"/>
          <p:cNvSpPr/>
          <p:nvPr/>
        </p:nvSpPr>
        <p:spPr bwMode="auto"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Lisa · 2026/04/28</a:t>
            </a:r>
            <a:endParaRPr lang="en-US" sz="800"/>
          </a:p>
        </p:txBody>
      </p:sp>
      <p:sp>
        <p:nvSpPr>
          <p:cNvPr id="439314055" name="Shape 40"/>
          <p:cNvSpPr/>
          <p:nvPr/>
        </p:nvSpPr>
        <p:spPr bwMode="auto"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897086205" name="Shape 41"/>
          <p:cNvSpPr/>
          <p:nvPr/>
        </p:nvSpPr>
        <p:spPr bwMode="auto"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89884230" name="Text 42"/>
          <p:cNvSpPr/>
          <p:nvPr/>
        </p:nvSpPr>
        <p:spPr bwMode="auto"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進行中 / 即將到期 (1)</a:t>
            </a:r>
            <a:endParaRPr lang="en-US" sz="1100"/>
          </a:p>
        </p:txBody>
      </p:sp>
      <p:sp>
        <p:nvSpPr>
          <p:cNvPr id="2147442286" name="Shape 43"/>
          <p:cNvSpPr/>
          <p:nvPr/>
        </p:nvSpPr>
        <p:spPr bwMode="auto"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99914825" name="Text 44"/>
          <p:cNvSpPr/>
          <p:nvPr/>
        </p:nvSpPr>
        <p:spPr bwMode="auto"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資料清洗與標註</a:t>
            </a:r>
            <a:endParaRPr lang="en-US" sz="950"/>
          </a:p>
        </p:txBody>
      </p:sp>
      <p:sp>
        <p:nvSpPr>
          <p:cNvPr id="1455711940" name="Text 45"/>
          <p:cNvSpPr/>
          <p:nvPr/>
        </p:nvSpPr>
        <p:spPr bwMode="auto"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Henry · 延遲 · 截止 2026/05/16</a:t>
            </a:r>
            <a:endParaRPr lang="en-US" sz="800"/>
          </a:p>
        </p:txBody>
      </p:sp>
      <p:sp>
        <p:nvSpPr>
          <p:cNvPr id="2099020381" name="Shape 46"/>
          <p:cNvSpPr/>
          <p:nvPr/>
        </p:nvSpPr>
        <p:spPr bwMode="auto"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34884019" name="Shape 47"/>
          <p:cNvSpPr/>
          <p:nvPr/>
        </p:nvSpPr>
        <p:spPr bwMode="auto"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4249663" name="Text 48"/>
          <p:cNvSpPr/>
          <p:nvPr/>
        </p:nvSpPr>
        <p:spPr bwMode="auto"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風險議題 (1)</a:t>
            </a:r>
            <a:endParaRPr lang="en-US" sz="1100"/>
          </a:p>
        </p:txBody>
      </p:sp>
      <p:sp>
        <p:nvSpPr>
          <p:cNvPr id="312728535" name="Shape 49"/>
          <p:cNvSpPr/>
          <p:nvPr/>
        </p:nvSpPr>
        <p:spPr bwMode="auto">
          <a:xfrm>
            <a:off x="626364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63855701" name="Text 50"/>
          <p:cNvSpPr/>
          <p:nvPr/>
        </p:nvSpPr>
        <p:spPr bwMode="auto"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2.1 資料清洗與標註　標記為延遲</a:t>
            </a:r>
            <a:endParaRPr lang="en-US" sz="900"/>
          </a:p>
        </p:txBody>
      </p:sp>
      <p:sp>
        <p:nvSpPr>
          <p:cNvPr id="9285762" name="Text 51"/>
          <p:cNvSpPr/>
          <p:nvPr/>
        </p:nvSpPr>
        <p:spPr bwMode="auto"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 i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需裁示：是否加派人力 / 縮減範圍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25304" name="Shape 0"/>
          <p:cNvSpPr/>
          <p:nvPr/>
        </p:nvSpPr>
        <p:spPr bwMode="auto"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06134991" name="Text 1"/>
          <p:cNvSpPr/>
          <p:nvPr/>
        </p:nvSpPr>
        <p:spPr bwMode="auto"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理賠數位化</a:t>
            </a:r>
            <a:endParaRPr lang="en-US" sz="1800"/>
          </a:p>
        </p:txBody>
      </p:sp>
      <p:sp>
        <p:nvSpPr>
          <p:cNvPr id="122111555" name="Text 2"/>
          <p:cNvSpPr/>
          <p:nvPr/>
        </p:nvSpPr>
        <p:spPr bwMode="auto"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Nelson ｜ 2026/01/15 ～ 2026/08/30</a:t>
            </a:r>
            <a:endParaRPr lang="en-US" sz="1000"/>
          </a:p>
        </p:txBody>
      </p:sp>
      <p:sp>
        <p:nvSpPr>
          <p:cNvPr id="1668663332" name="Shape 3"/>
          <p:cNvSpPr/>
          <p:nvPr/>
        </p:nvSpPr>
        <p:spPr bwMode="auto"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8019591" name="Shape 4"/>
          <p:cNvSpPr/>
          <p:nvPr/>
        </p:nvSpPr>
        <p:spPr bwMode="auto"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905185318" name="Shape 5"/>
          <p:cNvSpPr/>
          <p:nvPr/>
        </p:nvSpPr>
        <p:spPr bwMode="auto">
          <a:xfrm>
            <a:off x="274320" y="731520"/>
            <a:ext cx="9144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2407205" name="Shape 6"/>
          <p:cNvSpPr/>
          <p:nvPr/>
        </p:nvSpPr>
        <p:spPr bwMode="auto">
          <a:xfrm>
            <a:off x="502920" y="868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67122084" name="Text 7"/>
          <p:cNvSpPr/>
          <p:nvPr/>
        </p:nvSpPr>
        <p:spPr bwMode="auto"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健康</a:t>
            </a:r>
            <a:endParaRPr lang="en-US" sz="1600"/>
          </a:p>
        </p:txBody>
      </p:sp>
      <p:sp>
        <p:nvSpPr>
          <p:cNvPr id="1983729322" name="Text 8"/>
          <p:cNvSpPr/>
          <p:nvPr/>
        </p:nvSpPr>
        <p:spPr bwMode="auto"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57.9%</a:t>
            </a:r>
            <a:endParaRPr lang="en-US" sz="3600"/>
          </a:p>
        </p:txBody>
      </p:sp>
      <p:sp>
        <p:nvSpPr>
          <p:cNvPr id="1071033050" name="Text 9"/>
          <p:cNvSpPr/>
          <p:nvPr/>
        </p:nvSpPr>
        <p:spPr bwMode="auto"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已完成</a:t>
            </a:r>
            <a:endParaRPr lang="en-US" sz="950"/>
          </a:p>
        </p:txBody>
      </p:sp>
      <p:sp>
        <p:nvSpPr>
          <p:cNvPr id="506560021" name="Text 10"/>
          <p:cNvSpPr/>
          <p:nvPr/>
        </p:nvSpPr>
        <p:spPr bwMode="auto"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預估完工</a:t>
            </a:r>
            <a:endParaRPr lang="en-US" sz="950"/>
          </a:p>
        </p:txBody>
      </p:sp>
      <p:sp>
        <p:nvSpPr>
          <p:cNvPr id="1984986503" name="Text 11"/>
          <p:cNvSpPr/>
          <p:nvPr/>
        </p:nvSpPr>
        <p:spPr bwMode="auto"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2026/07/26</a:t>
            </a:r>
            <a:endParaRPr lang="en-US" sz="1300"/>
          </a:p>
        </p:txBody>
      </p:sp>
      <p:sp>
        <p:nvSpPr>
          <p:cNvPr id="1322356067" name="Text 12"/>
          <p:cNvSpPr/>
          <p:nvPr/>
        </p:nvSpPr>
        <p:spPr bwMode="auto"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提前 35 天</a:t>
            </a:r>
            <a:endParaRPr lang="en-US" sz="1000"/>
          </a:p>
        </p:txBody>
      </p:sp>
      <p:sp>
        <p:nvSpPr>
          <p:cNvPr id="467464067" name="Shape 13"/>
          <p:cNvSpPr/>
          <p:nvPr/>
        </p:nvSpPr>
        <p:spPr bwMode="auto"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87481002" name="Shape 14"/>
          <p:cNvSpPr/>
          <p:nvPr/>
        </p:nvSpPr>
        <p:spPr bwMode="auto">
          <a:xfrm>
            <a:off x="457200" y="2148840"/>
            <a:ext cx="1403009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34998914" name="Shape 15"/>
          <p:cNvSpPr/>
          <p:nvPr/>
        </p:nvSpPr>
        <p:spPr bwMode="auto">
          <a:xfrm>
            <a:off x="1632981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69895980" name="Text 16"/>
          <p:cNvSpPr/>
          <p:nvPr/>
        </p:nvSpPr>
        <p:spPr bwMode="auto"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時間已過 48.9%</a:t>
            </a:r>
            <a:endParaRPr lang="en-US" sz="800"/>
          </a:p>
        </p:txBody>
      </p:sp>
      <p:sp>
        <p:nvSpPr>
          <p:cNvPr id="294181763" name="Shape 17"/>
          <p:cNvSpPr/>
          <p:nvPr/>
        </p:nvSpPr>
        <p:spPr bwMode="auto"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302861881" name="Text 18"/>
          <p:cNvSpPr/>
          <p:nvPr/>
        </p:nvSpPr>
        <p:spPr bwMode="auto"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里程碑</a:t>
            </a:r>
            <a:endParaRPr lang="en-US" sz="1200"/>
          </a:p>
        </p:txBody>
      </p:sp>
      <p:sp>
        <p:nvSpPr>
          <p:cNvPr id="1622504913" name="Shape 19"/>
          <p:cNvSpPr/>
          <p:nvPr/>
        </p:nvSpPr>
        <p:spPr bwMode="auto"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0609855" name="Shape 20"/>
          <p:cNvSpPr/>
          <p:nvPr/>
        </p:nvSpPr>
        <p:spPr bwMode="auto">
          <a:xfrm>
            <a:off x="5977924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78385245" name="Text 21"/>
          <p:cNvSpPr/>
          <p:nvPr/>
        </p:nvSpPr>
        <p:spPr bwMode="auto">
          <a:xfrm>
            <a:off x="5758468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0A500"/>
                </a:solidFill>
                <a:latin typeface="Calibri"/>
                <a:ea typeface="Calibri"/>
                <a:cs typeface="Calibri"/>
              </a:rPr>
              <a:t>今日</a:t>
            </a:r>
            <a:endParaRPr lang="en-US" sz="750"/>
          </a:p>
        </p:txBody>
      </p:sp>
      <p:sp>
        <p:nvSpPr>
          <p:cNvPr id="748115961" name="Shape 22"/>
          <p:cNvSpPr/>
          <p:nvPr/>
        </p:nvSpPr>
        <p:spPr bwMode="auto">
          <a:xfrm>
            <a:off x="3337560" y="1298448"/>
            <a:ext cx="1497280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85314280" name="Text 23"/>
          <p:cNvSpPr/>
          <p:nvPr/>
        </p:nvSpPr>
        <p:spPr bwMode="auto">
          <a:xfrm>
            <a:off x="3063240" y="1508759"/>
            <a:ext cx="20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需求與設計</a:t>
            </a:r>
            <a:endParaRPr lang="en-US" sz="800"/>
          </a:p>
        </p:txBody>
      </p:sp>
      <p:sp>
        <p:nvSpPr>
          <p:cNvPr id="1307499814" name="Text 24"/>
          <p:cNvSpPr/>
          <p:nvPr/>
        </p:nvSpPr>
        <p:spPr bwMode="auto">
          <a:xfrm>
            <a:off x="3063240" y="1691640"/>
            <a:ext cx="20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100%</a:t>
            </a:r>
            <a:endParaRPr lang="en-US" sz="750"/>
          </a:p>
        </p:txBody>
      </p:sp>
      <p:sp>
        <p:nvSpPr>
          <p:cNvPr id="1794139737" name="Shape 25"/>
          <p:cNvSpPr/>
          <p:nvPr/>
        </p:nvSpPr>
        <p:spPr bwMode="auto">
          <a:xfrm>
            <a:off x="4739774" y="1298448"/>
            <a:ext cx="1164550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21120140" name="Text 26"/>
          <p:cNvSpPr/>
          <p:nvPr/>
        </p:nvSpPr>
        <p:spPr bwMode="auto">
          <a:xfrm>
            <a:off x="4465454" y="1691640"/>
            <a:ext cx="171319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前端開發</a:t>
            </a:r>
            <a:endParaRPr lang="en-US" sz="800"/>
          </a:p>
        </p:txBody>
      </p:sp>
      <p:sp>
        <p:nvSpPr>
          <p:cNvPr id="816370314" name="Text 27"/>
          <p:cNvSpPr/>
          <p:nvPr/>
        </p:nvSpPr>
        <p:spPr bwMode="auto">
          <a:xfrm>
            <a:off x="4465454" y="1874520"/>
            <a:ext cx="17131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100%</a:t>
            </a:r>
            <a:endParaRPr lang="en-US" sz="750"/>
          </a:p>
        </p:txBody>
      </p:sp>
      <p:sp>
        <p:nvSpPr>
          <p:cNvPr id="167914236" name="Shape 28"/>
          <p:cNvSpPr/>
          <p:nvPr/>
        </p:nvSpPr>
        <p:spPr bwMode="auto">
          <a:xfrm>
            <a:off x="4906137" y="1307592"/>
            <a:ext cx="1497280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31851855" name="Text 29"/>
          <p:cNvSpPr/>
          <p:nvPr/>
        </p:nvSpPr>
        <p:spPr bwMode="auto">
          <a:xfrm>
            <a:off x="4465454" y="1508759"/>
            <a:ext cx="20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後端 + OCR 整合</a:t>
            </a:r>
            <a:endParaRPr lang="en-US" sz="800"/>
          </a:p>
        </p:txBody>
      </p:sp>
      <p:sp>
        <p:nvSpPr>
          <p:cNvPr id="912137038" name="Text 30"/>
          <p:cNvSpPr/>
          <p:nvPr/>
        </p:nvSpPr>
        <p:spPr bwMode="auto">
          <a:xfrm>
            <a:off x="4465454" y="1691640"/>
            <a:ext cx="20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2E6DB4"/>
                </a:solidFill>
                <a:latin typeface="Calibri"/>
                <a:ea typeface="Calibri"/>
                <a:cs typeface="Calibri"/>
              </a:rPr>
              <a:t>80%</a:t>
            </a:r>
            <a:endParaRPr lang="en-US" sz="750"/>
          </a:p>
        </p:txBody>
      </p:sp>
      <p:sp>
        <p:nvSpPr>
          <p:cNvPr id="697912406" name="Shape 31"/>
          <p:cNvSpPr/>
          <p:nvPr/>
        </p:nvSpPr>
        <p:spPr bwMode="auto">
          <a:xfrm>
            <a:off x="6403418" y="1298448"/>
            <a:ext cx="2329101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26084669" name="Text 32"/>
          <p:cNvSpPr/>
          <p:nvPr/>
        </p:nvSpPr>
        <p:spPr bwMode="auto">
          <a:xfrm>
            <a:off x="6129098" y="1691640"/>
            <a:ext cx="2877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測試與上線</a:t>
            </a:r>
            <a:endParaRPr lang="en-US" sz="800"/>
          </a:p>
        </p:txBody>
      </p:sp>
      <p:sp>
        <p:nvSpPr>
          <p:cNvPr id="823037741" name="Text 33"/>
          <p:cNvSpPr/>
          <p:nvPr/>
        </p:nvSpPr>
        <p:spPr bwMode="auto">
          <a:xfrm>
            <a:off x="6129098" y="1874520"/>
            <a:ext cx="287774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750"/>
          </a:p>
        </p:txBody>
      </p:sp>
      <p:sp>
        <p:nvSpPr>
          <p:cNvPr id="1810702487" name="Shape 34"/>
          <p:cNvSpPr/>
          <p:nvPr/>
        </p:nvSpPr>
        <p:spPr bwMode="auto"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893869119" name="Shape 35"/>
          <p:cNvSpPr/>
          <p:nvPr/>
        </p:nvSpPr>
        <p:spPr bwMode="auto"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71925124" name="Text 36"/>
          <p:cNvSpPr/>
          <p:nvPr/>
        </p:nvSpPr>
        <p:spPr bwMode="auto"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近 14 天完成 (5)</a:t>
            </a:r>
            <a:endParaRPr lang="en-US" sz="1100"/>
          </a:p>
        </p:txBody>
      </p:sp>
      <p:sp>
        <p:nvSpPr>
          <p:cNvPr id="954427309" name="Shape 37"/>
          <p:cNvSpPr/>
          <p:nvPr/>
        </p:nvSpPr>
        <p:spPr bwMode="auto"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14100078" name="Text 38"/>
          <p:cNvSpPr/>
          <p:nvPr/>
        </p:nvSpPr>
        <p:spPr bwMode="auto"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電子核賠通知 (Email/簡訊)</a:t>
            </a:r>
            <a:endParaRPr lang="en-US" sz="950"/>
          </a:p>
        </p:txBody>
      </p:sp>
      <p:sp>
        <p:nvSpPr>
          <p:cNvPr id="465086935" name="Text 39"/>
          <p:cNvSpPr/>
          <p:nvPr/>
        </p:nvSpPr>
        <p:spPr bwMode="auto"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Wendy · 2026/05/04</a:t>
            </a:r>
            <a:endParaRPr lang="en-US" sz="800"/>
          </a:p>
        </p:txBody>
      </p:sp>
      <p:sp>
        <p:nvSpPr>
          <p:cNvPr id="1785417664" name="Shape 40"/>
          <p:cNvSpPr/>
          <p:nvPr/>
        </p:nvSpPr>
        <p:spPr bwMode="auto">
          <a:xfrm>
            <a:off x="411480" y="35387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49390247" name="Text 41"/>
          <p:cNvSpPr/>
          <p:nvPr/>
        </p:nvSpPr>
        <p:spPr bwMode="auto">
          <a:xfrm>
            <a:off x="56692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工作流引擎 (審核流程)</a:t>
            </a:r>
            <a:endParaRPr lang="en-US" sz="950"/>
          </a:p>
        </p:txBody>
      </p:sp>
      <p:sp>
        <p:nvSpPr>
          <p:cNvPr id="762750088" name="Text 42"/>
          <p:cNvSpPr/>
          <p:nvPr/>
        </p:nvSpPr>
        <p:spPr bwMode="auto">
          <a:xfrm>
            <a:off x="56692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Frank · 2026/05/03</a:t>
            </a:r>
            <a:endParaRPr lang="en-US" sz="800"/>
          </a:p>
        </p:txBody>
      </p:sp>
      <p:sp>
        <p:nvSpPr>
          <p:cNvPr id="1349794257" name="Shape 43"/>
          <p:cNvSpPr/>
          <p:nvPr/>
        </p:nvSpPr>
        <p:spPr bwMode="auto">
          <a:xfrm>
            <a:off x="411480" y="390448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77908660" name="Text 44"/>
          <p:cNvSpPr/>
          <p:nvPr/>
        </p:nvSpPr>
        <p:spPr bwMode="auto">
          <a:xfrm>
            <a:off x="56692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OCR 服務整合</a:t>
            </a:r>
            <a:endParaRPr lang="en-US" sz="950"/>
          </a:p>
        </p:txBody>
      </p:sp>
      <p:sp>
        <p:nvSpPr>
          <p:cNvPr id="839021182" name="Text 45"/>
          <p:cNvSpPr/>
          <p:nvPr/>
        </p:nvSpPr>
        <p:spPr bwMode="auto">
          <a:xfrm>
            <a:off x="56692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Cathy · 2026/05/02</a:t>
            </a:r>
            <a:endParaRPr lang="en-US" sz="800"/>
          </a:p>
        </p:txBody>
      </p:sp>
      <p:sp>
        <p:nvSpPr>
          <p:cNvPr id="1120824603" name="Shape 46"/>
          <p:cNvSpPr/>
          <p:nvPr/>
        </p:nvSpPr>
        <p:spPr bwMode="auto">
          <a:xfrm>
            <a:off x="411480" y="427024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2621617" name="Text 47"/>
          <p:cNvSpPr/>
          <p:nvPr/>
        </p:nvSpPr>
        <p:spPr bwMode="auto">
          <a:xfrm>
            <a:off x="566928" y="417880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進度查詢頁</a:t>
            </a:r>
            <a:endParaRPr lang="en-US" sz="950"/>
          </a:p>
        </p:txBody>
      </p:sp>
      <p:sp>
        <p:nvSpPr>
          <p:cNvPr id="362320043" name="Text 48"/>
          <p:cNvSpPr/>
          <p:nvPr/>
        </p:nvSpPr>
        <p:spPr bwMode="auto">
          <a:xfrm>
            <a:off x="566928" y="436168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Wendy · 2026/05/01</a:t>
            </a:r>
            <a:endParaRPr lang="en-US" sz="800"/>
          </a:p>
        </p:txBody>
      </p:sp>
      <p:sp>
        <p:nvSpPr>
          <p:cNvPr id="301656463" name="Shape 49"/>
          <p:cNvSpPr/>
          <p:nvPr/>
        </p:nvSpPr>
        <p:spPr bwMode="auto">
          <a:xfrm>
            <a:off x="411480" y="463600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11440289" name="Text 50"/>
          <p:cNvSpPr/>
          <p:nvPr/>
        </p:nvSpPr>
        <p:spPr bwMode="auto">
          <a:xfrm>
            <a:off x="566928" y="45445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理賠人員審核介面</a:t>
            </a:r>
            <a:endParaRPr lang="en-US" sz="950"/>
          </a:p>
        </p:txBody>
      </p:sp>
      <p:sp>
        <p:nvSpPr>
          <p:cNvPr id="1607398792" name="Text 51"/>
          <p:cNvSpPr/>
          <p:nvPr/>
        </p:nvSpPr>
        <p:spPr bwMode="auto">
          <a:xfrm>
            <a:off x="566928" y="472744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Tom · 2026/04/23</a:t>
            </a:r>
            <a:endParaRPr lang="en-US" sz="800"/>
          </a:p>
        </p:txBody>
      </p:sp>
      <p:sp>
        <p:nvSpPr>
          <p:cNvPr id="384833550" name="Shape 52"/>
          <p:cNvSpPr/>
          <p:nvPr/>
        </p:nvSpPr>
        <p:spPr bwMode="auto"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32256770" name="Shape 53"/>
          <p:cNvSpPr/>
          <p:nvPr/>
        </p:nvSpPr>
        <p:spPr bwMode="auto"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024243107" name="Text 54"/>
          <p:cNvSpPr/>
          <p:nvPr/>
        </p:nvSpPr>
        <p:spPr bwMode="auto"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進行中 / 即將到期 (1)</a:t>
            </a:r>
            <a:endParaRPr lang="en-US" sz="1100"/>
          </a:p>
        </p:txBody>
      </p:sp>
      <p:sp>
        <p:nvSpPr>
          <p:cNvPr id="765061119" name="Shape 55"/>
          <p:cNvSpPr/>
          <p:nvPr/>
        </p:nvSpPr>
        <p:spPr bwMode="auto">
          <a:xfrm>
            <a:off x="3337560" y="317296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079691014" name="Text 56"/>
          <p:cNvSpPr/>
          <p:nvPr/>
        </p:nvSpPr>
        <p:spPr bwMode="auto"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理賠批次作業</a:t>
            </a:r>
            <a:endParaRPr lang="en-US" sz="950"/>
          </a:p>
        </p:txBody>
      </p:sp>
      <p:sp>
        <p:nvSpPr>
          <p:cNvPr id="1628990082" name="Text 57"/>
          <p:cNvSpPr/>
          <p:nvPr/>
        </p:nvSpPr>
        <p:spPr bwMode="auto"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Frank · 進行中 · 截止 2026/05/17</a:t>
            </a:r>
            <a:endParaRPr lang="en-US" sz="800"/>
          </a:p>
        </p:txBody>
      </p:sp>
      <p:sp>
        <p:nvSpPr>
          <p:cNvPr id="173411245" name="Shape 58"/>
          <p:cNvSpPr/>
          <p:nvPr/>
        </p:nvSpPr>
        <p:spPr bwMode="auto"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92040797" name="Shape 59"/>
          <p:cNvSpPr/>
          <p:nvPr/>
        </p:nvSpPr>
        <p:spPr bwMode="auto"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24385275" name="Text 60"/>
          <p:cNvSpPr/>
          <p:nvPr/>
        </p:nvSpPr>
        <p:spPr bwMode="auto"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風險議題 (0)</a:t>
            </a:r>
            <a:endParaRPr lang="en-US" sz="1100"/>
          </a:p>
        </p:txBody>
      </p:sp>
      <p:sp>
        <p:nvSpPr>
          <p:cNvPr id="767578278" name="Text 61"/>
          <p:cNvSpPr/>
          <p:nvPr/>
        </p:nvSpPr>
        <p:spPr bwMode="auto">
          <a:xfrm>
            <a:off x="626364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目前無風險議題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98525" name="Shape 0"/>
          <p:cNvSpPr/>
          <p:nvPr/>
        </p:nvSpPr>
        <p:spPr bwMode="auto"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95146342" name="Text 1"/>
          <p:cNvSpPr/>
          <p:nvPr/>
        </p:nvSpPr>
        <p:spPr bwMode="auto"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需主管裁示事項</a:t>
            </a:r>
            <a:endParaRPr lang="en-US" sz="1800"/>
          </a:p>
        </p:txBody>
      </p:sp>
      <p:sp>
        <p:nvSpPr>
          <p:cNvPr id="1673590469" name="Text 2"/>
          <p:cNvSpPr/>
          <p:nvPr/>
        </p:nvSpPr>
        <p:spPr bwMode="auto"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按嚴重度排序 ｜ 5 件</a:t>
            </a:r>
            <a:endParaRPr lang="en-US" sz="1000"/>
          </a:p>
        </p:txBody>
      </p:sp>
      <p:sp>
        <p:nvSpPr>
          <p:cNvPr id="1239866444" name="Shape 3"/>
          <p:cNvSpPr/>
          <p:nvPr/>
        </p:nvSpPr>
        <p:spPr bwMode="auto"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18368438" name="Shape 4"/>
          <p:cNvSpPr/>
          <p:nvPr/>
        </p:nvSpPr>
        <p:spPr bwMode="auto">
          <a:xfrm>
            <a:off x="274320" y="777240"/>
            <a:ext cx="5486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8720912" name="Text 5"/>
          <p:cNvSpPr/>
          <p:nvPr/>
        </p:nvSpPr>
        <p:spPr bwMode="auto">
          <a:xfrm>
            <a:off x="274320" y="777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050"/>
          </a:p>
        </p:txBody>
      </p:sp>
      <p:sp>
        <p:nvSpPr>
          <p:cNvPr id="89740102" name="Shape 6"/>
          <p:cNvSpPr/>
          <p:nvPr/>
        </p:nvSpPr>
        <p:spPr bwMode="auto">
          <a:xfrm>
            <a:off x="822960" y="777240"/>
            <a:ext cx="12801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0103076" name="Text 7"/>
          <p:cNvSpPr/>
          <p:nvPr/>
        </p:nvSpPr>
        <p:spPr bwMode="auto">
          <a:xfrm>
            <a:off x="822960" y="777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專案</a:t>
            </a:r>
            <a:endParaRPr lang="en-US" sz="1050"/>
          </a:p>
        </p:txBody>
      </p:sp>
      <p:sp>
        <p:nvSpPr>
          <p:cNvPr id="797740606" name="Shape 8"/>
          <p:cNvSpPr/>
          <p:nvPr/>
        </p:nvSpPr>
        <p:spPr bwMode="auto">
          <a:xfrm>
            <a:off x="2103120" y="777240"/>
            <a:ext cx="23774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7205460" name="Text 9"/>
          <p:cNvSpPr/>
          <p:nvPr/>
        </p:nvSpPr>
        <p:spPr bwMode="auto">
          <a:xfrm>
            <a:off x="2103120" y="777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議題</a:t>
            </a:r>
            <a:endParaRPr lang="en-US" sz="1050"/>
          </a:p>
        </p:txBody>
      </p:sp>
      <p:sp>
        <p:nvSpPr>
          <p:cNvPr id="1497959592" name="Shape 10"/>
          <p:cNvSpPr/>
          <p:nvPr/>
        </p:nvSpPr>
        <p:spPr bwMode="auto">
          <a:xfrm>
            <a:off x="4480560" y="777240"/>
            <a:ext cx="21945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62606711" name="Text 11"/>
          <p:cNvSpPr/>
          <p:nvPr/>
        </p:nvSpPr>
        <p:spPr bwMode="auto">
          <a:xfrm>
            <a:off x="4480560" y="777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影響評估</a:t>
            </a:r>
            <a:endParaRPr lang="en-US" sz="1050"/>
          </a:p>
        </p:txBody>
      </p:sp>
      <p:sp>
        <p:nvSpPr>
          <p:cNvPr id="1708618710" name="Shape 12"/>
          <p:cNvSpPr/>
          <p:nvPr/>
        </p:nvSpPr>
        <p:spPr bwMode="auto">
          <a:xfrm>
            <a:off x="6675120" y="777240"/>
            <a:ext cx="21945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02645299" name="Text 13"/>
          <p:cNvSpPr/>
          <p:nvPr/>
        </p:nvSpPr>
        <p:spPr bwMode="auto">
          <a:xfrm>
            <a:off x="6675120" y="777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建議行動</a:t>
            </a:r>
            <a:endParaRPr lang="en-US" sz="1050"/>
          </a:p>
        </p:txBody>
      </p:sp>
      <p:sp>
        <p:nvSpPr>
          <p:cNvPr id="1679484646" name="Shape 14"/>
          <p:cNvSpPr/>
          <p:nvPr/>
        </p:nvSpPr>
        <p:spPr bwMode="auto">
          <a:xfrm>
            <a:off x="274320" y="11064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7847008" name="Shape 15"/>
          <p:cNvSpPr/>
          <p:nvPr/>
        </p:nvSpPr>
        <p:spPr bwMode="auto">
          <a:xfrm>
            <a:off x="365760" y="12435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88801674" name="Text 16"/>
          <p:cNvSpPr/>
          <p:nvPr/>
        </p:nvSpPr>
        <p:spPr bwMode="auto">
          <a:xfrm>
            <a:off x="365760" y="1243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高</a:t>
            </a:r>
            <a:endParaRPr lang="en-US" sz="1400"/>
          </a:p>
        </p:txBody>
      </p:sp>
      <p:sp>
        <p:nvSpPr>
          <p:cNvPr id="1535461779" name="Text 17"/>
          <p:cNvSpPr/>
          <p:nvPr/>
        </p:nvSpPr>
        <p:spPr bwMode="auto">
          <a:xfrm>
            <a:off x="896112" y="11521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保戶 App 改版</a:t>
            </a:r>
            <a:endParaRPr lang="en-US" sz="1000"/>
          </a:p>
        </p:txBody>
      </p:sp>
      <p:sp>
        <p:nvSpPr>
          <p:cNvPr id="1046105987" name="Text 18"/>
          <p:cNvSpPr/>
          <p:nvPr/>
        </p:nvSpPr>
        <p:spPr bwMode="auto">
          <a:xfrm>
            <a:off x="896112" y="14721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負責人 Vincent</a:t>
            </a:r>
            <a:endParaRPr lang="en-US" sz="850"/>
          </a:p>
        </p:txBody>
      </p:sp>
      <p:sp>
        <p:nvSpPr>
          <p:cNvPr id="222769902" name="Text 19"/>
          <p:cNvSpPr/>
          <p:nvPr/>
        </p:nvSpPr>
        <p:spPr bwMode="auto">
          <a:xfrm>
            <a:off x="2194560" y="11521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1.5 UX 使用者測試 (8人)　延遲 4 天</a:t>
            </a:r>
            <a:endParaRPr lang="en-US" sz="1000"/>
          </a:p>
        </p:txBody>
      </p:sp>
      <p:sp>
        <p:nvSpPr>
          <p:cNvPr id="1822424392" name="Text 20"/>
          <p:cNvSpPr/>
          <p:nvPr/>
        </p:nvSpPr>
        <p:spPr bwMode="auto">
          <a:xfrm>
            <a:off x="4572000" y="1152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測試結果不佳，主流程需重做</a:t>
            </a:r>
            <a:endParaRPr lang="en-US" sz="950"/>
          </a:p>
        </p:txBody>
      </p:sp>
      <p:sp>
        <p:nvSpPr>
          <p:cNvPr id="774333136" name="Text 21"/>
          <p:cNvSpPr/>
          <p:nvPr/>
        </p:nvSpPr>
        <p:spPr bwMode="auto">
          <a:xfrm>
            <a:off x="6766560" y="1152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需裁示：是否加派人力 / 縮減範圍</a:t>
            </a:r>
            <a:endParaRPr lang="en-US" sz="1000"/>
          </a:p>
        </p:txBody>
      </p:sp>
      <p:sp>
        <p:nvSpPr>
          <p:cNvPr id="245481461" name="Shape 22"/>
          <p:cNvSpPr/>
          <p:nvPr/>
        </p:nvSpPr>
        <p:spPr bwMode="auto">
          <a:xfrm>
            <a:off x="274320" y="17922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0842274" name="Shape 23"/>
          <p:cNvSpPr/>
          <p:nvPr/>
        </p:nvSpPr>
        <p:spPr bwMode="auto">
          <a:xfrm>
            <a:off x="365760" y="19293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79500329" name="Text 24"/>
          <p:cNvSpPr/>
          <p:nvPr/>
        </p:nvSpPr>
        <p:spPr bwMode="auto">
          <a:xfrm>
            <a:off x="365760" y="19293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高</a:t>
            </a:r>
            <a:endParaRPr lang="en-US" sz="1400"/>
          </a:p>
        </p:txBody>
      </p:sp>
      <p:sp>
        <p:nvSpPr>
          <p:cNvPr id="2015812082" name="Text 25"/>
          <p:cNvSpPr/>
          <p:nvPr/>
        </p:nvSpPr>
        <p:spPr bwMode="auto">
          <a:xfrm>
            <a:off x="896112" y="18379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保戶 App 改版</a:t>
            </a:r>
            <a:endParaRPr lang="en-US" sz="1000"/>
          </a:p>
        </p:txBody>
      </p:sp>
      <p:sp>
        <p:nvSpPr>
          <p:cNvPr id="1134798449" name="Text 26"/>
          <p:cNvSpPr/>
          <p:nvPr/>
        </p:nvSpPr>
        <p:spPr bwMode="auto">
          <a:xfrm>
            <a:off x="896112" y="21579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負責人 Brian</a:t>
            </a:r>
            <a:endParaRPr lang="en-US" sz="850"/>
          </a:p>
        </p:txBody>
      </p:sp>
      <p:sp>
        <p:nvSpPr>
          <p:cNvPr id="410788329" name="Text 27"/>
          <p:cNvSpPr/>
          <p:nvPr/>
        </p:nvSpPr>
        <p:spPr bwMode="auto">
          <a:xfrm>
            <a:off x="2194560" y="18379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3.2 保戶身分驗證 (生物識別)　延遲 4 天</a:t>
            </a:r>
            <a:endParaRPr lang="en-US" sz="1000"/>
          </a:p>
        </p:txBody>
      </p:sp>
      <p:sp>
        <p:nvSpPr>
          <p:cNvPr id="2028395088" name="Text 28"/>
          <p:cNvSpPr/>
          <p:nvPr/>
        </p:nvSpPr>
        <p:spPr bwMode="auto">
          <a:xfrm>
            <a:off x="4572000" y="18379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FaceID/指紋整合測試失敗，需資安團隊協助</a:t>
            </a:r>
            <a:endParaRPr lang="en-US" sz="950"/>
          </a:p>
        </p:txBody>
      </p:sp>
      <p:sp>
        <p:nvSpPr>
          <p:cNvPr id="1260410428" name="Text 29"/>
          <p:cNvSpPr/>
          <p:nvPr/>
        </p:nvSpPr>
        <p:spPr bwMode="auto">
          <a:xfrm>
            <a:off x="6766560" y="18379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需裁示：是否加派人力 / 縮減範圍</a:t>
            </a:r>
            <a:endParaRPr lang="en-US" sz="1000"/>
          </a:p>
        </p:txBody>
      </p:sp>
      <p:sp>
        <p:nvSpPr>
          <p:cNvPr id="1962158724" name="Shape 30"/>
          <p:cNvSpPr/>
          <p:nvPr/>
        </p:nvSpPr>
        <p:spPr bwMode="auto">
          <a:xfrm>
            <a:off x="274320" y="24780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659790" name="Shape 31"/>
          <p:cNvSpPr/>
          <p:nvPr/>
        </p:nvSpPr>
        <p:spPr bwMode="auto">
          <a:xfrm>
            <a:off x="365760" y="26151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6987419" name="Text 32"/>
          <p:cNvSpPr/>
          <p:nvPr/>
        </p:nvSpPr>
        <p:spPr bwMode="auto">
          <a:xfrm>
            <a:off x="365760" y="26151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高</a:t>
            </a:r>
            <a:endParaRPr lang="en-US" sz="1400"/>
          </a:p>
        </p:txBody>
      </p:sp>
      <p:sp>
        <p:nvSpPr>
          <p:cNvPr id="1708676277" name="Text 33"/>
          <p:cNvSpPr/>
          <p:nvPr/>
        </p:nvSpPr>
        <p:spPr bwMode="auto">
          <a:xfrm>
            <a:off x="896112" y="25237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保戶 App 改版</a:t>
            </a:r>
            <a:endParaRPr lang="en-US" sz="1000"/>
          </a:p>
        </p:txBody>
      </p:sp>
      <p:sp>
        <p:nvSpPr>
          <p:cNvPr id="244425425" name="Text 34"/>
          <p:cNvSpPr/>
          <p:nvPr/>
        </p:nvSpPr>
        <p:spPr bwMode="auto">
          <a:xfrm>
            <a:off x="896112" y="28437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負責人 Mia</a:t>
            </a:r>
            <a:endParaRPr lang="en-US" sz="850"/>
          </a:p>
        </p:txBody>
      </p:sp>
      <p:sp>
        <p:nvSpPr>
          <p:cNvPr id="1466316136" name="Text 35"/>
          <p:cNvSpPr/>
          <p:nvPr/>
        </p:nvSpPr>
        <p:spPr bwMode="auto">
          <a:xfrm>
            <a:off x="2194560" y="25237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4.1 效能測試 (冷啟動&lt;2秒)　延遲 4 天</a:t>
            </a:r>
            <a:endParaRPr lang="en-US" sz="1000"/>
          </a:p>
        </p:txBody>
      </p:sp>
      <p:sp>
        <p:nvSpPr>
          <p:cNvPr id="774224896" name="Text 36"/>
          <p:cNvSpPr/>
          <p:nvPr/>
        </p:nvSpPr>
        <p:spPr bwMode="auto">
          <a:xfrm>
            <a:off x="4572000" y="25237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目前冷啟動 4.5 秒，未達標</a:t>
            </a:r>
            <a:endParaRPr lang="en-US" sz="950"/>
          </a:p>
        </p:txBody>
      </p:sp>
      <p:sp>
        <p:nvSpPr>
          <p:cNvPr id="1109805313" name="Text 37"/>
          <p:cNvSpPr/>
          <p:nvPr/>
        </p:nvSpPr>
        <p:spPr bwMode="auto">
          <a:xfrm>
            <a:off x="6766560" y="25237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需裁示：是否加派人力 / 縮減範圍</a:t>
            </a:r>
            <a:endParaRPr lang="en-US" sz="1000"/>
          </a:p>
        </p:txBody>
      </p:sp>
      <p:sp>
        <p:nvSpPr>
          <p:cNvPr id="1463456123" name="Shape 38"/>
          <p:cNvSpPr/>
          <p:nvPr/>
        </p:nvSpPr>
        <p:spPr bwMode="auto">
          <a:xfrm>
            <a:off x="274320" y="31638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1060275" name="Shape 39"/>
          <p:cNvSpPr/>
          <p:nvPr/>
        </p:nvSpPr>
        <p:spPr bwMode="auto">
          <a:xfrm>
            <a:off x="365760" y="33009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20185567" name="Text 40"/>
          <p:cNvSpPr/>
          <p:nvPr/>
        </p:nvSpPr>
        <p:spPr bwMode="auto">
          <a:xfrm>
            <a:off x="365760" y="33009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高</a:t>
            </a:r>
            <a:endParaRPr lang="en-US" sz="1400"/>
          </a:p>
        </p:txBody>
      </p:sp>
      <p:sp>
        <p:nvSpPr>
          <p:cNvPr id="229946339" name="Text 41"/>
          <p:cNvSpPr/>
          <p:nvPr/>
        </p:nvSpPr>
        <p:spPr bwMode="auto">
          <a:xfrm>
            <a:off x="896112" y="32095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核保 AI 升級</a:t>
            </a:r>
            <a:endParaRPr lang="en-US" sz="1000"/>
          </a:p>
        </p:txBody>
      </p:sp>
      <p:sp>
        <p:nvSpPr>
          <p:cNvPr id="2106352760" name="Text 42"/>
          <p:cNvSpPr/>
          <p:nvPr/>
        </p:nvSpPr>
        <p:spPr bwMode="auto">
          <a:xfrm>
            <a:off x="896112" y="35295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負責人 Henry</a:t>
            </a:r>
            <a:endParaRPr lang="en-US" sz="850"/>
          </a:p>
        </p:txBody>
      </p:sp>
      <p:sp>
        <p:nvSpPr>
          <p:cNvPr id="725090196" name="Text 43"/>
          <p:cNvSpPr/>
          <p:nvPr/>
        </p:nvSpPr>
        <p:spPr bwMode="auto">
          <a:xfrm>
            <a:off x="2194560" y="32095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2.1 資料清洗與標註　標記為延遲</a:t>
            </a:r>
            <a:endParaRPr lang="en-US" sz="1000"/>
          </a:p>
        </p:txBody>
      </p:sp>
      <p:sp>
        <p:nvSpPr>
          <p:cNvPr id="664471636" name="Text 44"/>
          <p:cNvSpPr/>
          <p:nvPr/>
        </p:nvSpPr>
        <p:spPr bwMode="auto">
          <a:xfrm>
            <a:off x="4572000" y="32095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標註人力不足，已找外包</a:t>
            </a:r>
            <a:endParaRPr lang="en-US" sz="950"/>
          </a:p>
        </p:txBody>
      </p:sp>
      <p:sp>
        <p:nvSpPr>
          <p:cNvPr id="1448704993" name="Text 45"/>
          <p:cNvSpPr/>
          <p:nvPr/>
        </p:nvSpPr>
        <p:spPr bwMode="auto">
          <a:xfrm>
            <a:off x="6766560" y="32095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需裁示：是否加派人力 / 縮減範圍</a:t>
            </a:r>
            <a:endParaRPr lang="en-US" sz="1000"/>
          </a:p>
        </p:txBody>
      </p:sp>
      <p:sp>
        <p:nvSpPr>
          <p:cNvPr id="1891731231" name="Shape 46"/>
          <p:cNvSpPr/>
          <p:nvPr/>
        </p:nvSpPr>
        <p:spPr bwMode="auto">
          <a:xfrm>
            <a:off x="274320" y="38496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3486744" name="Shape 47"/>
          <p:cNvSpPr/>
          <p:nvPr/>
        </p:nvSpPr>
        <p:spPr bwMode="auto">
          <a:xfrm>
            <a:off x="365760" y="3986784"/>
            <a:ext cx="365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4602154" name="Text 48"/>
          <p:cNvSpPr/>
          <p:nvPr/>
        </p:nvSpPr>
        <p:spPr bwMode="auto">
          <a:xfrm>
            <a:off x="365760" y="39867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中</a:t>
            </a:r>
            <a:endParaRPr lang="en-US" sz="1400"/>
          </a:p>
        </p:txBody>
      </p:sp>
      <p:sp>
        <p:nvSpPr>
          <p:cNvPr id="1899164136" name="Text 49"/>
          <p:cNvSpPr/>
          <p:nvPr/>
        </p:nvSpPr>
        <p:spPr bwMode="auto">
          <a:xfrm>
            <a:off x="896112" y="3895343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預算報支</a:t>
            </a:r>
            <a:endParaRPr lang="en-US" sz="1000"/>
          </a:p>
        </p:txBody>
      </p:sp>
      <p:sp>
        <p:nvSpPr>
          <p:cNvPr id="1082472039" name="Text 50"/>
          <p:cNvSpPr/>
          <p:nvPr/>
        </p:nvSpPr>
        <p:spPr bwMode="auto">
          <a:xfrm>
            <a:off x="896112" y="42153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負責人 Andy</a:t>
            </a:r>
            <a:endParaRPr lang="en-US" sz="850"/>
          </a:p>
        </p:txBody>
      </p:sp>
      <p:sp>
        <p:nvSpPr>
          <p:cNvPr id="2041096029" name="Text 51"/>
          <p:cNvSpPr/>
          <p:nvPr/>
        </p:nvSpPr>
        <p:spPr bwMode="auto">
          <a:xfrm>
            <a:off x="2194560" y="3895343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1.7 Eportal 借支模組整合　延遲 4 天</a:t>
            </a:r>
            <a:endParaRPr lang="en-US" sz="1000"/>
          </a:p>
        </p:txBody>
      </p:sp>
      <p:sp>
        <p:nvSpPr>
          <p:cNvPr id="29606714" name="Text 52"/>
          <p:cNvSpPr/>
          <p:nvPr/>
        </p:nvSpPr>
        <p:spPr bwMode="auto">
          <a:xfrm>
            <a:off x="4572000" y="3895343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Eportal API 規格確認中</a:t>
            </a:r>
            <a:endParaRPr lang="en-US" sz="950"/>
          </a:p>
        </p:txBody>
      </p:sp>
      <p:sp>
        <p:nvSpPr>
          <p:cNvPr id="930195635" name="Text 53"/>
          <p:cNvSpPr/>
          <p:nvPr/>
        </p:nvSpPr>
        <p:spPr bwMode="auto">
          <a:xfrm>
            <a:off x="6766560" y="3895343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請關注進度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1E3A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582381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82403266" name="Shape 1"/>
          <p:cNvSpPr/>
          <p:nvPr/>
        </p:nvSpPr>
        <p:spPr bwMode="auto">
          <a:xfrm>
            <a:off x="164592" y="0"/>
            <a:ext cx="73152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45326247" name="Text 2"/>
          <p:cNvSpPr/>
          <p:nvPr/>
        </p:nvSpPr>
        <p:spPr bwMode="auto"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 spc="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謝謝聆聽</a:t>
            </a:r>
            <a:endParaRPr lang="en-US" sz="4000"/>
          </a:p>
        </p:txBody>
      </p:sp>
      <p:sp>
        <p:nvSpPr>
          <p:cNvPr id="1815598562" name="Text 3"/>
          <p:cNvSpPr/>
          <p:nvPr/>
        </p:nvSpPr>
        <p:spPr bwMode="auto"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本期報告日期：2026/05/06</a:t>
            </a:r>
            <a:endParaRPr lang="en-US" sz="1300"/>
          </a:p>
        </p:txBody>
      </p:sp>
      <p:sp>
        <p:nvSpPr>
          <p:cNvPr id="1092606823" name="Text 4"/>
          <p:cNvSpPr/>
          <p:nvPr/>
        </p:nvSpPr>
        <p:spPr bwMode="auto"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下次回報日期：2026/05/13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專案管理報告</dc:title>
  <dc:subject>PptxGenJS Presentation</dc:subject>
  <dc:creator>PptxGenJS</dc:creator>
  <cp:lastModifiedBy/>
  <cp:revision>2</cp:revision>
  <dcterms:created xsi:type="dcterms:W3CDTF">2026-05-06T03:33:21Z</dcterms:created>
  <dcterms:modified xsi:type="dcterms:W3CDTF">2026-05-11T09:30:16Z</dcterms:modified>
</cp:coreProperties>
</file>