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整體完成率 32%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完成率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E8EEF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已完成</c:v>
                </c:pt>
                <c:pt idx="1">
                  <c:v>未完成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63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3A5F"/>
                </a:solidFill>
                <a:latin typeface="Arial"/>
              </a:rPr>
              <a:t>各專案任務分佈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已完成</c:v>
                </c:pt>
              </c:strCache>
            </c:strRef>
          </c:tx>
          <c:spPr>
            <a:solidFill>
              <a:srgbClr val="16A34A"/>
            </a:solidFill>
            <a:effectLst>
              <a:outerShdw sx="100000" sy="100000" kx="0" ky="0" algn="bl" blurRad="63500" rotWithShape="1" dist="25400" dir="8100000">
                <a:srgbClr val="000000">
                  <a:alpha val="7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3</c:v>
                </c:pt>
                <c:pt idx="2">
                  <c:v>6</c:v>
                </c:pt>
                <c:pt idx="3">
                  <c:v>4</c:v>
                </c:pt>
                <c:pt idx="4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進行中</c:v>
                </c:pt>
              </c:strCache>
            </c:strRef>
          </c:tx>
          <c:spPr>
            <a:solidFill>
              <a:srgbClr val="2E6DB4"/>
            </a:solidFill>
            <a:effectLst>
              <a:outerShdw sx="100000" sy="100000" kx="0" ky="0" algn="bl" blurRad="63500" rotWithShape="1" dist="25400" dir="8100000">
                <a:srgbClr val="000000">
                  <a:alpha val="7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風險/延遲</c:v>
                </c:pt>
              </c:strCache>
            </c:strRef>
          </c:tx>
          <c:spPr>
            <a:solidFill>
              <a:srgbClr val="DC2626"/>
            </a:solidFill>
            <a:effectLst>
              <a:outerShdw sx="100000" sy="100000" kx="0" ky="0" algn="bl" blurRad="63500" rotWithShape="1" dist="25400" dir="8100000">
                <a:srgbClr val="000000">
                  <a:alpha val="7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0</c:v>
                </c:pt>
                <c:pt idx="2">
                  <c:v>3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待開始</c:v>
                </c:pt>
              </c:strCache>
            </c:strRef>
          </c:tx>
          <c:spPr>
            <a:solidFill>
              <a:srgbClr val="B0BEC5"/>
            </a:solidFill>
            <a:effectLst>
              <a:outerShdw sx="100000" sy="100000" kx="0" ky="0" algn="bl" blurRad="63500" rotWithShape="1" dist="25400" dir="8100000">
                <a:srgbClr val="000000">
                  <a:alpha val="7000"/>
                </a:srgbClr>
              </a:outerShdw>
            </a:effectLst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預算報支</c:v>
                  </c:pt>
                  <c:pt idx="1">
                    <c:v>團險系統專案</c:v>
                  </c:pt>
                  <c:pt idx="2">
                    <c:v>保戶 App 改版</c:v>
                  </c:pt>
                  <c:pt idx="3">
                    <c:v>核保 AI 升級</c:v>
                  </c:pt>
                  <c:pt idx="4">
                    <c:v>理賠數位化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9</c:v>
                </c:pt>
                <c:pt idx="1">
                  <c:v>15</c:v>
                </c:pt>
                <c:pt idx="2">
                  <c:v>7</c:v>
                </c:pt>
                <c:pt idx="3">
                  <c:v>13</c:v>
                </c:pt>
                <c:pt idx="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0"/>
            <a:ext cx="105156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5943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專案管理報告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Status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32918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788920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889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1 個專案需立即關注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363931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報告日期　2026/05/12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986784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下次回報　2026/05/19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執行摘要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一頁掌握所有專案 ｜ 2026/05/12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1323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740664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399032" y="7589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需立即關注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99032" y="1078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72968" y="71323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EF3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713232"/>
            <a:ext cx="7315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740664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251960" y="7589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需要觀察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1078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25896" y="713232"/>
            <a:ext cx="2697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27064" y="740664"/>
            <a:ext cx="8046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7104888" y="7589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進度健康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04888" y="107899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個專案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1719072"/>
            <a:ext cx="438912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7190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" y="1719072"/>
            <a:ext cx="157276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17190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0" y="1719072"/>
            <a:ext cx="7498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171907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35808" y="1719072"/>
            <a:ext cx="138988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5808" y="1719072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25696" y="1719072"/>
            <a:ext cx="111556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25696" y="1719072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41264" y="1719072"/>
            <a:ext cx="84124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1719072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偏差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82512" y="1719072"/>
            <a:ext cx="248716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1719072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主要關鍵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1993392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616" y="2103120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" y="2039112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6384" y="226771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Jeffery · 注意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286000" y="1993392"/>
            <a:ext cx="749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3127248" y="2176272"/>
            <a:ext cx="1207008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27248" y="2176272"/>
            <a:ext cx="426074" cy="128016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69525" y="2139696"/>
            <a:ext cx="18288" cy="2011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27248" y="2331720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37.4%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425696" y="2039112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2026/11/15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25696" y="2267712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2026/10/30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541264" y="1993392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 天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73952" y="1993392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10 天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2487168"/>
            <a:ext cx="859536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" y="2596896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384" y="2532888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86384" y="276148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· 健康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2286000" y="2487168"/>
            <a:ext cx="749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3127248" y="2670048"/>
            <a:ext cx="1207008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127248" y="2670048"/>
            <a:ext cx="181051" cy="128016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97767" y="2633472"/>
            <a:ext cx="18288" cy="2011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27248" y="2825496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6.6%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425696" y="2532888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2026/09/30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425696" y="2761488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2026/09/30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541264" y="2487168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準時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473952" y="2487168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進度正常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4320" y="2980944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56616" y="3090672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6384" y="3026664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86384" y="3255264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警報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286000" y="2980944"/>
            <a:ext cx="749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1700" dirty="0"/>
          </a:p>
        </p:txBody>
      </p:sp>
      <p:sp>
        <p:nvSpPr>
          <p:cNvPr id="66" name="Shape 64"/>
          <p:cNvSpPr/>
          <p:nvPr/>
        </p:nvSpPr>
        <p:spPr>
          <a:xfrm>
            <a:off x="3127248" y="3163824"/>
            <a:ext cx="1207008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27248" y="3163824"/>
            <a:ext cx="381415" cy="128016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89200" y="3127248"/>
            <a:ext cx="18288" cy="2011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127248" y="3319272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55.6%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425696" y="3026664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2026/12/15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425696" y="325526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2026/07/31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541264" y="2980944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 天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473952" y="2980944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10 天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3474720"/>
            <a:ext cx="8595360" cy="49377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56616" y="3584448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6384" y="3520440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786384" y="374904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· 注意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2286000" y="3474720"/>
            <a:ext cx="749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1700" dirty="0"/>
          </a:p>
        </p:txBody>
      </p:sp>
      <p:sp>
        <p:nvSpPr>
          <p:cNvPr id="79" name="Shape 77"/>
          <p:cNvSpPr/>
          <p:nvPr/>
        </p:nvSpPr>
        <p:spPr>
          <a:xfrm>
            <a:off x="3127248" y="3657600"/>
            <a:ext cx="1207008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127248" y="3657600"/>
            <a:ext cx="267956" cy="128016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02958" y="3621024"/>
            <a:ext cx="18288" cy="2011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27248" y="3813048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23.6%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425696" y="3520440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2027/01/19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425696" y="3749040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2026/12/31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5541264" y="3474720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 天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473952" y="3474720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74320" y="3968496"/>
            <a:ext cx="85953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6616" y="4078224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6384" y="4014216"/>
            <a:ext cx="1481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786384" y="4242816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· 健康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2286000" y="3968496"/>
            <a:ext cx="7498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1700" dirty="0"/>
          </a:p>
        </p:txBody>
      </p:sp>
      <p:sp>
        <p:nvSpPr>
          <p:cNvPr id="92" name="Shape 90"/>
          <p:cNvSpPr/>
          <p:nvPr/>
        </p:nvSpPr>
        <p:spPr>
          <a:xfrm>
            <a:off x="3127248" y="4151376"/>
            <a:ext cx="1207008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127248" y="4151376"/>
            <a:ext cx="698858" cy="128016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739713" y="4114800"/>
            <a:ext cx="18288" cy="20116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127248" y="4306824"/>
            <a:ext cx="1207008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已過 51.5%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4425696" y="4014216"/>
            <a:ext cx="111556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2026/08/05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4425696" y="4242816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 2026/08/30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5541264" y="3968496"/>
            <a:ext cx="84124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 天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6473952" y="3968496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進度正常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需主管裁示事項：5 件　·　詳見後續頁面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Dashboard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任務統計 ｜ 2026/05/12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49808"/>
            <a:ext cx="1554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749808"/>
            <a:ext cx="155448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50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專案總數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0824" y="749808"/>
            <a:ext cx="1554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20824" y="749808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0824" y="850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020824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21608" y="749808"/>
            <a:ext cx="1554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21608" y="749808"/>
            <a:ext cx="15544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21608" y="850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721608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22392" y="749808"/>
            <a:ext cx="1554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22392" y="749808"/>
            <a:ext cx="1554480" cy="54864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22392" y="850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5422392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23176" y="749808"/>
            <a:ext cx="15544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23176" y="749808"/>
            <a:ext cx="15544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23176" y="850392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7123176" y="1444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延遲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74320" y="1920240"/>
          <a:ext cx="2926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3337560" y="182880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Jeffery ｜ 2026/01/30 ～ 2026/10/30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概況  1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8869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850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" y="119786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" y="169164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任務完成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35608" y="1252728"/>
            <a:ext cx="1463040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1252728"/>
            <a:ext cx="516453" cy="128016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73641" y="1207008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35608" y="1069848"/>
            <a:ext cx="1463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35608" y="1408176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67128" y="1408176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37.4%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10312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500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2026/11/15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落後 16 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17627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　2026/10/30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2432304"/>
            <a:ext cx="162560" cy="109728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03580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28600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5528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95528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62456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2456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62456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9384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9384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929384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96312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496312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3849624"/>
            <a:ext cx="283464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389534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階段目標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8328" y="405079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系統上線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46120" y="685800"/>
            <a:ext cx="56692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685800"/>
            <a:ext cx="5669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685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里程碑進度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21624" y="786384"/>
            <a:ext cx="128016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7072" y="768096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872984" y="786384"/>
            <a:ext cx="128016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28432" y="7680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完成進度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324344" y="786384"/>
            <a:ext cx="128016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79792" y="7680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計畫範圍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0119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2862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229697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7129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814829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42261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38108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851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966218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93650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532475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59907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117607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145039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02739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30171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587782" y="996696"/>
            <a:ext cx="18288" cy="3593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95758" y="4562856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246120" y="1234440"/>
            <a:ext cx="5669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55848" y="1234440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借支輸入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297680" y="123444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63440" y="1444752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63440" y="1444752"/>
            <a:ext cx="1493408" cy="16459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663440" y="1444752"/>
            <a:ext cx="1736521" cy="164592"/>
          </a:xfrm>
          <a:prstGeom prst="roundRect">
            <a:avLst>
              <a:gd name="adj" fmla="val 11111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45681" y="1234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246120" y="1801368"/>
            <a:ext cx="56692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55848" y="180136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借支還款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297680" y="1801368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663440" y="2011680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67834" y="2011680"/>
            <a:ext cx="54864" cy="164592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67834" y="2011680"/>
            <a:ext cx="1189139" cy="164592"/>
          </a:xfrm>
          <a:prstGeom prst="roundRect">
            <a:avLst>
              <a:gd name="adj" fmla="val 11111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02694" y="18013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246120" y="2368296"/>
            <a:ext cx="5669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55848" y="2368296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297680" y="2368296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2578608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456974" y="2578608"/>
            <a:ext cx="54864" cy="164592"/>
          </a:xfrm>
          <a:prstGeom prst="roundRect">
            <a:avLst>
              <a:gd name="adj" fmla="val 3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7456974" y="2578608"/>
            <a:ext cx="1321266" cy="164592"/>
          </a:xfrm>
          <a:prstGeom prst="roundRect">
            <a:avLst>
              <a:gd name="adj" fmla="val 11111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823960" y="23682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　—　本期動態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天回顧 ｜ 2026/05/12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 2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本期完成任務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03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0300" y="713232"/>
            <a:ext cx="73152" cy="8046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04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321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需裁示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37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3700" y="713232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65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038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待開始任務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1627632"/>
            <a:ext cx="27432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天完成（0）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863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本期完成率　0/17 = 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0896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27632"/>
            <a:ext cx="2743200" cy="3017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即將到期（3）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0" y="1993392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552" y="211226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Eportal 借支模組整合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29000" y="227685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22768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22192" y="227685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截止 2026/05/02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00400" y="2432304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73552" y="255117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2459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還款流程系統分析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29000" y="2715768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271576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822192" y="2715768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截止 2026/05/09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73552" y="2990088"/>
            <a:ext cx="91440" cy="914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2898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還款 API 設計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29000" y="3154680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31546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822192" y="3154680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Curtis · 截止 2026/05/23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989320" y="1627632"/>
            <a:ext cx="292608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89320" y="1627632"/>
            <a:ext cx="292608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26480" y="1627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風險議題（2）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099048" y="202082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99048" y="2020824"/>
            <a:ext cx="73152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27064" y="208483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27064" y="20848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56248" y="208483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27064" y="22677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10 天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227064" y="24963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需協助排除阻礙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99048" y="284378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E2E8F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99048" y="2843784"/>
            <a:ext cx="73152" cy="7315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27064" y="290779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27064" y="29077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56248" y="29077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227064" y="30906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還款流程系統分析　延遲 3 天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227064" y="3319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請關注進度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｜ 2026/05/02 ～ 2026/09/30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概況  1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298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88696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850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" y="119786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" y="169164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任務完成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35608" y="1252728"/>
            <a:ext cx="1463040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1252728"/>
            <a:ext cx="219456" cy="128016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23025" y="1207008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35608" y="1069848"/>
            <a:ext cx="1463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35608" y="1408176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67128" y="1408176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6.6%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10312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500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2026/09/30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17627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　2026/09/30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03580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8600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28600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5528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95528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362456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62456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362456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929384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9384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929384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496312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96312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496312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3849624"/>
            <a:ext cx="283464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8328" y="389534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階段目標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8328" y="405079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完成UAT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46120" y="685800"/>
            <a:ext cx="56692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46120" y="685800"/>
            <a:ext cx="5669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83280" y="685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里程碑進度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421624" y="786384"/>
            <a:ext cx="128016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77072" y="768096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872984" y="786384"/>
            <a:ext cx="128016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28432" y="7680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完成進度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324344" y="786384"/>
            <a:ext cx="128016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79792" y="7680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計畫範圍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368834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6266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074229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01661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80313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3056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7532043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59475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8237438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64870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899657" y="996696"/>
            <a:ext cx="18288" cy="3593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07633" y="4562856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246120" y="1234440"/>
            <a:ext cx="5669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55848" y="1234440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需求與設計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297680" y="123444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63440" y="1444752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63440" y="1444752"/>
            <a:ext cx="790042" cy="164592"/>
          </a:xfrm>
          <a:prstGeom prst="roundRect">
            <a:avLst>
              <a:gd name="adj" fmla="val 11111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63440" y="1444752"/>
            <a:ext cx="1316736" cy="164592"/>
          </a:xfrm>
          <a:prstGeom prst="roundRect">
            <a:avLst>
              <a:gd name="adj" fmla="val 11111"/>
            </a:avLst>
          </a:prstGeom>
          <a:ln w="12700">
            <a:solidFill>
              <a:srgbClr val="2E6DB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25896" y="1234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246120" y="1801368"/>
            <a:ext cx="56692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55848" y="180136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核心開發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297680" y="1801368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663440" y="2011680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80176" y="2011680"/>
            <a:ext cx="54864" cy="164592"/>
          </a:xfrm>
          <a:prstGeom prst="roundRect">
            <a:avLst>
              <a:gd name="adj" fmla="val 3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0176" y="2011680"/>
            <a:ext cx="1481328" cy="164592"/>
          </a:xfrm>
          <a:prstGeom prst="roundRect">
            <a:avLst>
              <a:gd name="adj" fmla="val 11111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07224" y="18013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0/7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246120" y="2368296"/>
            <a:ext cx="5669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55848" y="2368296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測試階段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297680" y="2368296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663440" y="2578608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461504" y="2578608"/>
            <a:ext cx="54864" cy="164592"/>
          </a:xfrm>
          <a:prstGeom prst="roundRect">
            <a:avLst>
              <a:gd name="adj" fmla="val 3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461504" y="2578608"/>
            <a:ext cx="752421" cy="164592"/>
          </a:xfrm>
          <a:prstGeom prst="roundRect">
            <a:avLst>
              <a:gd name="adj" fmla="val 11111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259645" y="23682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0/4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246120" y="2935224"/>
            <a:ext cx="56692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355848" y="2935224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上線準備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4297680" y="2935224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145536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119872" y="3145536"/>
            <a:ext cx="54864" cy="164592"/>
          </a:xfrm>
          <a:prstGeom prst="roundRect">
            <a:avLst>
              <a:gd name="adj" fmla="val 3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19872" y="3145536"/>
            <a:ext cx="658368" cy="164592"/>
          </a:xfrm>
          <a:prstGeom prst="roundRect">
            <a:avLst>
              <a:gd name="adj" fmla="val 11111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823960" y="293522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0/4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團險系統專案　—　本期動態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天回顧 ｜ 2026/05/12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 2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本期完成任務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03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0300" y="713232"/>
            <a:ext cx="73152" cy="8046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04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321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需裁示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37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3700" y="713232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65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038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待開始任務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1627632"/>
            <a:ext cx="27432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天完成（0）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863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本期完成率　0/20 = 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0896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27632"/>
            <a:ext cx="2743200" cy="3017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即將到期（2）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73552" y="2112264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2900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Schema 設計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29000" y="227685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22768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822192" y="227685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Curtis · 截止 2026/06/27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73552" y="2551176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2459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介面設計文件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429000" y="2715768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29000" y="271576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822192" y="2715768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· 截止 2026/06/27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989320" y="1627632"/>
            <a:ext cx="292608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89320" y="1627632"/>
            <a:ext cx="292608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1627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風險議題（0）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63640" y="2569464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56946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目前無風險議題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｜ 2026/02/01 ～ 2026/07/31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概況  1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886968"/>
            <a:ext cx="256032" cy="25603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850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警報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" y="119786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" y="169164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任務完成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35608" y="1252728"/>
            <a:ext cx="1463040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1252728"/>
            <a:ext cx="462321" cy="128016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9914" y="1207008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35608" y="1069848"/>
            <a:ext cx="1463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35608" y="1408176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67128" y="1408176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55.6%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10312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500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2026/12/15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落後 90 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17627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　2026/07/31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03580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28600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5528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95528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62456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2456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62456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9384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9384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929384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96312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496312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3849624"/>
            <a:ext cx="283464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389534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階段目標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8328" y="405079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App上架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46120" y="685800"/>
            <a:ext cx="56692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685800"/>
            <a:ext cx="5669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685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里程碑進度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21624" y="786384"/>
            <a:ext cx="128016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7072" y="768096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872984" y="786384"/>
            <a:ext cx="128016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28432" y="7680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完成進度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324344" y="786384"/>
            <a:ext cx="128016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79792" y="7680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計畫範圍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66344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9087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30352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3095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01218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3961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69798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2541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40664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3407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809244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1987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950242" y="996696"/>
            <a:ext cx="18288" cy="3593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58218" y="4562856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246120" y="1234440"/>
            <a:ext cx="5669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55848" y="1234440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重新設計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297680" y="123444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63440" y="1444752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663440" y="1444752"/>
            <a:ext cx="1645920" cy="16459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63440" y="1444752"/>
            <a:ext cx="2057400" cy="164592"/>
          </a:xfrm>
          <a:prstGeom prst="roundRect">
            <a:avLst>
              <a:gd name="adj" fmla="val 11111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66560" y="1234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3246120" y="1801368"/>
            <a:ext cx="56692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55848" y="180136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前端開發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297680" y="1801368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663440" y="2011680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12180" y="2011680"/>
            <a:ext cx="365303" cy="164592"/>
          </a:xfrm>
          <a:prstGeom prst="roundRect">
            <a:avLst>
              <a:gd name="adj" fmla="val 11111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012180" y="2011680"/>
            <a:ext cx="2148840" cy="164592"/>
          </a:xfrm>
          <a:prstGeom prst="roundRect">
            <a:avLst>
              <a:gd name="adj" fmla="val 11111"/>
            </a:avLst>
          </a:prstGeom>
          <a:ln w="12700">
            <a:solidFill>
              <a:srgbClr val="2E6DB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206740" y="18013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246120" y="2368296"/>
            <a:ext cx="5669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355848" y="2368296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API 整合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297680" y="2368296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663440" y="2578608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23560" y="2578608"/>
            <a:ext cx="520522" cy="16459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623560" y="2578608"/>
            <a:ext cx="1577340" cy="164592"/>
          </a:xfrm>
          <a:prstGeom prst="roundRect">
            <a:avLst>
              <a:gd name="adj" fmla="val 11111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246620" y="23682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3246120" y="2935224"/>
            <a:ext cx="56692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355848" y="2935224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測試與上架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297680" y="2935224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663440" y="3145536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560820" y="3145536"/>
            <a:ext cx="54864" cy="164592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560820" y="3145536"/>
            <a:ext cx="2217420" cy="164592"/>
          </a:xfrm>
          <a:prstGeom prst="roundRect">
            <a:avLst>
              <a:gd name="adj" fmla="val 11111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823960" y="293522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　—　本期動態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天回顧 ｜ 2026/05/12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 2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本期完成任務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03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0300" y="713232"/>
            <a:ext cx="73152" cy="8046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04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321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需裁示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37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3700" y="713232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65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038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待開始任務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1627632"/>
            <a:ext cx="27432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天完成（2）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" y="2112264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建立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22585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· 2026/05/01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93192" y="2551176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459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高擬真原型 (Figma)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26974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2026/04/30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46863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本期完成率　2/19 = 11%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0896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08960" y="1627632"/>
            <a:ext cx="2743200" cy="3017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即將到期（6）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0" y="1993392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73552" y="211226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使用者測試 (8人)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29000" y="227685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29000" y="22768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822192" y="227685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· 截止 2026/05/02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0" y="2432304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73552" y="2551176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2459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保戶身分驗證 (生物識別)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29000" y="2715768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271576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822192" y="2715768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· 截止 2026/05/02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200400" y="2871216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73552" y="2990088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29000" y="2898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效能測試 (冷啟動&lt;2秒)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429000" y="3154680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29000" y="315468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822192" y="3154680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· 截止 2026/05/02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73552" y="3429000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29000" y="33375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推播後端 (FCM/APNs)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429000" y="3593592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29000" y="359359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822192" y="3593592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· 截止 2026/05/23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73552" y="3867912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29000" y="377647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 主頁面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429000" y="4032504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29000" y="403250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3822192" y="4032504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· 截止 2026/06/02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73552" y="4306824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29000" y="42153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主頁面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429000" y="447141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29000" y="447141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822192" y="447141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· 截止 2026/06/02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989320" y="1627632"/>
            <a:ext cx="292608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989320" y="1627632"/>
            <a:ext cx="292608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1627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風險議題（3）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6099048" y="202082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99048" y="2020824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27064" y="208483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27064" y="20848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556248" y="208483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227064" y="22677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10 天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27064" y="24963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需裁示：是否加派人力 / 縮減範圍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099048" y="284378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099048" y="2843784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227064" y="290779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27064" y="29077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556248" y="290779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227064" y="309067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保戶身分驗證 (生物識別)　延遲 10 天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227064" y="3319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需裁示：是否加派人力 / 縮減範圍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099048" y="366674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99048" y="3666744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227064" y="373075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27064" y="373075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556248" y="373075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227064" y="39136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效能測試 (冷啟動&lt;2秒)　延遲 10 天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227064" y="41422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需裁示：是否加派人力 / 縮減範圍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｜ 2026/03/01 ～ 2026/12/31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概況  1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88696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850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" y="119786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" y="169164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任務完成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35608" y="1252728"/>
            <a:ext cx="1463040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1252728"/>
            <a:ext cx="324795" cy="128016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1741" y="1207008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35608" y="1069848"/>
            <a:ext cx="1463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35608" y="1408176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67128" y="1408176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23.6%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10312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500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2027/01/19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落後 19 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17627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　2026/12/31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2432304"/>
            <a:ext cx="193040" cy="109728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03580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28600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5528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95528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62456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2456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62456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9384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9384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929384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96312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496312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3849624"/>
            <a:ext cx="283464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389534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階段目標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8328" y="405079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正式上線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46120" y="685800"/>
            <a:ext cx="56692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685800"/>
            <a:ext cx="5669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685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里程碑進度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21624" y="786384"/>
            <a:ext cx="128016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7072" y="768096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872984" y="786384"/>
            <a:ext cx="128016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28432" y="7680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完成進度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324344" y="786384"/>
            <a:ext cx="128016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79792" y="7680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計畫範圍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66344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9087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08166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0909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48640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383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90462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3205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309360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36792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72758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5501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145811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73243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55054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7797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7968771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996203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11月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373506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00938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5631528" y="996696"/>
            <a:ext cx="18288" cy="3593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39504" y="4562856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246120" y="1234440"/>
            <a:ext cx="5669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55848" y="1234440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需求與資料蒐集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297680" y="123444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663440" y="1444752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63440" y="1444752"/>
            <a:ext cx="742013" cy="164592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63440" y="1444752"/>
            <a:ext cx="742013" cy="164592"/>
          </a:xfrm>
          <a:prstGeom prst="roundRect">
            <a:avLst>
              <a:gd name="adj" fmla="val 11111"/>
            </a:avLst>
          </a:prstGeom>
          <a:ln w="12700">
            <a:solidFill>
              <a:srgbClr val="16A3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51173" y="1234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3246120" y="1801368"/>
            <a:ext cx="56692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55848" y="180136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模型開發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297680" y="1801368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663440" y="2011680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05453" y="2011680"/>
            <a:ext cx="54864" cy="164592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05453" y="2011680"/>
            <a:ext cx="1227694" cy="164592"/>
          </a:xfrm>
          <a:prstGeom prst="roundRect">
            <a:avLst>
              <a:gd name="adj" fmla="val 11111"/>
            </a:avLst>
          </a:prstGeom>
          <a:ln w="12700">
            <a:solidFill>
              <a:srgbClr val="DC262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78868" y="18013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246120" y="2368296"/>
            <a:ext cx="5669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355848" y="2368296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系統整合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297680" y="2368296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663440" y="2578608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33148" y="2578608"/>
            <a:ext cx="54864" cy="164592"/>
          </a:xfrm>
          <a:prstGeom prst="roundRect">
            <a:avLst>
              <a:gd name="adj" fmla="val 3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633148" y="2578608"/>
            <a:ext cx="849942" cy="164592"/>
          </a:xfrm>
          <a:prstGeom prst="roundRect">
            <a:avLst>
              <a:gd name="adj" fmla="val 11111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28810" y="23682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0/4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3246120" y="2935224"/>
            <a:ext cx="56692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355848" y="2935224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297680" y="2935224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663440" y="3145536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483090" y="3145536"/>
            <a:ext cx="54864" cy="164592"/>
          </a:xfrm>
          <a:prstGeom prst="roundRect">
            <a:avLst>
              <a:gd name="adj" fmla="val 3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83090" y="3145536"/>
            <a:ext cx="1295150" cy="164592"/>
          </a:xfrm>
          <a:prstGeom prst="roundRect">
            <a:avLst>
              <a:gd name="adj" fmla="val 11111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823960" y="293522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　—　本期動態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天回顧 ｜ 2026/05/12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 2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本期完成任務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03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0300" y="713232"/>
            <a:ext cx="73152" cy="8046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04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321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需裁示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37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3700" y="713232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65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038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待開始任務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1627632"/>
            <a:ext cx="27432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天完成（0）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2478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本期無完成任務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863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本期完成率　0/18 = 0%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0896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27632"/>
            <a:ext cx="2743200" cy="3017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即將到期（1）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0" y="1993392"/>
            <a:ext cx="2560320" cy="420624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73552" y="2112264"/>
            <a:ext cx="91440" cy="914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2900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資料清洗與標註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29000" y="227685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22768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822192" y="227685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 · 截止 2026/05/16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89320" y="1627632"/>
            <a:ext cx="292608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89320" y="1627632"/>
            <a:ext cx="292608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1627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風險議題（1）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99048" y="2020824"/>
            <a:ext cx="2706624" cy="731520"/>
          </a:xfrm>
          <a:prstGeom prst="roundRect">
            <a:avLst>
              <a:gd name="adj" fmla="val 625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99048" y="2020824"/>
            <a:ext cx="73152" cy="731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27064" y="2084832"/>
            <a:ext cx="292608" cy="164592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7064" y="208483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56248" y="208483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27064" y="226771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27064" y="24963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需裁示：是否加派人力 / 縮減範圍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｜ 2026/01/15 ～ 2026/08/30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概況  1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685800"/>
            <a:ext cx="28346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685800"/>
            <a:ext cx="73152" cy="12984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88696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8503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" y="1197864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" y="1691640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任務完成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35608" y="1252728"/>
            <a:ext cx="1463040" cy="128016"/>
          </a:xfrm>
          <a:prstGeom prst="roundRect">
            <a:avLst>
              <a:gd name="adj" fmla="val 14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1252728"/>
            <a:ext cx="847100" cy="128016"/>
          </a:xfrm>
          <a:prstGeom prst="roundRect">
            <a:avLst>
              <a:gd name="adj" fmla="val 14286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79930" y="1207008"/>
            <a:ext cx="18288" cy="219456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35608" y="1069848"/>
            <a:ext cx="14630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完成率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435608" y="1408176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67128" y="1408176"/>
            <a:ext cx="731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時間已過 51.5%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28600" y="2103120"/>
            <a:ext cx="2834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1762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預估完工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3500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2026/08/05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6517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 25 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65960" y="2176272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　2026/08/30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965960" y="2432304"/>
            <a:ext cx="914400" cy="109728"/>
          </a:xfrm>
          <a:prstGeom prst="roundRect">
            <a:avLst>
              <a:gd name="adj" fmla="val 1666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65960" y="2432304"/>
            <a:ext cx="254000" cy="109728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035808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28600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總任務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5528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95528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362456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2456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362456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929384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9384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929384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96312" y="3127248"/>
            <a:ext cx="9144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96312" y="3108960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496312" y="347472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3849624"/>
            <a:ext cx="2834640" cy="475488"/>
          </a:xfrm>
          <a:prstGeom prst="rect">
            <a:avLst/>
          </a:prstGeom>
          <a:solidFill>
            <a:srgbClr val="EEF4FB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" y="389534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階段目標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8328" y="4050792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正式上線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46120" y="685800"/>
            <a:ext cx="56692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46120" y="685800"/>
            <a:ext cx="5669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68580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里程碑進度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21624" y="786384"/>
            <a:ext cx="128016" cy="914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77072" y="768096"/>
            <a:ext cx="2011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872984" y="786384"/>
            <a:ext cx="128016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28432" y="7680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完成進度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324344" y="786384"/>
            <a:ext cx="128016" cy="914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79792" y="76809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計畫範圍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71597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99029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479149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06581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041082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68514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584888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12320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146821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4253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690628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18060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52561" y="996696"/>
            <a:ext cx="9144" cy="37124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9993" y="101498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783027" y="996696"/>
            <a:ext cx="18288" cy="3593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91003" y="4562856"/>
            <a:ext cx="402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246120" y="1234440"/>
            <a:ext cx="5669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55848" y="1234440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需求與設計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297680" y="123444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1444752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663440" y="1444752"/>
            <a:ext cx="1141993" cy="164592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63440" y="1444752"/>
            <a:ext cx="1141993" cy="164592"/>
          </a:xfrm>
          <a:prstGeom prst="roundRect">
            <a:avLst>
              <a:gd name="adj" fmla="val 11111"/>
            </a:avLst>
          </a:prstGeom>
          <a:ln w="12700">
            <a:solidFill>
              <a:srgbClr val="16A3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1153" y="12344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3246120" y="1801368"/>
            <a:ext cx="56692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55848" y="180136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前端開發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297680" y="1801368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663440" y="2011680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732925" y="2011680"/>
            <a:ext cx="888217" cy="164592"/>
          </a:xfrm>
          <a:prstGeom prst="roundRect">
            <a:avLst>
              <a:gd name="adj" fmla="val 1111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732925" y="2011680"/>
            <a:ext cx="888217" cy="164592"/>
          </a:xfrm>
          <a:prstGeom prst="roundRect">
            <a:avLst>
              <a:gd name="adj" fmla="val 11111"/>
            </a:avLst>
          </a:prstGeom>
          <a:ln w="12700">
            <a:solidFill>
              <a:srgbClr val="16A34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66862" y="180136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3246120" y="2368296"/>
            <a:ext cx="5669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355848" y="2368296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+ OCR 整合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297680" y="2368296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663440" y="2578608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732925" y="2578608"/>
            <a:ext cx="913594" cy="164592"/>
          </a:xfrm>
          <a:prstGeom prst="roundRect">
            <a:avLst>
              <a:gd name="adj" fmla="val 11111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732925" y="2578608"/>
            <a:ext cx="1141993" cy="164592"/>
          </a:xfrm>
          <a:prstGeom prst="roundRect">
            <a:avLst>
              <a:gd name="adj" fmla="val 11111"/>
            </a:avLst>
          </a:prstGeom>
          <a:ln w="12700">
            <a:solidFill>
              <a:srgbClr val="2E6DB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20638" y="236829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3246120" y="2935224"/>
            <a:ext cx="5669280" cy="566928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355848" y="2935224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測試與上線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297680" y="2935224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663440" y="3145536"/>
            <a:ext cx="4114800" cy="164592"/>
          </a:xfrm>
          <a:prstGeom prst="roundRect">
            <a:avLst>
              <a:gd name="adj" fmla="val 1111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01807" y="3145536"/>
            <a:ext cx="54864" cy="164592"/>
          </a:xfrm>
          <a:prstGeom prst="roundRect">
            <a:avLst>
              <a:gd name="adj" fmla="val 3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001807" y="3145536"/>
            <a:ext cx="1776433" cy="164592"/>
          </a:xfrm>
          <a:prstGeom prst="roundRect">
            <a:avLst>
              <a:gd name="adj" fmla="val 11111"/>
            </a:avLst>
          </a:prstGeom>
          <a:ln w="12700">
            <a:solidFill>
              <a:srgbClr val="64748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823960" y="293522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0/7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理賠數位化　—　本期動態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天回顧 ｜ 2026/05/12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0" y="4919472"/>
            <a:ext cx="9006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  2 / 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13232"/>
            <a:ext cx="7315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本期完成任務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003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0300" y="713232"/>
            <a:ext cx="73152" cy="80467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31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604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713232"/>
            <a:ext cx="7315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5321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 / 需裁示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43700" y="713232"/>
            <a:ext cx="20345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3700" y="713232"/>
            <a:ext cx="73152" cy="8046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6580" y="78638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703820" y="969264"/>
            <a:ext cx="9829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待開始任務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1627632"/>
            <a:ext cx="2743200" cy="3017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14 天完成（4）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" y="2112264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電子核賠通知 (Email/簡訊)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225856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· 2026/05/04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93192" y="2551176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45973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工作流引擎 (審核流程)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26974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· 2026/05/03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3192" y="299008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8986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服務整合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313639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Cathy · 2026/05/02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93192" y="3429000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3375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進度查詢頁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8640" y="357530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· 2026/05/01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46863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本期完成率　4/19 = 21%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08960" y="1627632"/>
            <a:ext cx="274320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08960" y="1627632"/>
            <a:ext cx="2743200" cy="301752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1627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 / 即將到期（1）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73552" y="2112264"/>
            <a:ext cx="91440" cy="91440"/>
          </a:xfrm>
          <a:prstGeom prst="ellipse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2900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理賠批次作業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429000" y="2276856"/>
            <a:ext cx="347472" cy="146304"/>
          </a:xfrm>
          <a:prstGeom prst="roundRect">
            <a:avLst>
              <a:gd name="adj" fmla="val 12500"/>
            </a:avLst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29000" y="22768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822192" y="2276856"/>
            <a:ext cx="1892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 · 截止 2026/05/17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989320" y="1627632"/>
            <a:ext cx="2926080" cy="33147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989320" y="1627632"/>
            <a:ext cx="2926080" cy="3017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162763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風險議題（0）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63640" y="2569464"/>
            <a:ext cx="2377440" cy="64008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63640" y="256946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目前無風險議題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需主管裁示事項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23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按嚴重度排序 ｜ 6 件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0" y="530352"/>
            <a:ext cx="9144000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50292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749808"/>
            <a:ext cx="123444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74980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749808"/>
            <a:ext cx="24231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74980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議題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749808"/>
            <a:ext cx="22402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74980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影響評估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749808"/>
            <a:ext cx="21945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7498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建議行動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060704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188720"/>
            <a:ext cx="356616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188720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" y="1115568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50392" y="1408176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Vincent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03120" y="111556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UX 使用者測試 (8人)　延遲 10 天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26280" y="111556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測試結果不佳，主流程需重做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11155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1737360"/>
            <a:ext cx="8595360" cy="67665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1865376"/>
            <a:ext cx="356616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1865376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" y="1792224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0392" y="2084832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Brian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03120" y="1792224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保戶身分驗證 (生物識別)　延遲 10 天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26280" y="1792224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FaceID/指紋整合測試失敗，需資安團隊協助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179222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2414016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2542032"/>
            <a:ext cx="356616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542032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0392" y="2468880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保戶 App 改版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50392" y="2761488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Mia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103120" y="2468880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效能測試 (冷啟動&lt;2秒)　延遲 10 天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26280" y="2468880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目前冷啟動 4.5 秒，未達標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246888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090672"/>
            <a:ext cx="8595360" cy="67665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" y="3218688"/>
            <a:ext cx="356616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3218688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50392" y="3145536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核保 AI 升級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50392" y="3438144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Henry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103120" y="3145536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資料清洗與標註　標記為延遲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26280" y="3145536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標註人力不足，已找外包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766560" y="3145536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需裁示：是否加派人力 / 縮減範圍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3767328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" y="3895344"/>
            <a:ext cx="356616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895344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50392" y="3822192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50392" y="4114800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Andy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103120" y="3822192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Eportal 借支模組整合　延遲 10 天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26280" y="3822192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Eportal API 規格確認中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766560" y="3822192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需協助排除阻礙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74320" y="4443984"/>
            <a:ext cx="8595360" cy="67665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7472" y="4572000"/>
            <a:ext cx="356616" cy="42062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4572000"/>
            <a:ext cx="356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850392" y="4498848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預算報支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50392" y="4791456"/>
            <a:ext cx="1106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負責人 Andy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03120" y="4498848"/>
            <a:ext cx="2240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還款流程系統分析　延遲 3 天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526280" y="4498848"/>
            <a:ext cx="2057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766560" y="449884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請關注進度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2E6DB4"/>
          </a:solidFill>
          <a:ln w="12700">
            <a:solidFill>
              <a:srgbClr val="2E6DB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本期報告日期：2026/05/12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下次回報日期：2026/05/19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專案管理報告</dc:title>
  <dc:subject>PptxGenJS Presentation</dc:subject>
  <dc:creator>PptxGenJS</dc:creator>
  <cp:lastModifiedBy>PptxGenJS</cp:lastModifiedBy>
  <cp:revision>1</cp:revision>
  <dcterms:created xsi:type="dcterms:W3CDTF">2026-05-12T02:26:30Z</dcterms:created>
  <dcterms:modified xsi:type="dcterms:W3CDTF">2026-05-12T02:26:30Z</dcterms:modified>
</cp:coreProperties>
</file>