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3A5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3A5F"/>
                </a:solidFill>
                <a:latin typeface="Arial"/>
              </a:rPr>
              <a:t>整體完成率 32%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完成率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bubble3D val="0"/>
            <c:spPr>
              <a:solidFill>
                <a:srgbClr val="E8EEF4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已完成</c:v>
                </c:pt>
                <c:pt idx="1">
                  <c:v>未完成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30</c:v>
                </c:pt>
                <c:pt idx="1">
                  <c:v>63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4F7F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3A5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3A5F"/>
                </a:solidFill>
                <a:latin typeface="Arial"/>
              </a:rPr>
              <a:t>各專案任務分佈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已完成</c:v>
                </c:pt>
              </c:strCache>
            </c:strRef>
          </c:tx>
          <c:spPr>
            <a:solidFill>
              <a:srgbClr val="16A34A"/>
            </a:solidFill>
            <a:effectLst>
              <a:outerShdw sx="100000" sy="100000" kx="0" ky="0" algn="bl" blurRad="63500" rotWithShape="1" dist="25400" dir="8100000">
                <a:srgbClr val="000000">
                  <a:alpha val="7000"/>
                </a:srgbClr>
              </a:outer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預算報支</c:v>
                  </c:pt>
                  <c:pt idx="1">
                    <c:v>團險系統專案</c:v>
                  </c:pt>
                  <c:pt idx="2">
                    <c:v>保戶 App 改版</c:v>
                  </c:pt>
                  <c:pt idx="3">
                    <c:v>核保 AI 升級</c:v>
                  </c:pt>
                  <c:pt idx="4">
                    <c:v>理賠數位化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</c:v>
                </c:pt>
                <c:pt idx="1">
                  <c:v>3</c:v>
                </c:pt>
                <c:pt idx="2">
                  <c:v>6</c:v>
                </c:pt>
                <c:pt idx="3">
                  <c:v>4</c:v>
                </c:pt>
                <c:pt idx="4">
                  <c:v>11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進行中</c:v>
                </c:pt>
              </c:strCache>
            </c:strRef>
          </c:tx>
          <c:spPr>
            <a:solidFill>
              <a:srgbClr val="2E6DB4"/>
            </a:solidFill>
            <a:effectLst>
              <a:outerShdw sx="100000" sy="100000" kx="0" ky="0" algn="bl" blurRad="63500" rotWithShape="1" dist="25400" dir="8100000">
                <a:srgbClr val="000000">
                  <a:alpha val="7000"/>
                </a:srgbClr>
              </a:outer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預算報支</c:v>
                  </c:pt>
                  <c:pt idx="1">
                    <c:v>團險系統專案</c:v>
                  </c:pt>
                  <c:pt idx="2">
                    <c:v>保戶 App 改版</c:v>
                  </c:pt>
                  <c:pt idx="3">
                    <c:v>核保 AI 升級</c:v>
                  </c:pt>
                  <c:pt idx="4">
                    <c:v>理賠數位化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2</c:v>
                </c:pt>
                <c:pt idx="2">
                  <c:v>3</c:v>
                </c:pt>
                <c:pt idx="3">
                  <c:v>0</c:v>
                </c:pt>
                <c:pt idx="4">
                  <c:v>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風險/延遲</c:v>
                </c:pt>
              </c:strCache>
            </c:strRef>
          </c:tx>
          <c:spPr>
            <a:solidFill>
              <a:srgbClr val="DC2626"/>
            </a:solidFill>
            <a:effectLst>
              <a:outerShdw sx="100000" sy="100000" kx="0" ky="0" algn="bl" blurRad="63500" rotWithShape="1" dist="25400" dir="8100000">
                <a:srgbClr val="000000">
                  <a:alpha val="7000"/>
                </a:srgbClr>
              </a:outer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預算報支</c:v>
                  </c:pt>
                  <c:pt idx="1">
                    <c:v>團險系統專案</c:v>
                  </c:pt>
                  <c:pt idx="2">
                    <c:v>保戶 App 改版</c:v>
                  </c:pt>
                  <c:pt idx="3">
                    <c:v>核保 AI 升級</c:v>
                  </c:pt>
                  <c:pt idx="4">
                    <c:v>理賠數位化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</c:v>
                </c:pt>
                <c:pt idx="1">
                  <c:v>0</c:v>
                </c:pt>
                <c:pt idx="2">
                  <c:v>3</c:v>
                </c:pt>
                <c:pt idx="3">
                  <c:v>1</c:v>
                </c:pt>
                <c:pt idx="4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待開始</c:v>
                </c:pt>
              </c:strCache>
            </c:strRef>
          </c:tx>
          <c:spPr>
            <a:solidFill>
              <a:srgbClr val="B0BEC5"/>
            </a:solidFill>
            <a:effectLst>
              <a:outerShdw sx="100000" sy="100000" kx="0" ky="0" algn="bl" blurRad="63500" rotWithShape="1" dist="25400" dir="8100000">
                <a:srgbClr val="000000">
                  <a:alpha val="7000"/>
                </a:srgbClr>
              </a:outer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預算報支</c:v>
                  </c:pt>
                  <c:pt idx="1">
                    <c:v>團險系統專案</c:v>
                  </c:pt>
                  <c:pt idx="2">
                    <c:v>保戶 App 改版</c:v>
                  </c:pt>
                  <c:pt idx="3">
                    <c:v>核保 AI 升級</c:v>
                  </c:pt>
                  <c:pt idx="4">
                    <c:v>理賠數位化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9</c:v>
                </c:pt>
                <c:pt idx="1">
                  <c:v>15</c:v>
                </c:pt>
                <c:pt idx="2">
                  <c:v>7</c:v>
                </c:pt>
                <c:pt idx="3">
                  <c:v>13</c:v>
                </c:pt>
                <c:pt idx="4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C2B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0"/>
            <a:ext cx="2468880" cy="5143500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92440" y="0"/>
            <a:ext cx="1051560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5943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專案管理報告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084832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Status Report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578608"/>
            <a:ext cx="329184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788920"/>
            <a:ext cx="5943600" cy="658368"/>
          </a:xfrm>
          <a:prstGeom prst="roundRect">
            <a:avLst>
              <a:gd name="adj" fmla="val 11111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788920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1 個專案需立即關注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3639312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報告日期　2026/05/12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986784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下次回報　2026/05/19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執行摘要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23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一頁掌握所有專案 ｜ 2026/05/12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530352"/>
            <a:ext cx="9144000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713232"/>
            <a:ext cx="2697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EE2E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713232"/>
            <a:ext cx="73152" cy="8046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740664"/>
            <a:ext cx="8046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399032" y="75895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需立即關注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99032" y="107899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個專案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172968" y="713232"/>
            <a:ext cx="2697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EF3C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72968" y="713232"/>
            <a:ext cx="73152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74136" y="740664"/>
            <a:ext cx="8046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251960" y="75895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需要觀察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51960" y="107899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個專案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25896" y="713232"/>
            <a:ext cx="2697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25896" y="713232"/>
            <a:ext cx="73152" cy="8046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27064" y="740664"/>
            <a:ext cx="8046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7104888" y="75895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進度健康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104888" y="107899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個專案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74320" y="1719072"/>
            <a:ext cx="438912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1719072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13232" y="1719072"/>
            <a:ext cx="1572768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171907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專案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0" y="1719072"/>
            <a:ext cx="749808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0" y="171907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035808" y="1719072"/>
            <a:ext cx="1389888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35808" y="171907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進度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425696" y="1719072"/>
            <a:ext cx="1115568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25696" y="1719072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預估完工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541264" y="1719072"/>
            <a:ext cx="841248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41264" y="17190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偏差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382512" y="1719072"/>
            <a:ext cx="2487168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82512" y="171907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主要關鍵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1993392"/>
            <a:ext cx="85953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56616" y="2103120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6384" y="2039112"/>
            <a:ext cx="148132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預算報支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86384" y="2267712"/>
            <a:ext cx="1481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Jeffery · 注意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286000" y="1993392"/>
            <a:ext cx="7498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35.3%</a:t>
            </a:r>
            <a:endParaRPr lang="en-US" sz="1700" dirty="0"/>
          </a:p>
        </p:txBody>
      </p:sp>
      <p:sp>
        <p:nvSpPr>
          <p:cNvPr id="40" name="Shape 38"/>
          <p:cNvSpPr/>
          <p:nvPr/>
        </p:nvSpPr>
        <p:spPr>
          <a:xfrm>
            <a:off x="3127248" y="2176272"/>
            <a:ext cx="1207008" cy="128016"/>
          </a:xfrm>
          <a:prstGeom prst="roundRect">
            <a:avLst>
              <a:gd name="adj" fmla="val 14286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127248" y="2176272"/>
            <a:ext cx="426074" cy="128016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569525" y="2139696"/>
            <a:ext cx="18288" cy="201168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127248" y="2331720"/>
            <a:ext cx="120700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已過 37.4%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4425696" y="2039112"/>
            <a:ext cx="11155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2026/11/15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425696" y="2267712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 2026/10/30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5541264" y="1993392"/>
            <a:ext cx="8412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 天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473952" y="1993392"/>
            <a:ext cx="23042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 Eportal 借支模組整合　延遲 10 天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74320" y="2487168"/>
            <a:ext cx="8595360" cy="493776"/>
          </a:xfrm>
          <a:prstGeom prst="rect">
            <a:avLst/>
          </a:prstGeom>
          <a:solidFill>
            <a:srgbClr val="EEF4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56616" y="2596896"/>
            <a:ext cx="274320" cy="2743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86384" y="2532888"/>
            <a:ext cx="148132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團險系統專案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86384" y="2761488"/>
            <a:ext cx="1481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 · 健康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2286000" y="2487168"/>
            <a:ext cx="7498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700" dirty="0"/>
          </a:p>
        </p:txBody>
      </p:sp>
      <p:sp>
        <p:nvSpPr>
          <p:cNvPr id="53" name="Shape 51"/>
          <p:cNvSpPr/>
          <p:nvPr/>
        </p:nvSpPr>
        <p:spPr>
          <a:xfrm>
            <a:off x="3127248" y="2670048"/>
            <a:ext cx="1207008" cy="128016"/>
          </a:xfrm>
          <a:prstGeom prst="roundRect">
            <a:avLst>
              <a:gd name="adj" fmla="val 14286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127248" y="2670048"/>
            <a:ext cx="181051" cy="128016"/>
          </a:xfrm>
          <a:prstGeom prst="roundRect">
            <a:avLst>
              <a:gd name="adj" fmla="val 14286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197767" y="2633472"/>
            <a:ext cx="18288" cy="201168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127248" y="2825496"/>
            <a:ext cx="120700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已過 6.6%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4425696" y="2532888"/>
            <a:ext cx="11155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2026/09/30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425696" y="2761488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 2026/09/30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5541264" y="2487168"/>
            <a:ext cx="8412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準時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6473952" y="2487168"/>
            <a:ext cx="23042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進度正常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274320" y="2980944"/>
            <a:ext cx="85953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56616" y="3090672"/>
            <a:ext cx="274320" cy="2743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86384" y="3026664"/>
            <a:ext cx="148132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保戶 App 改版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786384" y="3255264"/>
            <a:ext cx="1481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Vincent · 警報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2286000" y="2980944"/>
            <a:ext cx="7498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31.6%</a:t>
            </a:r>
            <a:endParaRPr lang="en-US" sz="1700" dirty="0"/>
          </a:p>
        </p:txBody>
      </p:sp>
      <p:sp>
        <p:nvSpPr>
          <p:cNvPr id="66" name="Shape 64"/>
          <p:cNvSpPr/>
          <p:nvPr/>
        </p:nvSpPr>
        <p:spPr>
          <a:xfrm>
            <a:off x="3127248" y="3163824"/>
            <a:ext cx="1207008" cy="128016"/>
          </a:xfrm>
          <a:prstGeom prst="roundRect">
            <a:avLst>
              <a:gd name="adj" fmla="val 14286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127248" y="3163824"/>
            <a:ext cx="381415" cy="128016"/>
          </a:xfrm>
          <a:prstGeom prst="roundRect">
            <a:avLst>
              <a:gd name="adj" fmla="val 14286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789200" y="3127248"/>
            <a:ext cx="18288" cy="201168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127248" y="3319272"/>
            <a:ext cx="120700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已過 55.6%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4425696" y="3026664"/>
            <a:ext cx="11155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2026/12/15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4425696" y="3255264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 2026/07/31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5541264" y="2980944"/>
            <a:ext cx="8412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+90 天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6473952" y="2980944"/>
            <a:ext cx="23042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UX 使用者測試 (8人)　延遲 10 天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274320" y="3474720"/>
            <a:ext cx="8595360" cy="493776"/>
          </a:xfrm>
          <a:prstGeom prst="rect">
            <a:avLst/>
          </a:prstGeom>
          <a:solidFill>
            <a:srgbClr val="EEF4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56616" y="3584448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86384" y="3520440"/>
            <a:ext cx="148132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核保 AI 升級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786384" y="3749040"/>
            <a:ext cx="1481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Diana · 注意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2286000" y="3474720"/>
            <a:ext cx="7498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22.2%</a:t>
            </a:r>
            <a:endParaRPr lang="en-US" sz="1700" dirty="0"/>
          </a:p>
        </p:txBody>
      </p:sp>
      <p:sp>
        <p:nvSpPr>
          <p:cNvPr id="79" name="Shape 77"/>
          <p:cNvSpPr/>
          <p:nvPr/>
        </p:nvSpPr>
        <p:spPr>
          <a:xfrm>
            <a:off x="3127248" y="3657600"/>
            <a:ext cx="1207008" cy="128016"/>
          </a:xfrm>
          <a:prstGeom prst="roundRect">
            <a:avLst>
              <a:gd name="adj" fmla="val 14286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127248" y="3657600"/>
            <a:ext cx="267956" cy="128016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402958" y="3621024"/>
            <a:ext cx="18288" cy="201168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127248" y="3813048"/>
            <a:ext cx="120700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已過 23.6%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4425696" y="3520440"/>
            <a:ext cx="11155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2027/01/19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4425696" y="3749040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 2026/12/31</a:t>
            </a:r>
            <a:endParaRPr lang="en-US" sz="750" dirty="0"/>
          </a:p>
        </p:txBody>
      </p:sp>
      <p:sp>
        <p:nvSpPr>
          <p:cNvPr id="85" name="Text 83"/>
          <p:cNvSpPr/>
          <p:nvPr/>
        </p:nvSpPr>
        <p:spPr>
          <a:xfrm>
            <a:off x="5541264" y="3474720"/>
            <a:ext cx="8412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+19 天</a:t>
            </a:r>
            <a:endParaRPr lang="en-US" sz="1200" dirty="0"/>
          </a:p>
        </p:txBody>
      </p:sp>
      <p:sp>
        <p:nvSpPr>
          <p:cNvPr id="86" name="Text 84"/>
          <p:cNvSpPr/>
          <p:nvPr/>
        </p:nvSpPr>
        <p:spPr>
          <a:xfrm>
            <a:off x="6473952" y="3474720"/>
            <a:ext cx="23042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資料清洗與標註　標記為延遲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274320" y="3968496"/>
            <a:ext cx="85953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56616" y="4078224"/>
            <a:ext cx="274320" cy="2743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86384" y="4014216"/>
            <a:ext cx="148132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理賠數位化</a:t>
            </a:r>
            <a:endParaRPr lang="en-US" sz="1100" dirty="0"/>
          </a:p>
        </p:txBody>
      </p:sp>
      <p:sp>
        <p:nvSpPr>
          <p:cNvPr id="90" name="Text 88"/>
          <p:cNvSpPr/>
          <p:nvPr/>
        </p:nvSpPr>
        <p:spPr>
          <a:xfrm>
            <a:off x="786384" y="4242816"/>
            <a:ext cx="1481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Nelson · 健康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2286000" y="3968496"/>
            <a:ext cx="7498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57.9%</a:t>
            </a:r>
            <a:endParaRPr lang="en-US" sz="1700" dirty="0"/>
          </a:p>
        </p:txBody>
      </p:sp>
      <p:sp>
        <p:nvSpPr>
          <p:cNvPr id="92" name="Shape 90"/>
          <p:cNvSpPr/>
          <p:nvPr/>
        </p:nvSpPr>
        <p:spPr>
          <a:xfrm>
            <a:off x="3127248" y="4151376"/>
            <a:ext cx="1207008" cy="128016"/>
          </a:xfrm>
          <a:prstGeom prst="roundRect">
            <a:avLst>
              <a:gd name="adj" fmla="val 14286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127248" y="4151376"/>
            <a:ext cx="698858" cy="128016"/>
          </a:xfrm>
          <a:prstGeom prst="roundRect">
            <a:avLst>
              <a:gd name="adj" fmla="val 14286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739713" y="4114800"/>
            <a:ext cx="18288" cy="201168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127248" y="4306824"/>
            <a:ext cx="120700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已過 51.5%</a:t>
            </a:r>
            <a:endParaRPr lang="en-US" sz="700" dirty="0"/>
          </a:p>
        </p:txBody>
      </p:sp>
      <p:sp>
        <p:nvSpPr>
          <p:cNvPr id="96" name="Text 94"/>
          <p:cNvSpPr/>
          <p:nvPr/>
        </p:nvSpPr>
        <p:spPr>
          <a:xfrm>
            <a:off x="4425696" y="4014216"/>
            <a:ext cx="11155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2026/08/05</a:t>
            </a:r>
            <a:endParaRPr lang="en-US" sz="1000" dirty="0"/>
          </a:p>
        </p:txBody>
      </p:sp>
      <p:sp>
        <p:nvSpPr>
          <p:cNvPr id="97" name="Text 95"/>
          <p:cNvSpPr/>
          <p:nvPr/>
        </p:nvSpPr>
        <p:spPr>
          <a:xfrm>
            <a:off x="4425696" y="4242816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 2026/08/30</a:t>
            </a:r>
            <a:endParaRPr lang="en-US" sz="750" dirty="0"/>
          </a:p>
        </p:txBody>
      </p:sp>
      <p:sp>
        <p:nvSpPr>
          <p:cNvPr id="98" name="Text 96"/>
          <p:cNvSpPr/>
          <p:nvPr/>
        </p:nvSpPr>
        <p:spPr>
          <a:xfrm>
            <a:off x="5541264" y="3968496"/>
            <a:ext cx="8412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-25 天</a:t>
            </a:r>
            <a:endParaRPr lang="en-US" sz="1200" dirty="0"/>
          </a:p>
        </p:txBody>
      </p:sp>
      <p:sp>
        <p:nvSpPr>
          <p:cNvPr id="99" name="Text 97"/>
          <p:cNvSpPr/>
          <p:nvPr/>
        </p:nvSpPr>
        <p:spPr>
          <a:xfrm>
            <a:off x="6473952" y="3968496"/>
            <a:ext cx="23042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進度正常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274320" y="45720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需主管裁示事項：5 件　·　詳見後續頁面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Dashboard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23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任務統計 ｜ 2026/05/12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530352"/>
            <a:ext cx="9144000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749808"/>
            <a:ext cx="15544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749808"/>
            <a:ext cx="155448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50392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20040" y="144475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專案總數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20824" y="749808"/>
            <a:ext cx="15544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20824" y="749808"/>
            <a:ext cx="1554480" cy="54864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20824" y="850392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2020824" y="144475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總任務數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21608" y="749808"/>
            <a:ext cx="15544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21608" y="749808"/>
            <a:ext cx="155448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21608" y="850392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3721608" y="144475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已完成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22392" y="749808"/>
            <a:ext cx="15544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22392" y="749808"/>
            <a:ext cx="1554480" cy="54864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22392" y="850392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5422392" y="144475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進行中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123176" y="749808"/>
            <a:ext cx="15544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123176" y="749808"/>
            <a:ext cx="155448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23176" y="850392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7123176" y="144475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風險 / 延遲</a:t>
            </a:r>
            <a:endParaRPr lang="en-US" sz="100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274320" y="1920240"/>
          <a:ext cx="29260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7" name="Chart 1" descr=""/>
          <p:cNvGraphicFramePr/>
          <p:nvPr/>
        </p:nvGraphicFramePr>
        <p:xfrm>
          <a:off x="3337560" y="1828800"/>
          <a:ext cx="54864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預算報支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23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Jeffery ｜ 2026/01/30 ～ 2026/10/30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0" y="4919472"/>
            <a:ext cx="9006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概況  1 / 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530352"/>
            <a:ext cx="9144000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685800"/>
            <a:ext cx="28346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685800"/>
            <a:ext cx="73152" cy="12984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" y="886968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8503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8328" y="1161288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8328" y="158191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任務完成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554480" y="1060704"/>
            <a:ext cx="1353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完成率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554480" y="1234440"/>
            <a:ext cx="1353312" cy="118872"/>
          </a:xfrm>
          <a:prstGeom prst="roundRect">
            <a:avLst>
              <a:gd name="adj" fmla="val 15385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54480" y="1234440"/>
            <a:ext cx="477719" cy="118872"/>
          </a:xfrm>
          <a:prstGeom prst="roundRect">
            <a:avLst>
              <a:gd name="adj" fmla="val 1538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51475" y="1197864"/>
            <a:ext cx="18288" cy="192024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54480" y="1380744"/>
            <a:ext cx="67665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231136" y="1380744"/>
            <a:ext cx="67665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時間已過 37.4%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28600" y="2103120"/>
            <a:ext cx="28346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1762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預估完工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235000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2026/11/15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65760" y="265176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落後 16 天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965960" y="2176272"/>
            <a:ext cx="987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　2026/10/30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965960" y="2432304"/>
            <a:ext cx="914400" cy="109728"/>
          </a:xfrm>
          <a:prstGeom prst="roundRect">
            <a:avLst>
              <a:gd name="adj" fmla="val 16667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65960" y="2432304"/>
            <a:ext cx="162560" cy="109728"/>
          </a:xfrm>
          <a:prstGeom prst="roundRect">
            <a:avLst>
              <a:gd name="adj" fmla="val 1666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" y="3035808"/>
            <a:ext cx="28346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28600" y="3108960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228600" y="347472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總任務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95528" y="3127248"/>
            <a:ext cx="9144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3108960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95528" y="347472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362456" y="3127248"/>
            <a:ext cx="9144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62456" y="3108960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1362456" y="347472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進行中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929384" y="3127248"/>
            <a:ext cx="9144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929384" y="3108960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1929384" y="347472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風險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496312" y="3127248"/>
            <a:ext cx="9144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96312" y="3108960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2496312" y="347472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待開始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28600" y="3849624"/>
            <a:ext cx="2834640" cy="475488"/>
          </a:xfrm>
          <a:prstGeom prst="rect">
            <a:avLst/>
          </a:prstGeom>
          <a:solidFill>
            <a:srgbClr val="EEF4FB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8328" y="3895344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階段目標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38328" y="4050792"/>
            <a:ext cx="2633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系統上線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246120" y="685800"/>
            <a:ext cx="5669280" cy="4133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246120" y="685800"/>
            <a:ext cx="5669280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83280" y="68580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里程碑進度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739128" y="786384"/>
            <a:ext cx="128016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03720" y="75895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計畫範圍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7434072" y="786384"/>
            <a:ext cx="128016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598664" y="75895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完成進度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8165592" y="786384"/>
            <a:ext cx="128016" cy="10972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330184" y="75895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764863" y="996696"/>
            <a:ext cx="9144" cy="37124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92295" y="101498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2月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5288671" y="996696"/>
            <a:ext cx="9144" cy="37124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316103" y="101498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3月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5868602" y="996696"/>
            <a:ext cx="9144" cy="37124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896034" y="101498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4月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6429826" y="996696"/>
            <a:ext cx="9144" cy="37124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57258" y="101498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5月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7009757" y="996696"/>
            <a:ext cx="9144" cy="37124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037189" y="101498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6月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7570980" y="996696"/>
            <a:ext cx="9144" cy="37124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598412" y="101498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7月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8150911" y="996696"/>
            <a:ext cx="9144" cy="37124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178343" y="101498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8月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8730842" y="996696"/>
            <a:ext cx="9144" cy="37124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758274" y="101498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9月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6634700" y="996696"/>
            <a:ext cx="18288" cy="35935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442676" y="4562856"/>
            <a:ext cx="402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3246120" y="1216152"/>
            <a:ext cx="5669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337560" y="1216152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借支輸入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4379976" y="1216152"/>
            <a:ext cx="301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4727448" y="1394460"/>
            <a:ext cx="4078224" cy="137160"/>
          </a:xfrm>
          <a:prstGeom prst="roundRect">
            <a:avLst>
              <a:gd name="adj" fmla="val 13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727448" y="1394460"/>
            <a:ext cx="1480133" cy="137160"/>
          </a:xfrm>
          <a:prstGeom prst="roundRect">
            <a:avLst>
              <a:gd name="adj" fmla="val 13333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727448" y="1394460"/>
            <a:ext cx="1721085" cy="137160"/>
          </a:xfrm>
          <a:prstGeom prst="roundRect">
            <a:avLst>
              <a:gd name="adj" fmla="val 13333"/>
            </a:avLst>
          </a:prstGeom>
          <a:ln w="12700">
            <a:solidFill>
              <a:srgbClr val="DC262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494253" y="1216152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6/7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3246120" y="1691640"/>
            <a:ext cx="5669280" cy="475488"/>
          </a:xfrm>
          <a:prstGeom prst="rect">
            <a:avLst/>
          </a:prstGeom>
          <a:solidFill>
            <a:srgbClr val="EEF4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37560" y="1691640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借支還款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4379976" y="1691640"/>
            <a:ext cx="301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4727448" y="1869948"/>
            <a:ext cx="4078224" cy="137160"/>
          </a:xfrm>
          <a:prstGeom prst="roundRect">
            <a:avLst>
              <a:gd name="adj" fmla="val 13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317581" y="1869948"/>
            <a:ext cx="45720" cy="137160"/>
          </a:xfrm>
          <a:prstGeom prst="roundRect">
            <a:avLst>
              <a:gd name="adj" fmla="val 4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317581" y="1869948"/>
            <a:ext cx="1178569" cy="137160"/>
          </a:xfrm>
          <a:prstGeom prst="roundRect">
            <a:avLst>
              <a:gd name="adj" fmla="val 13333"/>
            </a:avLst>
          </a:prstGeom>
          <a:ln w="12700">
            <a:solidFill>
              <a:srgbClr val="DC2626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541871" y="1691640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0/5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3246120" y="2167128"/>
            <a:ext cx="5669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337560" y="2167128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測試與上線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4379976" y="2167128"/>
            <a:ext cx="301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4727448" y="2345436"/>
            <a:ext cx="4078224" cy="137160"/>
          </a:xfrm>
          <a:prstGeom prst="roundRect">
            <a:avLst>
              <a:gd name="adj" fmla="val 13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496151" y="2345436"/>
            <a:ext cx="45720" cy="137160"/>
          </a:xfrm>
          <a:prstGeom prst="roundRect">
            <a:avLst>
              <a:gd name="adj" fmla="val 4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496151" y="2345436"/>
            <a:ext cx="1309521" cy="137160"/>
          </a:xfrm>
          <a:prstGeom prst="roundRect">
            <a:avLst>
              <a:gd name="adj" fmla="val 13333"/>
            </a:avLst>
          </a:prstGeom>
          <a:ln w="12700">
            <a:solidFill>
              <a:srgbClr val="64748B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預算報支　—　本期動態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23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14 天回顧 ｜ 2026/05/12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0" y="4919472"/>
            <a:ext cx="9006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動態  2 / 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530352"/>
            <a:ext cx="9144000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713232"/>
            <a:ext cx="20345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713232"/>
            <a:ext cx="73152" cy="8046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786384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188720" y="969264"/>
            <a:ext cx="9829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本期完成任務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00300" y="713232"/>
            <a:ext cx="20345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00300" y="713232"/>
            <a:ext cx="73152" cy="804672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83180" y="786384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360420" y="969264"/>
            <a:ext cx="9829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進行中 / 即將到期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0" y="713232"/>
            <a:ext cx="20345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713232"/>
            <a:ext cx="73152" cy="8046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786384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5532120" y="969264"/>
            <a:ext cx="9829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風險 / 需裁示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743700" y="713232"/>
            <a:ext cx="20345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43700" y="713232"/>
            <a:ext cx="73152" cy="8046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26580" y="786384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703820" y="969264"/>
            <a:ext cx="9829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待開始任務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1627632"/>
            <a:ext cx="2743200" cy="33147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28600" y="1627632"/>
            <a:ext cx="2743200" cy="3017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1627632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14 天完成（0）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65760" y="247802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本期無完成任務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468630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本期完成率　0/17 = 0%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108960" y="1627632"/>
            <a:ext cx="2743200" cy="33147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08960" y="1627632"/>
            <a:ext cx="2743200" cy="301752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46120" y="1627632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進行中 / 即將到期（3）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00400" y="1993392"/>
            <a:ext cx="2560320" cy="420624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73552" y="2112264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29000" y="202082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Eportal 借支模組整合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429000" y="2276856"/>
            <a:ext cx="347472" cy="146304"/>
          </a:xfrm>
          <a:prstGeom prst="roundRect">
            <a:avLst>
              <a:gd name="adj" fmla="val 125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29000" y="2276856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延遲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822192" y="2276856"/>
            <a:ext cx="1892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Andy · 截止 2026/05/02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200400" y="2432304"/>
            <a:ext cx="2560320" cy="420624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73552" y="2551176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29000" y="245973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還款流程系統分析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429000" y="2715768"/>
            <a:ext cx="347472" cy="146304"/>
          </a:xfrm>
          <a:prstGeom prst="roundRect">
            <a:avLst>
              <a:gd name="adj" fmla="val 125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29000" y="2715768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延遲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3822192" y="2715768"/>
            <a:ext cx="1892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Andy · 截止 2026/05/09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273552" y="2990088"/>
            <a:ext cx="91440" cy="9144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29000" y="2898648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還款 API 設計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429000" y="3154680"/>
            <a:ext cx="347472" cy="146304"/>
          </a:xfrm>
          <a:prstGeom prst="roundRect">
            <a:avLst>
              <a:gd name="adj" fmla="val 125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29000" y="3154680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待開始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3822192" y="3154680"/>
            <a:ext cx="1892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Curtis · 截止 2026/05/23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989320" y="1627632"/>
            <a:ext cx="2926080" cy="33147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5989320" y="1627632"/>
            <a:ext cx="2926080" cy="3017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26480" y="1627632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風險議題（2）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099048" y="2020824"/>
            <a:ext cx="2706624" cy="731520"/>
          </a:xfrm>
          <a:prstGeom prst="roundRect">
            <a:avLst>
              <a:gd name="adj" fmla="val 6250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099048" y="2020824"/>
            <a:ext cx="73152" cy="731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227064" y="2084832"/>
            <a:ext cx="292608" cy="164592"/>
          </a:xfrm>
          <a:prstGeom prst="roundRect">
            <a:avLst>
              <a:gd name="adj" fmla="val 1111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27064" y="208483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556248" y="2084832"/>
            <a:ext cx="2103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Andy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227064" y="226771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 Eportal 借支模組整合　延遲 10 天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227064" y="249631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需協助排除阻礙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099048" y="2843784"/>
            <a:ext cx="2706624" cy="731520"/>
          </a:xfrm>
          <a:prstGeom prst="roundRect">
            <a:avLst>
              <a:gd name="adj" fmla="val 6250"/>
            </a:avLst>
          </a:prstGeom>
          <a:solidFill>
            <a:srgbClr val="E2E8F0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099048" y="2843784"/>
            <a:ext cx="73152" cy="7315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227064" y="2907792"/>
            <a:ext cx="292608" cy="164592"/>
          </a:xfrm>
          <a:prstGeom prst="roundRect">
            <a:avLst>
              <a:gd name="adj" fmla="val 11111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227064" y="290779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556248" y="2907792"/>
            <a:ext cx="2103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Andy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227064" y="309067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還款流程系統分析　延遲 3 天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227064" y="33192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請關注進度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團險系統專案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23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 ｜ 2026/05/02 ～ 2026/09/30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0" y="4919472"/>
            <a:ext cx="9006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概況  1 / 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530352"/>
            <a:ext cx="9144000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685800"/>
            <a:ext cx="28346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685800"/>
            <a:ext cx="73152" cy="12984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" y="886968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8503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健康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8328" y="1161288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8328" y="158191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任務完成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554480" y="1060704"/>
            <a:ext cx="1353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完成率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554480" y="1234440"/>
            <a:ext cx="1353312" cy="118872"/>
          </a:xfrm>
          <a:prstGeom prst="roundRect">
            <a:avLst>
              <a:gd name="adj" fmla="val 15385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54480" y="1234440"/>
            <a:ext cx="202997" cy="118872"/>
          </a:xfrm>
          <a:prstGeom prst="roundRect">
            <a:avLst>
              <a:gd name="adj" fmla="val 1538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34655" y="1197864"/>
            <a:ext cx="18288" cy="192024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54480" y="1380744"/>
            <a:ext cx="67665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231136" y="1380744"/>
            <a:ext cx="67665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時間已過 6.6%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28600" y="2103120"/>
            <a:ext cx="28346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1762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預估完工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235000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2026/09/30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65760" y="265176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準時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965960" y="2176272"/>
            <a:ext cx="987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　2026/09/30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965960" y="2432304"/>
            <a:ext cx="914400" cy="109728"/>
          </a:xfrm>
          <a:prstGeom prst="roundRect">
            <a:avLst>
              <a:gd name="adj" fmla="val 16667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8600" y="3035808"/>
            <a:ext cx="28346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28600" y="3108960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228600" y="347472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總任務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95528" y="3127248"/>
            <a:ext cx="9144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5528" y="3108960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95528" y="347472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362456" y="3127248"/>
            <a:ext cx="9144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62456" y="3108960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1362456" y="347472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進行中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929384" y="3127248"/>
            <a:ext cx="9144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929384" y="3108960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1929384" y="347472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風險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496312" y="3127248"/>
            <a:ext cx="9144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96312" y="3108960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2496312" y="347472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待開始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28600" y="3849624"/>
            <a:ext cx="2834640" cy="475488"/>
          </a:xfrm>
          <a:prstGeom prst="rect">
            <a:avLst/>
          </a:prstGeom>
          <a:solidFill>
            <a:srgbClr val="EEF4FB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8328" y="3895344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階段目標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38328" y="4050792"/>
            <a:ext cx="2633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完成UAT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246120" y="685800"/>
            <a:ext cx="5669280" cy="4133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246120" y="685800"/>
            <a:ext cx="5669280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83280" y="68580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里程碑進度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739128" y="786384"/>
            <a:ext cx="128016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03720" y="75895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計畫範圍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7434072" y="786384"/>
            <a:ext cx="128016" cy="1097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98664" y="75895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完成進度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8165592" y="786384"/>
            <a:ext cx="128016" cy="10972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330184" y="75895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5426572" y="996696"/>
            <a:ext cx="9144" cy="37124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54004" y="101498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6月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6125696" y="996696"/>
            <a:ext cx="9144" cy="37124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153128" y="101498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7月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6848124" y="996696"/>
            <a:ext cx="9144" cy="37124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875556" y="101498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8月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7570553" y="996696"/>
            <a:ext cx="9144" cy="37124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597985" y="101498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9月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8269677" y="996696"/>
            <a:ext cx="9144" cy="37124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297109" y="101498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10月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4961605" y="996696"/>
            <a:ext cx="18288" cy="35935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69581" y="4562856"/>
            <a:ext cx="402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3246120" y="1216152"/>
            <a:ext cx="5669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337560" y="1216152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需求與設計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4379976" y="1216152"/>
            <a:ext cx="301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4727448" y="1394460"/>
            <a:ext cx="4078224" cy="137160"/>
          </a:xfrm>
          <a:prstGeom prst="roundRect">
            <a:avLst>
              <a:gd name="adj" fmla="val 13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727448" y="1394460"/>
            <a:ext cx="783019" cy="137160"/>
          </a:xfrm>
          <a:prstGeom prst="roundRect">
            <a:avLst>
              <a:gd name="adj" fmla="val 13333"/>
            </a:avLst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27448" y="1394460"/>
            <a:ext cx="1305032" cy="137160"/>
          </a:xfrm>
          <a:prstGeom prst="roundRect">
            <a:avLst>
              <a:gd name="adj" fmla="val 13333"/>
            </a:avLst>
          </a:prstGeom>
          <a:ln w="12700">
            <a:solidFill>
              <a:srgbClr val="2E6DB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078200" y="1216152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3/5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3246120" y="1691640"/>
            <a:ext cx="5669280" cy="475488"/>
          </a:xfrm>
          <a:prstGeom prst="rect">
            <a:avLst/>
          </a:prstGeom>
          <a:solidFill>
            <a:srgbClr val="EEF4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337560" y="1691640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核心開發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4379976" y="1691640"/>
            <a:ext cx="301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4727448" y="1869948"/>
            <a:ext cx="4078224" cy="137160"/>
          </a:xfrm>
          <a:prstGeom prst="roundRect">
            <a:avLst>
              <a:gd name="adj" fmla="val 13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032480" y="1869948"/>
            <a:ext cx="45720" cy="137160"/>
          </a:xfrm>
          <a:prstGeom prst="roundRect">
            <a:avLst>
              <a:gd name="adj" fmla="val 4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032480" y="1869948"/>
            <a:ext cx="1468161" cy="137160"/>
          </a:xfrm>
          <a:prstGeom prst="roundRect">
            <a:avLst>
              <a:gd name="adj" fmla="val 13333"/>
            </a:avLst>
          </a:prstGeom>
          <a:ln w="12700">
            <a:solidFill>
              <a:srgbClr val="64748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546360" y="1691640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0/7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3246120" y="2167128"/>
            <a:ext cx="5669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37560" y="2167128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測試階段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4379976" y="2167128"/>
            <a:ext cx="301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4727448" y="2345436"/>
            <a:ext cx="4078224" cy="137160"/>
          </a:xfrm>
          <a:prstGeom prst="roundRect">
            <a:avLst>
              <a:gd name="adj" fmla="val 13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500640" y="2345436"/>
            <a:ext cx="45720" cy="137160"/>
          </a:xfrm>
          <a:prstGeom prst="roundRect">
            <a:avLst>
              <a:gd name="adj" fmla="val 4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500640" y="2345436"/>
            <a:ext cx="745732" cy="137160"/>
          </a:xfrm>
          <a:prstGeom prst="roundRect">
            <a:avLst>
              <a:gd name="adj" fmla="val 13333"/>
            </a:avLst>
          </a:prstGeom>
          <a:ln w="12700">
            <a:solidFill>
              <a:srgbClr val="64748B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8292093" y="2167128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0/4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3246120" y="2642616"/>
            <a:ext cx="5669280" cy="475488"/>
          </a:xfrm>
          <a:prstGeom prst="rect">
            <a:avLst/>
          </a:prstGeom>
          <a:solidFill>
            <a:srgbClr val="EEF4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337560" y="2642616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上線準備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4379976" y="2642616"/>
            <a:ext cx="301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4727448" y="2820924"/>
            <a:ext cx="4078224" cy="137160"/>
          </a:xfrm>
          <a:prstGeom prst="roundRect">
            <a:avLst>
              <a:gd name="adj" fmla="val 13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153156" y="2820924"/>
            <a:ext cx="45720" cy="137160"/>
          </a:xfrm>
          <a:prstGeom prst="roundRect">
            <a:avLst>
              <a:gd name="adj" fmla="val 4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153156" y="2820924"/>
            <a:ext cx="652516" cy="137160"/>
          </a:xfrm>
          <a:prstGeom prst="roundRect">
            <a:avLst>
              <a:gd name="adj" fmla="val 13333"/>
            </a:avLst>
          </a:prstGeom>
          <a:ln w="12700">
            <a:solidFill>
              <a:srgbClr val="64748B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團險系統專案　—　本期動態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23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14 天回顧 ｜ 2026/05/12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0" y="4919472"/>
            <a:ext cx="9006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動態  2 / 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530352"/>
            <a:ext cx="9144000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713232"/>
            <a:ext cx="20345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713232"/>
            <a:ext cx="73152" cy="8046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786384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188720" y="969264"/>
            <a:ext cx="9829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本期完成任務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00300" y="713232"/>
            <a:ext cx="20345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00300" y="713232"/>
            <a:ext cx="73152" cy="804672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83180" y="786384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360420" y="969264"/>
            <a:ext cx="9829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進行中 / 即將到期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0" y="713232"/>
            <a:ext cx="20345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713232"/>
            <a:ext cx="73152" cy="8046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786384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5532120" y="969264"/>
            <a:ext cx="9829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風險 / 需裁示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743700" y="713232"/>
            <a:ext cx="20345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43700" y="713232"/>
            <a:ext cx="73152" cy="8046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26580" y="786384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703820" y="969264"/>
            <a:ext cx="9829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待開始任務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1627632"/>
            <a:ext cx="2743200" cy="33147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28600" y="1627632"/>
            <a:ext cx="2743200" cy="3017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1627632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14 天完成（0）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65760" y="247802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本期無完成任務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468630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本期完成率　0/20 = 0%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108960" y="1627632"/>
            <a:ext cx="2743200" cy="33147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08960" y="1627632"/>
            <a:ext cx="2743200" cy="301752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46120" y="1627632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進行中 / 即將到期（2）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73552" y="2112264"/>
            <a:ext cx="91440" cy="91440"/>
          </a:xfrm>
          <a:prstGeom prst="ellipse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29000" y="202082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Schema 設計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429000" y="2276856"/>
            <a:ext cx="347472" cy="146304"/>
          </a:xfrm>
          <a:prstGeom prst="roundRect">
            <a:avLst>
              <a:gd name="adj" fmla="val 12500"/>
            </a:avLst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29000" y="2276856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進行中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822192" y="2276856"/>
            <a:ext cx="1892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Curtis · 截止 2026/06/27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273552" y="2551176"/>
            <a:ext cx="91440" cy="91440"/>
          </a:xfrm>
          <a:prstGeom prst="ellipse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29000" y="245973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介面設計文件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429000" y="2715768"/>
            <a:ext cx="347472" cy="146304"/>
          </a:xfrm>
          <a:prstGeom prst="roundRect">
            <a:avLst>
              <a:gd name="adj" fmla="val 12500"/>
            </a:avLst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29000" y="2715768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進行中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3822192" y="2715768"/>
            <a:ext cx="1892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Andy · 截止 2026/06/27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989320" y="1627632"/>
            <a:ext cx="2926080" cy="33147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989320" y="1627632"/>
            <a:ext cx="2926080" cy="3017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26480" y="1627632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風險議題（0）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263640" y="2569464"/>
            <a:ext cx="2377440" cy="640080"/>
          </a:xfrm>
          <a:prstGeom prst="roundRect">
            <a:avLst>
              <a:gd name="adj" fmla="val 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63640" y="2569464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目前無風險議題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保戶 App 改版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23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Vincent ｜ 2026/02/01 ～ 2026/07/31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0" y="4919472"/>
            <a:ext cx="9006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概況  1 / 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530352"/>
            <a:ext cx="9144000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685800"/>
            <a:ext cx="28346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685800"/>
            <a:ext cx="73152" cy="12984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" y="886968"/>
            <a:ext cx="256032" cy="25603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8503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警報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8328" y="1161288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8328" y="158191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任務完成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554480" y="1060704"/>
            <a:ext cx="1353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完成率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554480" y="1234440"/>
            <a:ext cx="1353312" cy="118872"/>
          </a:xfrm>
          <a:prstGeom prst="roundRect">
            <a:avLst>
              <a:gd name="adj" fmla="val 15385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54480" y="1234440"/>
            <a:ext cx="427647" cy="118872"/>
          </a:xfrm>
          <a:prstGeom prst="roundRect">
            <a:avLst>
              <a:gd name="adj" fmla="val 15385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97777" y="1197864"/>
            <a:ext cx="18288" cy="192024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54480" y="1380744"/>
            <a:ext cx="67665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231136" y="1380744"/>
            <a:ext cx="67665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時間已過 55.6%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28600" y="2103120"/>
            <a:ext cx="28346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1762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預估完工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235000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2026/12/15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65760" y="265176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落後 90 天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965960" y="2176272"/>
            <a:ext cx="987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　2026/07/31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965960" y="2432304"/>
            <a:ext cx="914400" cy="109728"/>
          </a:xfrm>
          <a:prstGeom prst="roundRect">
            <a:avLst>
              <a:gd name="adj" fmla="val 16667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65960" y="2432304"/>
            <a:ext cx="914400" cy="109728"/>
          </a:xfrm>
          <a:prstGeom prst="roundRect">
            <a:avLst>
              <a:gd name="adj" fmla="val 1666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" y="3035808"/>
            <a:ext cx="28346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28600" y="3108960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228600" y="347472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總任務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95528" y="3127248"/>
            <a:ext cx="9144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3108960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95528" y="347472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362456" y="3127248"/>
            <a:ext cx="9144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62456" y="3108960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1362456" y="347472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進行中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929384" y="3127248"/>
            <a:ext cx="9144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929384" y="3108960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1929384" y="347472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風險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496312" y="3127248"/>
            <a:ext cx="9144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96312" y="3108960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2496312" y="347472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待開始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28600" y="3849624"/>
            <a:ext cx="2834640" cy="475488"/>
          </a:xfrm>
          <a:prstGeom prst="rect">
            <a:avLst/>
          </a:prstGeom>
          <a:solidFill>
            <a:srgbClr val="EEF4FB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8328" y="3895344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階段目標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38328" y="4050792"/>
            <a:ext cx="2633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App上架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246120" y="685800"/>
            <a:ext cx="5669280" cy="4133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246120" y="685800"/>
            <a:ext cx="5669280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83280" y="68580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里程碑進度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739128" y="786384"/>
            <a:ext cx="128016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03720" y="75895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計畫範圍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7434072" y="786384"/>
            <a:ext cx="128016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598664" y="75895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完成進度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8165592" y="786384"/>
            <a:ext cx="128016" cy="10972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330184" y="75895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727448" y="996696"/>
            <a:ext cx="9144" cy="37124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54880" y="101498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2月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5361838" y="996696"/>
            <a:ext cx="9144" cy="37124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389270" y="101498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3月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6064199" y="996696"/>
            <a:ext cx="9144" cy="37124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091631" y="101498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4月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6743903" y="996696"/>
            <a:ext cx="9144" cy="37124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771335" y="101498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5月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7446264" y="996696"/>
            <a:ext cx="9144" cy="37124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473696" y="101498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6月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8125968" y="996696"/>
            <a:ext cx="9144" cy="37124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153400" y="101498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7月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6993958" y="996696"/>
            <a:ext cx="18288" cy="35935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801934" y="4562856"/>
            <a:ext cx="402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3246120" y="1216152"/>
            <a:ext cx="5669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337560" y="1216152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重新設計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4379976" y="1216152"/>
            <a:ext cx="301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4727448" y="1394460"/>
            <a:ext cx="4078224" cy="137160"/>
          </a:xfrm>
          <a:prstGeom prst="roundRect">
            <a:avLst>
              <a:gd name="adj" fmla="val 13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727448" y="1394460"/>
            <a:ext cx="1631290" cy="137160"/>
          </a:xfrm>
          <a:prstGeom prst="roundRect">
            <a:avLst>
              <a:gd name="adj" fmla="val 13333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727448" y="1394460"/>
            <a:ext cx="2039112" cy="137160"/>
          </a:xfrm>
          <a:prstGeom prst="roundRect">
            <a:avLst>
              <a:gd name="adj" fmla="val 13333"/>
            </a:avLst>
          </a:prstGeom>
          <a:ln w="12700">
            <a:solidFill>
              <a:srgbClr val="DC262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812280" y="1216152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4/5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3246120" y="1691640"/>
            <a:ext cx="5669280" cy="475488"/>
          </a:xfrm>
          <a:prstGeom prst="rect">
            <a:avLst/>
          </a:prstGeom>
          <a:solidFill>
            <a:srgbClr val="EEF4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337560" y="1691640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前端開發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4379976" y="1691640"/>
            <a:ext cx="301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4727448" y="1869948"/>
            <a:ext cx="4078224" cy="137160"/>
          </a:xfrm>
          <a:prstGeom prst="roundRect">
            <a:avLst>
              <a:gd name="adj" fmla="val 13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064199" y="1869948"/>
            <a:ext cx="362056" cy="137160"/>
          </a:xfrm>
          <a:prstGeom prst="roundRect">
            <a:avLst>
              <a:gd name="adj" fmla="val 13333"/>
            </a:avLst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064199" y="1869948"/>
            <a:ext cx="2129739" cy="137160"/>
          </a:xfrm>
          <a:prstGeom prst="roundRect">
            <a:avLst>
              <a:gd name="adj" fmla="val 13333"/>
            </a:avLst>
          </a:prstGeom>
          <a:ln w="12700">
            <a:solidFill>
              <a:srgbClr val="2E6DB4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239658" y="1691640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1/6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3246120" y="2167128"/>
            <a:ext cx="5669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337560" y="2167128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後端 API 整合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4379976" y="2167128"/>
            <a:ext cx="301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4727448" y="2345436"/>
            <a:ext cx="4078224" cy="137160"/>
          </a:xfrm>
          <a:prstGeom prst="roundRect">
            <a:avLst>
              <a:gd name="adj" fmla="val 13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679034" y="2345436"/>
            <a:ext cx="515895" cy="137160"/>
          </a:xfrm>
          <a:prstGeom prst="roundRect">
            <a:avLst>
              <a:gd name="adj" fmla="val 13333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679034" y="2345436"/>
            <a:ext cx="1563319" cy="137160"/>
          </a:xfrm>
          <a:prstGeom prst="roundRect">
            <a:avLst>
              <a:gd name="adj" fmla="val 13333"/>
            </a:avLst>
          </a:prstGeom>
          <a:ln w="12700">
            <a:solidFill>
              <a:srgbClr val="DC2626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288073" y="2167128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1/3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3246120" y="2642616"/>
            <a:ext cx="5669280" cy="475488"/>
          </a:xfrm>
          <a:prstGeom prst="rect">
            <a:avLst/>
          </a:prstGeom>
          <a:solidFill>
            <a:srgbClr val="EEF4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337560" y="2642616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測試與上架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4379976" y="2642616"/>
            <a:ext cx="301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4727448" y="2820924"/>
            <a:ext cx="4078224" cy="137160"/>
          </a:xfrm>
          <a:prstGeom prst="roundRect">
            <a:avLst>
              <a:gd name="adj" fmla="val 13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607962" y="2820924"/>
            <a:ext cx="45720" cy="137160"/>
          </a:xfrm>
          <a:prstGeom prst="roundRect">
            <a:avLst>
              <a:gd name="adj" fmla="val 4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607962" y="2820924"/>
            <a:ext cx="2197710" cy="137160"/>
          </a:xfrm>
          <a:prstGeom prst="roundRect">
            <a:avLst>
              <a:gd name="adj" fmla="val 13333"/>
            </a:avLst>
          </a:prstGeom>
          <a:ln w="12700">
            <a:solidFill>
              <a:srgbClr val="DC2626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保戶 App 改版　—　本期動態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23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14 天回顧 ｜ 2026/05/12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0" y="4919472"/>
            <a:ext cx="9006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動態  2 / 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530352"/>
            <a:ext cx="9144000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713232"/>
            <a:ext cx="20345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713232"/>
            <a:ext cx="73152" cy="8046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786384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188720" y="969264"/>
            <a:ext cx="9829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本期完成任務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00300" y="713232"/>
            <a:ext cx="20345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00300" y="713232"/>
            <a:ext cx="73152" cy="804672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83180" y="786384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360420" y="969264"/>
            <a:ext cx="9829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進行中 / 即將到期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0" y="713232"/>
            <a:ext cx="20345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713232"/>
            <a:ext cx="73152" cy="8046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786384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5532120" y="969264"/>
            <a:ext cx="9829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風險 / 需裁示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743700" y="713232"/>
            <a:ext cx="20345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43700" y="713232"/>
            <a:ext cx="73152" cy="8046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26580" y="786384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703820" y="969264"/>
            <a:ext cx="9829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待開始任務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1627632"/>
            <a:ext cx="2743200" cy="33147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28600" y="1627632"/>
            <a:ext cx="2743200" cy="3017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1627632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14 天完成（2）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93192" y="2112264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202082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 建立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48640" y="225856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· 2026/05/01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93192" y="2551176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245973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高擬真原型 (Figma)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48640" y="269748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 · 2026/04/30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65760" y="468630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本期完成率　2/19 = 11%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108960" y="1627632"/>
            <a:ext cx="2743200" cy="33147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108960" y="1627632"/>
            <a:ext cx="2743200" cy="301752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46120" y="1627632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進行中 / 即將到期（6）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200400" y="1993392"/>
            <a:ext cx="2560320" cy="420624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73552" y="2112264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29000" y="202082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使用者測試 (8人)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429000" y="2276856"/>
            <a:ext cx="347472" cy="146304"/>
          </a:xfrm>
          <a:prstGeom prst="roundRect">
            <a:avLst>
              <a:gd name="adj" fmla="val 125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29000" y="2276856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風險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3822192" y="2276856"/>
            <a:ext cx="1892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Vincent · 截止 2026/05/02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200400" y="2432304"/>
            <a:ext cx="2560320" cy="420624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73552" y="2551176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29000" y="245973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保戶身分驗證 (生物識別)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429000" y="2715768"/>
            <a:ext cx="347472" cy="146304"/>
          </a:xfrm>
          <a:prstGeom prst="roundRect">
            <a:avLst>
              <a:gd name="adj" fmla="val 125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29000" y="2715768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延遲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3822192" y="2715768"/>
            <a:ext cx="1892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 · 截止 2026/05/02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200400" y="2871216"/>
            <a:ext cx="2560320" cy="420624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273552" y="2990088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29000" y="2898648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效能測試 (冷啟動&lt;2秒)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429000" y="3154680"/>
            <a:ext cx="347472" cy="146304"/>
          </a:xfrm>
          <a:prstGeom prst="roundRect">
            <a:avLst>
              <a:gd name="adj" fmla="val 125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429000" y="3154680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風險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3822192" y="3154680"/>
            <a:ext cx="1892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 · 截止 2026/05/02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273552" y="3429000"/>
            <a:ext cx="91440" cy="91440"/>
          </a:xfrm>
          <a:prstGeom prst="ellipse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429000" y="333756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推播後端 (FCM/APNs)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429000" y="3593592"/>
            <a:ext cx="347472" cy="146304"/>
          </a:xfrm>
          <a:prstGeom prst="roundRect">
            <a:avLst>
              <a:gd name="adj" fmla="val 12500"/>
            </a:avLst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429000" y="3593592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進行中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3822192" y="3593592"/>
            <a:ext cx="1892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 · 截止 2026/05/23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3273552" y="3867912"/>
            <a:ext cx="91440" cy="91440"/>
          </a:xfrm>
          <a:prstGeom prst="ellipse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429000" y="377647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App 主頁面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3429000" y="4032504"/>
            <a:ext cx="347472" cy="146304"/>
          </a:xfrm>
          <a:prstGeom prst="roundRect">
            <a:avLst>
              <a:gd name="adj" fmla="val 12500"/>
            </a:avLst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429000" y="4032504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進行中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3822192" y="4032504"/>
            <a:ext cx="1892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· 截止 2026/06/02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3273552" y="4306824"/>
            <a:ext cx="91440" cy="91440"/>
          </a:xfrm>
          <a:prstGeom prst="ellipse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429000" y="421538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App 主頁面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3429000" y="4471416"/>
            <a:ext cx="347472" cy="146304"/>
          </a:xfrm>
          <a:prstGeom prst="roundRect">
            <a:avLst>
              <a:gd name="adj" fmla="val 12500"/>
            </a:avLst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429000" y="4471416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進行中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3822192" y="4471416"/>
            <a:ext cx="1892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Sophie · 截止 2026/06/02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5989320" y="1627632"/>
            <a:ext cx="2926080" cy="33147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5989320" y="1627632"/>
            <a:ext cx="2926080" cy="3017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126480" y="1627632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風險議題（3）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6099048" y="2020824"/>
            <a:ext cx="2706624" cy="731520"/>
          </a:xfrm>
          <a:prstGeom prst="roundRect">
            <a:avLst>
              <a:gd name="adj" fmla="val 6250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099048" y="2020824"/>
            <a:ext cx="73152" cy="7315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227064" y="2084832"/>
            <a:ext cx="292608" cy="164592"/>
          </a:xfrm>
          <a:prstGeom prst="roundRect">
            <a:avLst>
              <a:gd name="adj" fmla="val 11111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227064" y="208483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6556248" y="2084832"/>
            <a:ext cx="2103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Vincent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6227064" y="226771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UX 使用者測試 (8人)　延遲 10 天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6227064" y="249631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需裁示：是否加派人力 / 縮減範圍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6099048" y="2843784"/>
            <a:ext cx="2706624" cy="731520"/>
          </a:xfrm>
          <a:prstGeom prst="roundRect">
            <a:avLst>
              <a:gd name="adj" fmla="val 6250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099048" y="2843784"/>
            <a:ext cx="73152" cy="7315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227064" y="2907792"/>
            <a:ext cx="292608" cy="164592"/>
          </a:xfrm>
          <a:prstGeom prst="roundRect">
            <a:avLst>
              <a:gd name="adj" fmla="val 11111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227064" y="290779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6556248" y="2907792"/>
            <a:ext cx="2103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6227064" y="309067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保戶身分驗證 (生物識別)　延遲 10 天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6227064" y="33192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需裁示：是否加派人力 / 縮減範圍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6099048" y="3666744"/>
            <a:ext cx="2706624" cy="731520"/>
          </a:xfrm>
          <a:prstGeom prst="roundRect">
            <a:avLst>
              <a:gd name="adj" fmla="val 6250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099048" y="3666744"/>
            <a:ext cx="73152" cy="7315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227064" y="3730752"/>
            <a:ext cx="292608" cy="164592"/>
          </a:xfrm>
          <a:prstGeom prst="roundRect">
            <a:avLst>
              <a:gd name="adj" fmla="val 11111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227064" y="37307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6556248" y="3730752"/>
            <a:ext cx="2103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6227064" y="391363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效能測試 (冷啟動&lt;2秒)　延遲 10 天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6227064" y="414223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需裁示：是否加派人力 / 縮減範圍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核保 AI 升級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23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Diana ｜ 2026/03/01 ～ 2026/12/31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0" y="4919472"/>
            <a:ext cx="9006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概況  1 / 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530352"/>
            <a:ext cx="9144000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685800"/>
            <a:ext cx="28346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685800"/>
            <a:ext cx="73152" cy="12984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" y="886968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8503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8328" y="1161288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8328" y="158191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任務完成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554480" y="1060704"/>
            <a:ext cx="1353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完成率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554480" y="1234440"/>
            <a:ext cx="1353312" cy="118872"/>
          </a:xfrm>
          <a:prstGeom prst="roundRect">
            <a:avLst>
              <a:gd name="adj" fmla="val 15385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54480" y="1234440"/>
            <a:ext cx="300435" cy="118872"/>
          </a:xfrm>
          <a:prstGeom prst="roundRect">
            <a:avLst>
              <a:gd name="adj" fmla="val 1538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64718" y="1197864"/>
            <a:ext cx="18288" cy="192024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54480" y="1380744"/>
            <a:ext cx="67665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231136" y="1380744"/>
            <a:ext cx="67665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時間已過 23.6%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28600" y="2103120"/>
            <a:ext cx="28346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1762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預估完工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235000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2027/01/19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65760" y="265176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落後 19 天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965960" y="2176272"/>
            <a:ext cx="987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　2026/12/31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965960" y="2432304"/>
            <a:ext cx="914400" cy="109728"/>
          </a:xfrm>
          <a:prstGeom prst="roundRect">
            <a:avLst>
              <a:gd name="adj" fmla="val 16667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65960" y="2432304"/>
            <a:ext cx="193040" cy="109728"/>
          </a:xfrm>
          <a:prstGeom prst="roundRect">
            <a:avLst>
              <a:gd name="adj" fmla="val 1666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" y="3035808"/>
            <a:ext cx="28346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28600" y="3108960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228600" y="347472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總任務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95528" y="3127248"/>
            <a:ext cx="9144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3108960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95528" y="347472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362456" y="3127248"/>
            <a:ext cx="9144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62456" y="3108960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1362456" y="347472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進行中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929384" y="3127248"/>
            <a:ext cx="9144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929384" y="3108960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1929384" y="347472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風險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496312" y="3127248"/>
            <a:ext cx="9144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96312" y="3108960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2496312" y="347472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待開始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28600" y="3849624"/>
            <a:ext cx="2834640" cy="475488"/>
          </a:xfrm>
          <a:prstGeom prst="rect">
            <a:avLst/>
          </a:prstGeom>
          <a:solidFill>
            <a:srgbClr val="EEF4FB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8328" y="3895344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階段目標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38328" y="4050792"/>
            <a:ext cx="2633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正式上線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246120" y="685800"/>
            <a:ext cx="5669280" cy="4133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246120" y="685800"/>
            <a:ext cx="5669280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83280" y="68580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里程碑進度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739128" y="786384"/>
            <a:ext cx="128016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03720" y="75895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計畫範圍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7434072" y="786384"/>
            <a:ext cx="128016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598664" y="75895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完成進度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8165592" y="786384"/>
            <a:ext cx="128016" cy="10972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330184" y="75895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727448" y="996696"/>
            <a:ext cx="9144" cy="37124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54880" y="101498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3月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5141956" y="996696"/>
            <a:ext cx="9144" cy="37124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169388" y="101498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4月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5543093" y="996696"/>
            <a:ext cx="9144" cy="37124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570525" y="101498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5月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5957601" y="996696"/>
            <a:ext cx="9144" cy="37124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985033" y="101498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6月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6358738" y="996696"/>
            <a:ext cx="9144" cy="37124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86170" y="101498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7月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6773246" y="996696"/>
            <a:ext cx="9144" cy="37124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800678" y="101498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8月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7187754" y="996696"/>
            <a:ext cx="9144" cy="37124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215186" y="101498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9月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7588890" y="996696"/>
            <a:ext cx="9144" cy="37124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616322" y="101498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10月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8003398" y="996696"/>
            <a:ext cx="9144" cy="37124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030830" y="101498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11月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8404535" y="996696"/>
            <a:ext cx="9144" cy="37124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431967" y="101498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12月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5686919" y="996696"/>
            <a:ext cx="18288" cy="35935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494895" y="4562856"/>
            <a:ext cx="402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3246120" y="1216152"/>
            <a:ext cx="5669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337560" y="1216152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需求與資料蒐集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4379976" y="1216152"/>
            <a:ext cx="301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4727448" y="1394460"/>
            <a:ext cx="4078224" cy="137160"/>
          </a:xfrm>
          <a:prstGeom prst="roundRect">
            <a:avLst>
              <a:gd name="adj" fmla="val 13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727448" y="1394460"/>
            <a:ext cx="735417" cy="137160"/>
          </a:xfrm>
          <a:prstGeom prst="roundRect">
            <a:avLst>
              <a:gd name="adj" fmla="val 1333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727448" y="1394460"/>
            <a:ext cx="735417" cy="137160"/>
          </a:xfrm>
          <a:prstGeom prst="roundRect">
            <a:avLst>
              <a:gd name="adj" fmla="val 13333"/>
            </a:avLst>
          </a:prstGeom>
          <a:ln w="12700">
            <a:solidFill>
              <a:srgbClr val="16A34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508585" y="1216152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4/4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3246120" y="1691640"/>
            <a:ext cx="5669280" cy="475488"/>
          </a:xfrm>
          <a:prstGeom prst="rect">
            <a:avLst/>
          </a:prstGeom>
          <a:solidFill>
            <a:srgbClr val="EEF4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337560" y="1691640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模型開發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4379976" y="1691640"/>
            <a:ext cx="301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4727448" y="1869948"/>
            <a:ext cx="4078224" cy="137160"/>
          </a:xfrm>
          <a:prstGeom prst="roundRect">
            <a:avLst>
              <a:gd name="adj" fmla="val 13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462865" y="1869948"/>
            <a:ext cx="45720" cy="137160"/>
          </a:xfrm>
          <a:prstGeom prst="roundRect">
            <a:avLst>
              <a:gd name="adj" fmla="val 4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462865" y="1869948"/>
            <a:ext cx="1216782" cy="137160"/>
          </a:xfrm>
          <a:prstGeom prst="roundRect">
            <a:avLst>
              <a:gd name="adj" fmla="val 13333"/>
            </a:avLst>
          </a:prstGeom>
          <a:ln w="12700">
            <a:solidFill>
              <a:srgbClr val="DC2626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725367" y="1691640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0/5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3246120" y="2167128"/>
            <a:ext cx="5669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337560" y="2167128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系統整合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4379976" y="2167128"/>
            <a:ext cx="301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4727448" y="2345436"/>
            <a:ext cx="4078224" cy="137160"/>
          </a:xfrm>
          <a:prstGeom prst="roundRect">
            <a:avLst>
              <a:gd name="adj" fmla="val 13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679647" y="2345436"/>
            <a:ext cx="45720" cy="137160"/>
          </a:xfrm>
          <a:prstGeom prst="roundRect">
            <a:avLst>
              <a:gd name="adj" fmla="val 4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679647" y="2345436"/>
            <a:ext cx="842387" cy="137160"/>
          </a:xfrm>
          <a:prstGeom prst="roundRect">
            <a:avLst>
              <a:gd name="adj" fmla="val 13333"/>
            </a:avLst>
          </a:prstGeom>
          <a:ln w="12700">
            <a:solidFill>
              <a:srgbClr val="64748B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567754" y="2167128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0/4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3246120" y="2642616"/>
            <a:ext cx="5669280" cy="475488"/>
          </a:xfrm>
          <a:prstGeom prst="rect">
            <a:avLst/>
          </a:prstGeom>
          <a:solidFill>
            <a:srgbClr val="EEF4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337560" y="2642616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測試與上線</a:t>
            </a:r>
            <a:endParaRPr lang="en-US" sz="850" dirty="0"/>
          </a:p>
        </p:txBody>
      </p:sp>
      <p:sp>
        <p:nvSpPr>
          <p:cNvPr id="98" name="Text 96"/>
          <p:cNvSpPr/>
          <p:nvPr/>
        </p:nvSpPr>
        <p:spPr>
          <a:xfrm>
            <a:off x="4379976" y="2642616"/>
            <a:ext cx="301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4727448" y="2820924"/>
            <a:ext cx="4078224" cy="137160"/>
          </a:xfrm>
          <a:prstGeom prst="roundRect">
            <a:avLst>
              <a:gd name="adj" fmla="val 13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522034" y="2820924"/>
            <a:ext cx="45720" cy="137160"/>
          </a:xfrm>
          <a:prstGeom prst="roundRect">
            <a:avLst>
              <a:gd name="adj" fmla="val 4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522034" y="2820924"/>
            <a:ext cx="1283638" cy="137160"/>
          </a:xfrm>
          <a:prstGeom prst="roundRect">
            <a:avLst>
              <a:gd name="adj" fmla="val 13333"/>
            </a:avLst>
          </a:prstGeom>
          <a:ln w="12700">
            <a:solidFill>
              <a:srgbClr val="64748B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核保 AI 升級　—　本期動態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23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14 天回顧 ｜ 2026/05/12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0" y="4919472"/>
            <a:ext cx="9006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動態  2 / 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530352"/>
            <a:ext cx="9144000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713232"/>
            <a:ext cx="20345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713232"/>
            <a:ext cx="73152" cy="8046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786384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188720" y="969264"/>
            <a:ext cx="9829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本期完成任務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00300" y="713232"/>
            <a:ext cx="20345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00300" y="713232"/>
            <a:ext cx="73152" cy="804672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83180" y="786384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360420" y="969264"/>
            <a:ext cx="9829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進行中 / 即將到期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0" y="713232"/>
            <a:ext cx="20345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713232"/>
            <a:ext cx="73152" cy="8046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786384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5532120" y="969264"/>
            <a:ext cx="9829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風險 / 需裁示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743700" y="713232"/>
            <a:ext cx="20345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43700" y="713232"/>
            <a:ext cx="73152" cy="8046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26580" y="786384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703820" y="969264"/>
            <a:ext cx="9829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待開始任務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1627632"/>
            <a:ext cx="2743200" cy="33147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28600" y="1627632"/>
            <a:ext cx="2743200" cy="3017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1627632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14 天完成（0）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65760" y="247802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本期無完成任務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468630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本期完成率　0/18 = 0%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108960" y="1627632"/>
            <a:ext cx="2743200" cy="33147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08960" y="1627632"/>
            <a:ext cx="2743200" cy="301752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46120" y="1627632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進行中 / 即將到期（1）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00400" y="1993392"/>
            <a:ext cx="2560320" cy="420624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73552" y="2112264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29000" y="202082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資料清洗與標註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429000" y="2276856"/>
            <a:ext cx="347472" cy="146304"/>
          </a:xfrm>
          <a:prstGeom prst="roundRect">
            <a:avLst>
              <a:gd name="adj" fmla="val 125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29000" y="2276856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延遲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822192" y="2276856"/>
            <a:ext cx="1892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Henry · 截止 2026/05/16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989320" y="1627632"/>
            <a:ext cx="2926080" cy="33147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989320" y="1627632"/>
            <a:ext cx="2926080" cy="3017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26480" y="1627632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風險議題（1）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099048" y="2020824"/>
            <a:ext cx="2706624" cy="731520"/>
          </a:xfrm>
          <a:prstGeom prst="roundRect">
            <a:avLst>
              <a:gd name="adj" fmla="val 6250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099048" y="2020824"/>
            <a:ext cx="73152" cy="7315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27064" y="2084832"/>
            <a:ext cx="292608" cy="164592"/>
          </a:xfrm>
          <a:prstGeom prst="roundRect">
            <a:avLst>
              <a:gd name="adj" fmla="val 11111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27064" y="208483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556248" y="2084832"/>
            <a:ext cx="2103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Henry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227064" y="226771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資料清洗與標註　標記為延遲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27064" y="249631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需裁示：是否加派人力 / 縮減範圍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理賠數位化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23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Nelson ｜ 2026/01/15 ～ 2026/08/30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0" y="4919472"/>
            <a:ext cx="9006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概況  1 / 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530352"/>
            <a:ext cx="9144000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685800"/>
            <a:ext cx="28346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685800"/>
            <a:ext cx="73152" cy="12984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" y="886968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8503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健康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8328" y="1161288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8328" y="158191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任務完成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554480" y="1060704"/>
            <a:ext cx="13533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完成率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554480" y="1234440"/>
            <a:ext cx="1353312" cy="118872"/>
          </a:xfrm>
          <a:prstGeom prst="roundRect">
            <a:avLst>
              <a:gd name="adj" fmla="val 15385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54480" y="1234440"/>
            <a:ext cx="783568" cy="118872"/>
          </a:xfrm>
          <a:prstGeom prst="roundRect">
            <a:avLst>
              <a:gd name="adj" fmla="val 1538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2292" y="1197864"/>
            <a:ext cx="18288" cy="192024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54480" y="1380744"/>
            <a:ext cx="67665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231136" y="1380744"/>
            <a:ext cx="67665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時間已過 51.5%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28600" y="2103120"/>
            <a:ext cx="28346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1762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預估完工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235000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2026/08/05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65760" y="265176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提前 25 天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965960" y="2176272"/>
            <a:ext cx="987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　2026/08/30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965960" y="2432304"/>
            <a:ext cx="914400" cy="109728"/>
          </a:xfrm>
          <a:prstGeom prst="roundRect">
            <a:avLst>
              <a:gd name="adj" fmla="val 16667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65960" y="2432304"/>
            <a:ext cx="254000" cy="109728"/>
          </a:xfrm>
          <a:prstGeom prst="roundRect">
            <a:avLst>
              <a:gd name="adj" fmla="val 1666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" y="3035808"/>
            <a:ext cx="28346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28600" y="3108960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228600" y="347472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總任務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95528" y="3127248"/>
            <a:ext cx="9144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3108960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95528" y="347472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362456" y="3127248"/>
            <a:ext cx="9144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62456" y="3108960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1362456" y="347472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進行中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929384" y="3127248"/>
            <a:ext cx="9144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929384" y="3108960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1929384" y="347472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風險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496312" y="3127248"/>
            <a:ext cx="9144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96312" y="3108960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2496312" y="347472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待開始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28600" y="3849624"/>
            <a:ext cx="2834640" cy="475488"/>
          </a:xfrm>
          <a:prstGeom prst="rect">
            <a:avLst/>
          </a:prstGeom>
          <a:solidFill>
            <a:srgbClr val="EEF4FB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8328" y="3895344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階段目標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38328" y="4050792"/>
            <a:ext cx="2633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正式上線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246120" y="685800"/>
            <a:ext cx="5669280" cy="4133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246120" y="685800"/>
            <a:ext cx="5669280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83280" y="68580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里程碑進度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739128" y="786384"/>
            <a:ext cx="128016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03720" y="75895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計畫範圍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7434072" y="786384"/>
            <a:ext cx="128016" cy="1097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598664" y="75895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完成進度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8165592" y="786384"/>
            <a:ext cx="128016" cy="10972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330184" y="75895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5032866" y="996696"/>
            <a:ext cx="9144" cy="37124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60298" y="101498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2月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5535907" y="996696"/>
            <a:ext cx="9144" cy="37124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563339" y="101498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3月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6092845" y="996696"/>
            <a:ext cx="9144" cy="37124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120277" y="101498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4月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6631817" y="996696"/>
            <a:ext cx="9144" cy="37124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659249" y="101498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5月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7188755" y="996696"/>
            <a:ext cx="9144" cy="37124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216187" y="101498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6月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7727727" y="996696"/>
            <a:ext cx="9144" cy="37124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755159" y="101498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7月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8284665" y="996696"/>
            <a:ext cx="9144" cy="37124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312097" y="101498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8月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6828205" y="996696"/>
            <a:ext cx="18288" cy="35935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636181" y="4562856"/>
            <a:ext cx="402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3246120" y="1216152"/>
            <a:ext cx="5669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337560" y="1216152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需求與設計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4379976" y="1216152"/>
            <a:ext cx="301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4727448" y="1394460"/>
            <a:ext cx="4078224" cy="137160"/>
          </a:xfrm>
          <a:prstGeom prst="roundRect">
            <a:avLst>
              <a:gd name="adj" fmla="val 13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727448" y="1394460"/>
            <a:ext cx="1131842" cy="137160"/>
          </a:xfrm>
          <a:prstGeom prst="roundRect">
            <a:avLst>
              <a:gd name="adj" fmla="val 1333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727448" y="1394460"/>
            <a:ext cx="1131842" cy="137160"/>
          </a:xfrm>
          <a:prstGeom prst="roundRect">
            <a:avLst>
              <a:gd name="adj" fmla="val 13333"/>
            </a:avLst>
          </a:prstGeom>
          <a:ln w="12700">
            <a:solidFill>
              <a:srgbClr val="16A34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905010" y="1216152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4/4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3246120" y="1691640"/>
            <a:ext cx="5669280" cy="475488"/>
          </a:xfrm>
          <a:prstGeom prst="rect">
            <a:avLst/>
          </a:prstGeom>
          <a:solidFill>
            <a:srgbClr val="EEF4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337560" y="1691640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前端開發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4379976" y="1691640"/>
            <a:ext cx="301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4727448" y="1869948"/>
            <a:ext cx="4078224" cy="137160"/>
          </a:xfrm>
          <a:prstGeom prst="roundRect">
            <a:avLst>
              <a:gd name="adj" fmla="val 13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787427" y="1869948"/>
            <a:ext cx="880321" cy="137160"/>
          </a:xfrm>
          <a:prstGeom prst="roundRect">
            <a:avLst>
              <a:gd name="adj" fmla="val 1333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787427" y="1869948"/>
            <a:ext cx="880321" cy="137160"/>
          </a:xfrm>
          <a:prstGeom prst="roundRect">
            <a:avLst>
              <a:gd name="adj" fmla="val 13333"/>
            </a:avLst>
          </a:prstGeom>
          <a:ln w="12700">
            <a:solidFill>
              <a:srgbClr val="16A34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713468" y="1691640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3/3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3246120" y="2167128"/>
            <a:ext cx="5669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337560" y="2167128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後端 + OCR 整合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4379976" y="2167128"/>
            <a:ext cx="301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4727448" y="2345436"/>
            <a:ext cx="4078224" cy="137160"/>
          </a:xfrm>
          <a:prstGeom prst="roundRect">
            <a:avLst>
              <a:gd name="adj" fmla="val 13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787427" y="2345436"/>
            <a:ext cx="905474" cy="137160"/>
          </a:xfrm>
          <a:prstGeom prst="roundRect">
            <a:avLst>
              <a:gd name="adj" fmla="val 13333"/>
            </a:avLst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787427" y="2345436"/>
            <a:ext cx="1131842" cy="137160"/>
          </a:xfrm>
          <a:prstGeom prst="roundRect">
            <a:avLst>
              <a:gd name="adj" fmla="val 13333"/>
            </a:avLst>
          </a:prstGeom>
          <a:ln w="12700">
            <a:solidFill>
              <a:srgbClr val="2E6DB4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964989" y="2167128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4/5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3246120" y="2642616"/>
            <a:ext cx="5669280" cy="475488"/>
          </a:xfrm>
          <a:prstGeom prst="rect">
            <a:avLst/>
          </a:prstGeom>
          <a:solidFill>
            <a:srgbClr val="EEF4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337560" y="2642616"/>
            <a:ext cx="1024128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測試與上線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4379976" y="2642616"/>
            <a:ext cx="301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4727448" y="2820924"/>
            <a:ext cx="4078224" cy="137160"/>
          </a:xfrm>
          <a:prstGeom prst="roundRect">
            <a:avLst>
              <a:gd name="adj" fmla="val 13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045029" y="2820924"/>
            <a:ext cx="45720" cy="137160"/>
          </a:xfrm>
          <a:prstGeom prst="roundRect">
            <a:avLst>
              <a:gd name="adj" fmla="val 4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045029" y="2820924"/>
            <a:ext cx="1760643" cy="137160"/>
          </a:xfrm>
          <a:prstGeom prst="roundRect">
            <a:avLst>
              <a:gd name="adj" fmla="val 13333"/>
            </a:avLst>
          </a:prstGeom>
          <a:ln w="12700">
            <a:solidFill>
              <a:srgbClr val="64748B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理賠數位化　—　本期動態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23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14 天回顧 ｜ 2026/05/12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0" y="4919472"/>
            <a:ext cx="9006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動態  2 / 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530352"/>
            <a:ext cx="9144000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713232"/>
            <a:ext cx="20345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713232"/>
            <a:ext cx="73152" cy="8046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786384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188720" y="969264"/>
            <a:ext cx="9829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本期完成任務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00300" y="713232"/>
            <a:ext cx="20345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00300" y="713232"/>
            <a:ext cx="73152" cy="804672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83180" y="786384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360420" y="969264"/>
            <a:ext cx="9829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進行中 / 即將到期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0" y="713232"/>
            <a:ext cx="20345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713232"/>
            <a:ext cx="73152" cy="8046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786384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5532120" y="969264"/>
            <a:ext cx="9829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風險 / 需裁示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743700" y="713232"/>
            <a:ext cx="20345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43700" y="713232"/>
            <a:ext cx="73152" cy="8046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26580" y="786384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703820" y="969264"/>
            <a:ext cx="9829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待開始任務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1627632"/>
            <a:ext cx="2743200" cy="33147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28600" y="1627632"/>
            <a:ext cx="2743200" cy="3017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1627632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14 天完成（4）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93192" y="2112264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202082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電子核賠通知 (Email/簡訊)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48640" y="225856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Wendy · 2026/05/04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93192" y="2551176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245973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工作流引擎 (審核流程)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48640" y="269748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 · 2026/05/03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93192" y="2990088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2898648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服務整合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48640" y="3136392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Cathy · 2026/05/02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93192" y="3429000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333756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進度查詢頁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48640" y="3575304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Wendy · 2026/05/01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65760" y="468630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本期完成率　4/19 = 21%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108960" y="1627632"/>
            <a:ext cx="2743200" cy="33147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108960" y="1627632"/>
            <a:ext cx="2743200" cy="301752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46120" y="1627632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進行中 / 即將到期（1）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273552" y="2112264"/>
            <a:ext cx="91440" cy="91440"/>
          </a:xfrm>
          <a:prstGeom prst="ellipse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29000" y="202082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理賠批次作業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429000" y="2276856"/>
            <a:ext cx="347472" cy="146304"/>
          </a:xfrm>
          <a:prstGeom prst="roundRect">
            <a:avLst>
              <a:gd name="adj" fmla="val 12500"/>
            </a:avLst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29000" y="2276856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進行中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3822192" y="2276856"/>
            <a:ext cx="1892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 · 截止 2026/05/17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989320" y="1627632"/>
            <a:ext cx="2926080" cy="33147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5989320" y="1627632"/>
            <a:ext cx="2926080" cy="3017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26480" y="1627632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風險議題（0）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263640" y="2569464"/>
            <a:ext cx="2377440" cy="640080"/>
          </a:xfrm>
          <a:prstGeom prst="roundRect">
            <a:avLst>
              <a:gd name="adj" fmla="val 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63640" y="2569464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目前無風險議題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需主管裁示事項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23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按嚴重度排序 ｜ 6 件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530352"/>
            <a:ext cx="9144000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49808"/>
            <a:ext cx="502920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74980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749808"/>
            <a:ext cx="1234440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74980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專案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11680" y="749808"/>
            <a:ext cx="2423160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0" y="74980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議題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34840" y="749808"/>
            <a:ext cx="2240280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34840" y="74980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影響評估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75120" y="749808"/>
            <a:ext cx="2194560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74980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建議行動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1060704"/>
            <a:ext cx="85953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" y="1188720"/>
            <a:ext cx="356616" cy="42062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1188720"/>
            <a:ext cx="3566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50392" y="1115568"/>
            <a:ext cx="1106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保戶 App 改版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50392" y="1408176"/>
            <a:ext cx="1106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負責人 Vincent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103120" y="1115568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UX 使用者測試 (8人)　延遲 10 天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26280" y="1115568"/>
            <a:ext cx="2057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測試結果不佳，主流程需重做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766560" y="1115568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需裁示：是否加派人力 / 縮減範圍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1737360"/>
            <a:ext cx="8595360" cy="676656"/>
          </a:xfrm>
          <a:prstGeom prst="rect">
            <a:avLst/>
          </a:prstGeom>
          <a:solidFill>
            <a:srgbClr val="EEF4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" y="1865376"/>
            <a:ext cx="356616" cy="42062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1865376"/>
            <a:ext cx="3566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50392" y="1792224"/>
            <a:ext cx="1106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保戶 App 改版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50392" y="2084832"/>
            <a:ext cx="1106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負責人 Brian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103120" y="1792224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保戶身分驗證 (生物識別)　延遲 10 天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26280" y="1792224"/>
            <a:ext cx="2057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FaceID/指紋整合測試失敗，需資安團隊協助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766560" y="1792224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需裁示：是否加派人力 / 縮減範圍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2414016"/>
            <a:ext cx="85953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7472" y="2542032"/>
            <a:ext cx="356616" cy="42062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" y="2542032"/>
            <a:ext cx="3566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50392" y="2468880"/>
            <a:ext cx="1106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保戶 App 改版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50392" y="2761488"/>
            <a:ext cx="1106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負責人 Mia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103120" y="2468880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效能測試 (冷啟動&lt;2秒)　延遲 10 天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526280" y="2468880"/>
            <a:ext cx="2057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目前冷啟動 4.5 秒，未達標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766560" y="246888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需裁示：是否加派人力 / 縮減範圍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74320" y="3090672"/>
            <a:ext cx="8595360" cy="676656"/>
          </a:xfrm>
          <a:prstGeom prst="rect">
            <a:avLst/>
          </a:prstGeom>
          <a:solidFill>
            <a:srgbClr val="EEF4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47472" y="3218688"/>
            <a:ext cx="356616" cy="42062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472" y="3218688"/>
            <a:ext cx="3566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50392" y="3145536"/>
            <a:ext cx="1106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核保 AI 升級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50392" y="3438144"/>
            <a:ext cx="1106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負責人 Henry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103120" y="3145536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資料清洗與標註　標記為延遲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526280" y="3145536"/>
            <a:ext cx="2057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標註人力不足，已找外包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766560" y="3145536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需裁示：是否加派人力 / 縮減範圍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74320" y="3767328"/>
            <a:ext cx="85953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47472" y="3895344"/>
            <a:ext cx="356616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7472" y="3895344"/>
            <a:ext cx="3566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50392" y="3822192"/>
            <a:ext cx="1106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預算報支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850392" y="4114800"/>
            <a:ext cx="1106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負責人 Andy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103120" y="3822192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 Eportal 借支模組整合　延遲 10 天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526280" y="3822192"/>
            <a:ext cx="2057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Eportal API 規格確認中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766560" y="3822192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需協助排除阻礙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274320" y="4443984"/>
            <a:ext cx="8595360" cy="676656"/>
          </a:xfrm>
          <a:prstGeom prst="rect">
            <a:avLst/>
          </a:prstGeom>
          <a:solidFill>
            <a:srgbClr val="EEF4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47472" y="4572000"/>
            <a:ext cx="356616" cy="42062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47472" y="4572000"/>
            <a:ext cx="3566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850392" y="4498848"/>
            <a:ext cx="1106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預算報支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850392" y="4791456"/>
            <a:ext cx="1106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負責人 Andy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2103120" y="4498848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還款流程系統分析　延遲 3 天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4526280" y="4498848"/>
            <a:ext cx="2057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766560" y="4498848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請關注進度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73152" cy="5143500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5544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謝謝聆聽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269748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本期報告日期：2026/05/12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306324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下次回報日期：2026/05/19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專案管理報告</dc:title>
  <dc:subject>PptxGenJS Presentation</dc:subject>
  <dc:creator>PptxGenJS</dc:creator>
  <cp:lastModifiedBy>PptxGenJS</cp:lastModifiedBy>
  <cp:revision>1</cp:revision>
  <dcterms:created xsi:type="dcterms:W3CDTF">2026-05-12T02:33:57Z</dcterms:created>
  <dcterms:modified xsi:type="dcterms:W3CDTF">2026-05-12T02:33:57Z</dcterms:modified>
</cp:coreProperties>
</file>