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4864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8181B"/>
                </a:solidFill>
                <a:latin typeface="Calibri"/>
              </a:rPr>
              <a:t>專案管理週報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48640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71717A"/>
                </a:solidFill>
                <a:latin typeface="Calibri"/>
              </a:rPr>
              <a:t>Executive Status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95728"/>
            <a:ext cx="2560320" cy="731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3657600" cy="640080"/>
          </a:xfrm>
          <a:prstGeom prst="roundRect">
            <a:avLst>
              <a:gd name="adj" fmla="val 18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Calibri"/>
              </a:rPr>
              <a:t>2 個專案需立即關注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56432"/>
            <a:ext cx="457200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1717A"/>
                </a:solidFill>
                <a:latin typeface="Calibri"/>
              </a:rPr>
              <a:t>報告日期　2026/05/18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03904"/>
            <a:ext cx="457200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1717A"/>
                </a:solidFill>
                <a:latin typeface="Calibri"/>
              </a:rPr>
              <a:t>下次回報　2026/05/25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0"/>
            <a:ext cx="2743200" cy="5486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216152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18872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45920"/>
            <a:ext cx="16459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健康 專案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2267712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4028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97706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97480"/>
            <a:ext cx="16459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注意 專案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319272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291839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C2626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49039"/>
            <a:ext cx="16459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警報 專案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專案一覽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41248"/>
            <a:ext cx="269748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41248"/>
            <a:ext cx="64008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822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C2626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841248"/>
            <a:ext cx="16459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1717A"/>
                </a:solidFill>
                <a:latin typeface="Calibri"/>
              </a:rPr>
              <a:t>需立即關注　專案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841248"/>
            <a:ext cx="2697480" cy="777240"/>
          </a:xfrm>
          <a:prstGeom prst="rect">
            <a:avLst/>
          </a:prstGeom>
          <a:solidFill>
            <a:srgbClr val="FFFBEB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841248"/>
            <a:ext cx="6400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41248"/>
            <a:ext cx="822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9770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841248"/>
            <a:ext cx="16459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1717A"/>
                </a:solidFill>
                <a:latin typeface="Calibri"/>
              </a:rPr>
              <a:t>需要觀察　專案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841248"/>
            <a:ext cx="2697480" cy="777240"/>
          </a:xfrm>
          <a:prstGeom prst="rect">
            <a:avLst/>
          </a:prstGeom>
          <a:solidFill>
            <a:srgbClr val="F0FDF4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64008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841248"/>
            <a:ext cx="822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841248"/>
            <a:ext cx="16459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1717A"/>
                </a:solidFill>
                <a:latin typeface="Calibri"/>
              </a:rPr>
              <a:t>進度健康　專案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10512"/>
            <a:ext cx="3657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810512"/>
            <a:ext cx="36576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810512"/>
            <a:ext cx="16916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810512"/>
            <a:ext cx="16916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專案 /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1810512"/>
            <a:ext cx="7772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1810512"/>
            <a:ext cx="7772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1810512"/>
            <a:ext cx="14173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1810512"/>
            <a:ext cx="14173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進度 / 時間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1810512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810512"/>
            <a:ext cx="1188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1810512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1810512"/>
            <a:ext cx="82296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偏差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1810512"/>
            <a:ext cx="2331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810512"/>
            <a:ext cx="2331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本期關鍵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103120"/>
            <a:ext cx="85953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6616" y="2253996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1" y="2157984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" y="2377439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97706"/>
                </a:solidFill>
                <a:latin typeface="Calibri"/>
              </a:rPr>
              <a:t>Jeffery  ·  注意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21031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35%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18688" y="230886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18688" y="2308860"/>
            <a:ext cx="418054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30213" y="225399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8688" y="2441447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36%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2157984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2026/12/05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2377439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2026/11/30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210312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Calibri"/>
              </a:rPr>
              <a:t>+5 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210312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2.04 Eportal 借支模組整合（已逾期 16 天）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606039"/>
            <a:ext cx="8595360" cy="50292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6616" y="2756915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1" y="2660903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AET通訊處銜訓應用案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1" y="2880359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6A34A"/>
                </a:solidFill>
                <a:latin typeface="Calibri"/>
              </a:rPr>
              <a:t>Pamila  ·  健康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2606039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26%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18688" y="2811779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18688" y="2811779"/>
            <a:ext cx="315038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68502" y="2756915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18688" y="2944367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22%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2660903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2026/09/01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2880359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2026/09/30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2606039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-29 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2606039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2.03 資料庫設計（已逾期 2 天）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" y="3259836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1" y="3163824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理賠前掃優化案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1" y="3383279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97706"/>
                </a:solidFill>
                <a:latin typeface="Calibri"/>
              </a:rPr>
              <a:t>Edward  ·  注意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310896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42%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18688" y="331470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218688" y="3314700"/>
            <a:ext cx="507894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809893" y="325983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18688" y="3447288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50%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6280" y="3163824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2026/10/08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80" y="3383279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2026/08/30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0" y="310896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Calibri"/>
              </a:rPr>
              <a:t>+39 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9400" y="310896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2.07 即時掃描功能（已逾期 2 天）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6616" y="3762756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1" y="3666744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IFRS17專案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1" y="3886200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6A34A"/>
                </a:solidFill>
                <a:latin typeface="Calibri"/>
              </a:rPr>
              <a:t>Edward  ·  健康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361188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33%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18688" y="381762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18688" y="3817620"/>
            <a:ext cx="398888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11625" y="376275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18688" y="3950208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26%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80" y="3666744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2026/11/01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8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2026/12/31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0" y="361188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-60 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361188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2.07 安全與權限設計（已逾期 5 天）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114800"/>
            <a:ext cx="85953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56616" y="4265676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1" y="4169663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KH 升級案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3231" y="4389120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C2626"/>
                </a:solidFill>
                <a:latin typeface="Calibri"/>
              </a:rPr>
              <a:t>駿逸  ·  警報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31720" y="411480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38%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18688" y="432054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218688" y="4320540"/>
            <a:ext cx="449199" cy="1188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766770" y="426567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18688" y="4453128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47%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26280" y="4169663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2026/10/18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2628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2026/08/30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5000" y="411480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Calibri"/>
              </a:rPr>
              <a:t>+49 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29400" y="411480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2.05 相依套件清單確認（已逾期 16 天）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56616" y="4768596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1" y="4672583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3231" y="4892040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C2626"/>
                </a:solidFill>
                <a:latin typeface="Calibri"/>
              </a:rPr>
              <a:t>Leo  ·  警報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1720" y="46177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8%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218688" y="482346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218688" y="48234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89486" y="476859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18688" y="4956048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32%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26280" y="4672583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1A1AA"/>
                </a:solidFill>
                <a:latin typeface="Calibri"/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628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2026/10/30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15000" y="461772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1A1AA"/>
                </a:solidFill>
                <a:latin typeface="Calibri"/>
              </a:rPr>
              <a:t>資料不足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461772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C2626"/>
                </a:solidFill>
                <a:latin typeface="Calibri"/>
              </a:rPr>
              <a:t>1.03 測試案例設計（已逾期 44 天）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4320" y="5257800"/>
            <a:ext cx="859536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A1A1AA"/>
                </a:solidFill>
                <a:latin typeface="Calibri"/>
              </a:rPr>
              <a:t>需主管裁示事項：10 件　·　詳見各專案 Page 2 與彙整頁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Jeffery　·　2026/01/30 — 2026/11/30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97706"/>
                </a:solidFill>
                <a:latin typeface="Calibri"/>
              </a:rPr>
              <a:t>注意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系統上線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進度大致符合計畫，2 個任務出現風險訊號，需持續關注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12/05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+5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35%　·　時間 36%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404152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3176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43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1275906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87386" y="3950208"/>
            <a:ext cx="17012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57507" y="3950208"/>
            <a:ext cx="2211572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279392"/>
            <a:ext cx="128016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" y="4279392"/>
            <a:ext cx="12801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904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進行中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4279392"/>
            <a:ext cx="128016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048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風險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4279392"/>
            <a:ext cx="128016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待開始 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里程碑進度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2569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4397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2月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519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1348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9358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186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8233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062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8072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901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7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776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67863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86151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624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453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5500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329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5338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167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11月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2252" y="1234440"/>
            <a:ext cx="27432" cy="3543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71648" y="4631436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7706"/>
                </a:solidFill>
                <a:latin typeface="Calibri"/>
              </a:rPr>
              <a:t>今日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98848" y="14538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需求調查與分析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9240" y="14538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1609343"/>
            <a:ext cx="712269" cy="14630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06440" y="1609343"/>
            <a:ext cx="712269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6141" y="14538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12/12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0" y="1911095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98848" y="19110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系統開發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19110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20%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93581" y="2066543"/>
            <a:ext cx="1183907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93581" y="2066543"/>
            <a:ext cx="236781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04920" y="19110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3/15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98848" y="23682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測試驗收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49240" y="23682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71610" y="2523744"/>
            <a:ext cx="529389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71610" y="25237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28431" y="2368296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89120" y="2825496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98848" y="28254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上線部署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49240" y="28254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33623" y="2980944"/>
            <a:ext cx="798896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33623" y="29809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風險與決策事項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風險決策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86384"/>
            <a:ext cx="206197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本期完成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86384"/>
            <a:ext cx="206197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 / 到期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86384"/>
            <a:ext cx="206197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風險議題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86384"/>
            <a:ext cx="2061972" cy="5486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1A1AA"/>
                </a:solidFill>
                <a:latin typeface="Calibri"/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待開始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28216"/>
            <a:ext cx="278892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天完成（0）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152394"/>
            <a:ext cx="27889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A1A1AA"/>
                </a:solidFill>
                <a:latin typeface="Calibri"/>
              </a:rPr>
              <a:t>本期無完成任務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7248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7248" y="1728216"/>
            <a:ext cx="27889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 / 即將到期（3）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88" y="2240279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82696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Eportal 借支模組整合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56432" y="2514600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2514600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2" y="2514600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Kate  ·  截止 05/02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2660903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2696" y="2779776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還款流程開發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2935224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2935224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2935224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Sam  ·  截止 05/16</a:t>
            </a:r>
          </a:p>
        </p:txBody>
      </p:sp>
      <p:sp>
        <p:nvSpPr>
          <p:cNvPr id="44" name="Oval 43"/>
          <p:cNvSpPr/>
          <p:nvPr/>
        </p:nvSpPr>
        <p:spPr>
          <a:xfrm>
            <a:off x="3282696" y="3200400"/>
            <a:ext cx="91440" cy="91440"/>
          </a:xfrm>
          <a:prstGeom prst="ellipse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還款 API 設計與實作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56432" y="3355848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56432" y="3355848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待開始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355848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Jeffery  ·  截止 05/23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25896" y="1728216"/>
            <a:ext cx="2889504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25896" y="1728216"/>
            <a:ext cx="288950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0488" y="1819656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風險議題與建議行動（2）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25896" y="2167128"/>
            <a:ext cx="2889504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35624" y="2295144"/>
            <a:ext cx="2670048" cy="1097280"/>
          </a:xfrm>
          <a:prstGeom prst="rect">
            <a:avLst/>
          </a:prstGeom>
          <a:solidFill>
            <a:srgbClr val="FFFBEB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35624" y="2295144"/>
            <a:ext cx="6400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234086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Calibri"/>
              </a:rPr>
              <a:t>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234086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Kate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2569463"/>
            <a:ext cx="2505456" cy="493775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2400E"/>
                </a:solidFill>
                <a:latin typeface="Calibri"/>
              </a:rPr>
              <a:t>2.04 Eportal 借支模組整合（已逾期 16 天）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099816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D97706"/>
                </a:solidFill>
                <a:latin typeface="Calibri"/>
              </a:rPr>
              <a:t>→  需協助：釐清阻礙因素，評估是否調整計畫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35624" y="3483863"/>
            <a:ext cx="2670048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35624" y="3483863"/>
            <a:ext cx="64008" cy="109728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352958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1A1AA"/>
                </a:solidFill>
                <a:latin typeface="Calibri"/>
              </a:rPr>
              <a:t>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352958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Sam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3758183"/>
            <a:ext cx="2505456" cy="493775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2.05 還款流程開發（已逾期 2 天）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288536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A1A1AA"/>
                </a:solidFill>
                <a:latin typeface="Calibri"/>
              </a:rPr>
              <a:t>→  請關注進度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AET通訊處銜訓應用案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Pamila　·　2026/04/10 — 2026/09/30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6A34A"/>
                </a:solidFill>
                <a:latin typeface="Calibri"/>
              </a:rPr>
              <a:t>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系統上線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532D"/>
                </a:solidFill>
                <a:latin typeface="Calibri"/>
              </a:rPr>
              <a:t>進度依計畫推進，整體狀況良好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09/01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-29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26%　·　時間 22%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058143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0023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38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962526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74006" y="3950208"/>
            <a:ext cx="192505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6511" y="3950208"/>
            <a:ext cx="96252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62764" y="3950208"/>
            <a:ext cx="2406315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279392"/>
            <a:ext cx="128016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279392"/>
            <a:ext cx="12801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進行中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4279392"/>
            <a:ext cx="128016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風險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279392"/>
            <a:ext cx="128016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待開始 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里程碑進度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6162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991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85955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04243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9336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1165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1769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3598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4202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6030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35446" y="1234440"/>
            <a:ext cx="27432" cy="3543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4842" y="4631436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6A34A"/>
                </a:solidFill>
                <a:latin typeface="Calibri"/>
              </a:rPr>
              <a:t>今日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8848" y="14538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需求調查與規劃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14538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1609343"/>
            <a:ext cx="490498" cy="14630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06440" y="1609343"/>
            <a:ext cx="490498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4370" y="14538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8/8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1911095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98848" y="19110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系統設計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19110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43%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0146" y="2066543"/>
            <a:ext cx="558153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60146" y="2066543"/>
            <a:ext cx="240006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45732" y="19110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2/7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98848" y="23682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系統開發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23682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67559" y="2523744"/>
            <a:ext cx="1386928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67559" y="25237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81919" y="2368296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2825496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98848" y="28254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測試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49240" y="28254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51522" y="2980944"/>
            <a:ext cx="642722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51522" y="29809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98848" y="32826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上線部署與訓練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32826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06710" y="3438144"/>
            <a:ext cx="625809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06710" y="34381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AET通訊處銜訓應用案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風險與決策事項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風險決策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86384"/>
            <a:ext cx="206197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本期完成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86384"/>
            <a:ext cx="206197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 / 到期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86384"/>
            <a:ext cx="206197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風險議題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86384"/>
            <a:ext cx="2061972" cy="5486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1A1AA"/>
                </a:solidFill>
                <a:latin typeface="Calibri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待開始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28216"/>
            <a:ext cx="278892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天完成（4）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2359152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系統架構設計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2496311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Pamila  ·  完成 05/11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277977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風險評估與管控計畫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2916935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Pamila  ·  完成 05/08</a:t>
            </a:r>
          </a:p>
        </p:txBody>
      </p:sp>
      <p:sp>
        <p:nvSpPr>
          <p:cNvPr id="33" name="Oval 32"/>
          <p:cNvSpPr/>
          <p:nvPr/>
        </p:nvSpPr>
        <p:spPr>
          <a:xfrm>
            <a:off x="384048" y="320040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系統需求規格書 (SRS)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" y="3337559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Powei  ·  完成 05/08</a:t>
            </a:r>
          </a:p>
        </p:txBody>
      </p:sp>
      <p:sp>
        <p:nvSpPr>
          <p:cNvPr id="36" name="Oval 35"/>
          <p:cNvSpPr/>
          <p:nvPr/>
        </p:nvSpPr>
        <p:spPr>
          <a:xfrm>
            <a:off x="384048" y="362102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3538727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專案範疇與時程確認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3758183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Pamila  ·  完成 05/05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4613148"/>
            <a:ext cx="2459736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1A1AA"/>
                </a:solidFill>
                <a:latin typeface="Calibri"/>
              </a:rPr>
              <a:t>本期完成率　4 / 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7248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27248" y="1728216"/>
            <a:ext cx="27889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 / 即將到期（5）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27248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18688" y="2240279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82696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資料庫設計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6432" y="2514600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2514600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2514600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Powei  ·  截止 05/16</a:t>
            </a:r>
          </a:p>
        </p:txBody>
      </p:sp>
      <p:sp>
        <p:nvSpPr>
          <p:cNvPr id="50" name="Oval 49"/>
          <p:cNvSpPr/>
          <p:nvPr/>
        </p:nvSpPr>
        <p:spPr>
          <a:xfrm>
            <a:off x="3282696" y="27797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56432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API 規格設計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56432" y="2935224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56432" y="2935224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2935224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Ray  ·  截止 05/22</a:t>
            </a:r>
          </a:p>
        </p:txBody>
      </p:sp>
      <p:sp>
        <p:nvSpPr>
          <p:cNvPr id="55" name="Oval 54"/>
          <p:cNvSpPr/>
          <p:nvPr/>
        </p:nvSpPr>
        <p:spPr>
          <a:xfrm>
            <a:off x="3282696" y="32004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6432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UI/UX 設計稿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56432" y="3355848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56432" y="3355848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355848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Powei  ·  截止 05/23</a:t>
            </a:r>
          </a:p>
        </p:txBody>
      </p:sp>
      <p:sp>
        <p:nvSpPr>
          <p:cNvPr id="60" name="Oval 59"/>
          <p:cNvSpPr/>
          <p:nvPr/>
        </p:nvSpPr>
        <p:spPr>
          <a:xfrm>
            <a:off x="3282696" y="3621024"/>
            <a:ext cx="91440" cy="91440"/>
          </a:xfrm>
          <a:prstGeom prst="ellipse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56432" y="3538727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系統整合架構規劃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56432" y="3776472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56432" y="3776472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待開始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13632" y="3776472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Pamila  ·  截止 05/26</a:t>
            </a:r>
          </a:p>
        </p:txBody>
      </p:sp>
      <p:sp>
        <p:nvSpPr>
          <p:cNvPr id="65" name="Oval 64"/>
          <p:cNvSpPr/>
          <p:nvPr/>
        </p:nvSpPr>
        <p:spPr>
          <a:xfrm>
            <a:off x="3282696" y="4041648"/>
            <a:ext cx="91440" cy="91440"/>
          </a:xfrm>
          <a:prstGeom prst="ellipse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56432" y="3959351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安全性與權限設計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56432" y="4197096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56432" y="4197096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待開始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13632" y="4197096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Powei  ·  截止 05/28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25896" y="1728216"/>
            <a:ext cx="2889504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25896" y="1728216"/>
            <a:ext cx="288950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0488" y="1819656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風險議題與建議行動（1）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25896" y="2167128"/>
            <a:ext cx="2889504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35624" y="2295144"/>
            <a:ext cx="2670048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35624" y="2295144"/>
            <a:ext cx="64008" cy="109728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234086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1A1AA"/>
                </a:solidFill>
                <a:latin typeface="Calibri"/>
              </a:rPr>
              <a:t>低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234086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Powei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2569463"/>
            <a:ext cx="2505456" cy="493775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2.03 資料庫設計（已逾期 2 天）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3099816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A1A1AA"/>
                </a:solidFill>
                <a:latin typeface="Calibri"/>
              </a:rPr>
              <a:t>→  請關注進度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理賠前掃優化案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Edward　·　2026/02/01 — 2026/08/30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97706"/>
                </a:solidFill>
                <a:latin typeface="Calibri"/>
              </a:rPr>
              <a:t>注意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系統上線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進度大致符合計畫，1 個任務出現風險訊號，需持續關注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10/08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+39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42%　·　時間 50%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705904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6680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33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1551709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63189" y="3950208"/>
            <a:ext cx="332509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95698" y="3950208"/>
            <a:ext cx="110836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06534" y="3950208"/>
            <a:ext cx="1662545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279392"/>
            <a:ext cx="128016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279392"/>
            <a:ext cx="12801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進行中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4279392"/>
            <a:ext cx="128016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風險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279392"/>
            <a:ext cx="128016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待開始 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里程碑進度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644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2472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2月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658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4871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852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681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654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6482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8485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6773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9649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1478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844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4673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697" y="1234440"/>
            <a:ext cx="27432" cy="3543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09093" y="4631436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7706"/>
                </a:solidFill>
                <a:latin typeface="Calibri"/>
              </a:rPr>
              <a:t>今日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8848" y="14538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需求與規劃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9240" y="14538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1609343"/>
            <a:ext cx="710619" cy="14630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06440" y="1609343"/>
            <a:ext cx="710619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44491" y="14538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8/8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1911095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98848" y="19110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規則引擎開發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9240" y="19110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62%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33457" y="2066543"/>
            <a:ext cx="1114697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33457" y="2066543"/>
            <a:ext cx="691112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75586" y="19110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6/12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98848" y="23682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測試驗收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23682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80949" y="2523744"/>
            <a:ext cx="557348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80949" y="25237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65730" y="2368296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9120" y="2825496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98848" y="28254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上線與監控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28254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94033" y="2980944"/>
            <a:ext cx="738486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94033" y="29809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理賠前掃優化案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風險與決策事項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風險決策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86384"/>
            <a:ext cx="206197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本期完成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86384"/>
            <a:ext cx="206197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 / 到期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86384"/>
            <a:ext cx="206197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風險議題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86384"/>
            <a:ext cx="2061972" cy="5486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1A1AA"/>
                </a:solidFill>
                <a:latin typeface="Calibr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待開始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28216"/>
            <a:ext cx="278892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天完成（2）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2359152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批次排程作業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2496311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Martin  ·  完成 05/07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277977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例外處理與告警機制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2916935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James  ·  完成 05/07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4613148"/>
            <a:ext cx="2459736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1A1AA"/>
                </a:solidFill>
                <a:latin typeface="Calibri"/>
              </a:rPr>
              <a:t>本期完成率　2 / 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27248" y="1728216"/>
            <a:ext cx="27889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 / 即將到期（4）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18688" y="2240279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2696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即時掃描功能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2514600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2514600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2514600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Martin  ·  截止 05/16</a:t>
            </a:r>
          </a:p>
        </p:txBody>
      </p:sp>
      <p:sp>
        <p:nvSpPr>
          <p:cNvPr id="44" name="Oval 43"/>
          <p:cNvSpPr/>
          <p:nvPr/>
        </p:nvSpPr>
        <p:spPr>
          <a:xfrm>
            <a:off x="3282696" y="27797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規則版本管理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56432" y="2935224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56432" y="2935224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2935224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James  ·  截止 05/20</a:t>
            </a:r>
          </a:p>
        </p:txBody>
      </p:sp>
      <p:sp>
        <p:nvSpPr>
          <p:cNvPr id="49" name="Oval 48"/>
          <p:cNvSpPr/>
          <p:nvPr/>
        </p:nvSpPr>
        <p:spPr>
          <a:xfrm>
            <a:off x="3282696" y="32004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6432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API 整合開發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6432" y="3355848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3355848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2" y="3355848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Edward  ·  截止 05/23</a:t>
            </a:r>
          </a:p>
        </p:txBody>
      </p:sp>
      <p:sp>
        <p:nvSpPr>
          <p:cNvPr id="54" name="Oval 53"/>
          <p:cNvSpPr/>
          <p:nvPr/>
        </p:nvSpPr>
        <p:spPr>
          <a:xfrm>
            <a:off x="3282696" y="3621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56432" y="3538727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前端報表介面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56432" y="3776472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432" y="3776472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776472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Martin  ·  截止 05/30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25896" y="1728216"/>
            <a:ext cx="2889504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25896" y="1728216"/>
            <a:ext cx="288950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0488" y="1819656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風險議題與建議行動（1）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25896" y="2167128"/>
            <a:ext cx="2889504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35624" y="2295144"/>
            <a:ext cx="2670048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35624" y="2295144"/>
            <a:ext cx="64008" cy="109728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234086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1A1AA"/>
                </a:solidFill>
                <a:latin typeface="Calibri"/>
              </a:rPr>
              <a:t>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234086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Martin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2569463"/>
            <a:ext cx="2505456" cy="493775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2.07 即時掃描功能（已逾期 2 天）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3099816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A1A1AA"/>
                </a:solidFill>
                <a:latin typeface="Calibri"/>
              </a:rPr>
              <a:t>→  請關注進度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IFRS17專案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Edward　·　2026/03/01 — 2026/12/31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6A34A"/>
                </a:solidFill>
                <a:latin typeface="Calibri"/>
              </a:rPr>
              <a:t>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系統上線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532D"/>
                </a:solidFill>
                <a:latin typeface="Calibri"/>
              </a:rPr>
              <a:t>進度超前約 8%，依計畫順利推進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11/01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-60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33%　·　時間 26%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339778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44864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42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1219200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30680" y="3950208"/>
            <a:ext cx="261257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91937" y="3950208"/>
            <a:ext cx="87085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79022" y="3950208"/>
            <a:ext cx="2090057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279392"/>
            <a:ext cx="128016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279392"/>
            <a:ext cx="12801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進行中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4279392"/>
            <a:ext cx="128016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風險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279392"/>
            <a:ext cx="128016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待開始 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里程碑進度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644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2472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1288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117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944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773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1589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418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1245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3074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890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3719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2535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4364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2191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4020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836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4665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11月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2492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4321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12月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63785" y="1234440"/>
            <a:ext cx="27432" cy="3543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3181" y="4631436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6A34A"/>
                </a:solidFill>
                <a:latin typeface="Calibri"/>
              </a:rPr>
              <a:t>今日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14538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法規分析與規劃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9240" y="14538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06440" y="1609343"/>
            <a:ext cx="395416" cy="14630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06440" y="1609343"/>
            <a:ext cx="395416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29288" y="14538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8/8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1911095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98848" y="19110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系統設計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49240" y="19110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86%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12887" y="2066543"/>
            <a:ext cx="415187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12887" y="2066543"/>
            <a:ext cx="357060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55506" y="19110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6/7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848" y="23682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核心模組開發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23682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Calibri"/>
              </a:rPr>
              <a:t>11%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39105" y="2523744"/>
            <a:ext cx="1275217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39105" y="2523744"/>
            <a:ext cx="140273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41755" y="2368296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0/14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89120" y="2825496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98848" y="28254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測試驗收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49240" y="28254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25354" y="2980944"/>
            <a:ext cx="869915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5354" y="29809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498848" y="32826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上線準備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49240" y="32826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76645" y="3438144"/>
            <a:ext cx="355874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76645" y="34381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IFRS17專案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風險與決策事項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風險決策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86384"/>
            <a:ext cx="206197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本期完成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86384"/>
            <a:ext cx="206197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 / 到期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86384"/>
            <a:ext cx="206197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風險議題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86384"/>
            <a:ext cx="2061972" cy="5486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1A1AA"/>
                </a:solidFill>
                <a:latin typeface="Calibr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待開始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28216"/>
            <a:ext cx="278892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天完成（2）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2359152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技術規格書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2496311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IED  ·  完成 05/08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277977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介接架構設計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2916935"/>
            <a:ext cx="233172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浩倫  ·  完成 05/05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4613148"/>
            <a:ext cx="2459736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1A1AA"/>
                </a:solidFill>
                <a:latin typeface="Calibri"/>
              </a:rPr>
              <a:t>本期完成率　2 / 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27248" y="1728216"/>
            <a:ext cx="27889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 / 即將到期（4）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18688" y="2240279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2696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安全與權限設計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2514600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2514600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2514600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Edward  ·  截止 05/13</a:t>
            </a:r>
          </a:p>
        </p:txBody>
      </p:sp>
      <p:sp>
        <p:nvSpPr>
          <p:cNvPr id="44" name="Oval 43"/>
          <p:cNvSpPr/>
          <p:nvPr/>
        </p:nvSpPr>
        <p:spPr>
          <a:xfrm>
            <a:off x="3282696" y="27797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保險合約分組模組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56432" y="2935224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56432" y="2935224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2935224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IED  ·  截止 06/15</a:t>
            </a:r>
          </a:p>
        </p:txBody>
      </p:sp>
      <p:sp>
        <p:nvSpPr>
          <p:cNvPr id="49" name="Oval 48"/>
          <p:cNvSpPr/>
          <p:nvPr/>
        </p:nvSpPr>
        <p:spPr>
          <a:xfrm>
            <a:off x="3282696" y="32004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6432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衡量模型基礎引擎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6432" y="3355848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3355848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2" y="3355848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浩倫  ·  截止 06/20</a:t>
            </a:r>
          </a:p>
        </p:txBody>
      </p:sp>
      <p:sp>
        <p:nvSpPr>
          <p:cNvPr id="54" name="Oval 53"/>
          <p:cNvSpPr/>
          <p:nvPr/>
        </p:nvSpPr>
        <p:spPr>
          <a:xfrm>
            <a:off x="3282696" y="3621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56432" y="3538727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精算計算引擎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56432" y="3776472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432" y="3776472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776472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浩倫  ·  截止 06/27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25896" y="1728216"/>
            <a:ext cx="2889504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25896" y="1728216"/>
            <a:ext cx="288950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0488" y="1819656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風險議題與建議行動（1）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25896" y="2167128"/>
            <a:ext cx="2889504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35624" y="2295144"/>
            <a:ext cx="2670048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35624" y="2295144"/>
            <a:ext cx="64008" cy="109728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234086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1A1AA"/>
                </a:solidFill>
                <a:latin typeface="Calibri"/>
              </a:rPr>
              <a:t>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234086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Edward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2569463"/>
            <a:ext cx="2505456" cy="493775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2.07 安全與權限設計（已逾期 5 天）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3099816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A1A1AA"/>
                </a:solidFill>
                <a:latin typeface="Calibri"/>
              </a:rPr>
              <a:t>→  請關注進度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KH 升級案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駿逸　·　2026/02/15 — 2026/08/30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C2626"/>
                </a:solidFill>
                <a:latin typeface="Calibri"/>
              </a:rPr>
              <a:t>警報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完成系統導入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91B1B"/>
                </a:solidFill>
                <a:latin typeface="Calibri"/>
              </a:rPr>
              <a:t>4 個任務出現嚴重風險，影響整體上線時程，需立即裁示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10/18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+49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38%　·　時間 47%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508760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1839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32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1371600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83080" y="3950208"/>
            <a:ext cx="228600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11680" y="3950208"/>
            <a:ext cx="45720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3950208"/>
            <a:ext cx="1600200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279392"/>
            <a:ext cx="128016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279392"/>
            <a:ext cx="12801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進行中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4279392"/>
            <a:ext cx="128016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風險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279392"/>
            <a:ext cx="128016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待開始 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里程碑進度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54713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73001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0446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274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647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476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622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0451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1823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3652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24235" y="1234440"/>
            <a:ext cx="27432" cy="3543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63631" y="4631436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C2626"/>
                </a:solidFill>
                <a:latin typeface="Calibri"/>
              </a:rPr>
              <a:t>今日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8848" y="14538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環境評估與規劃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14538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1609343"/>
            <a:ext cx="762554" cy="14630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06440" y="1609343"/>
            <a:ext cx="76255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96426" y="14538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8/8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1911095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98848" y="19110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前置準備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19110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50%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80325" y="2066543"/>
            <a:ext cx="1046295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80325" y="2066543"/>
            <a:ext cx="523147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54052" y="19110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4/10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98848" y="23682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升級執行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23682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73418" y="2523744"/>
            <a:ext cx="638417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73418" y="25237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9268" y="2368296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2825496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98848" y="28254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驗收與監控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49240" y="28254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23167" y="2980944"/>
            <a:ext cx="709352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023167" y="29809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KH 升級案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風險與決策事項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風險決策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86384"/>
            <a:ext cx="206197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本期完成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86384"/>
            <a:ext cx="206197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 / 到期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86384"/>
            <a:ext cx="206197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風險議題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86384"/>
            <a:ext cx="2061972" cy="5486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1A1AA"/>
                </a:solidFill>
                <a:latin typeface="Calibri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待開始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28216"/>
            <a:ext cx="278892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天完成（0）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152394"/>
            <a:ext cx="27889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A1A1AA"/>
                </a:solidFill>
                <a:latin typeface="Calibri"/>
              </a:rPr>
              <a:t>本期無完成任務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7248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7248" y="1728216"/>
            <a:ext cx="27889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 / 即將到期（8）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88" y="2240279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82696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相依套件清單確認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56432" y="2514600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2514600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2" y="2514600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Victor  ·  截止 05/02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2660903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2696" y="2779776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DB Schema 升級腳本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2935224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2935224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風險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2935224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Victor  ·  截止 05/09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3081527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82696" y="3200400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套件相依性衝突解決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6432" y="3355848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3355848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355848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Iris  ·  截止 05/16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3502151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82696" y="362102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3538727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資料移轉腳本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56432" y="3776472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6432" y="3776472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776472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駿逸  ·  截止 05/16</a:t>
            </a:r>
          </a:p>
        </p:txBody>
      </p:sp>
      <p:sp>
        <p:nvSpPr>
          <p:cNvPr id="56" name="Oval 55"/>
          <p:cNvSpPr/>
          <p:nvPr/>
        </p:nvSpPr>
        <p:spPr>
          <a:xfrm>
            <a:off x="3282696" y="40416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432" y="3959351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設定檔遷移腳本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56432" y="4197096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56432" y="4197096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進行中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4197096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駿逸  ·  截止 05/20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25896" y="1728216"/>
            <a:ext cx="2889504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25896" y="1728216"/>
            <a:ext cx="288950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0488" y="1819656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風險議題與建議行動（4）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25896" y="2167128"/>
            <a:ext cx="2889504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35624" y="2295144"/>
            <a:ext cx="2670048" cy="989838"/>
          </a:xfrm>
          <a:prstGeom prst="rect">
            <a:avLst/>
          </a:prstGeom>
          <a:solidFill>
            <a:srgbClr val="FFFBEB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35624" y="2295144"/>
            <a:ext cx="64008" cy="98983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234086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Calibri"/>
              </a:rPr>
              <a:t>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0840" y="234086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Victor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2569463"/>
            <a:ext cx="2505456" cy="38633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2400E"/>
                </a:solidFill>
                <a:latin typeface="Calibri"/>
              </a:rPr>
              <a:t>2.05 相依套件清單確認（已逾期 16 天）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2992374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D97706"/>
                </a:solidFill>
                <a:latin typeface="Calibri"/>
              </a:rPr>
              <a:t>→  需協助：釐清阻礙因素，評估是否調整計畫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35624" y="3376422"/>
            <a:ext cx="2670048" cy="989838"/>
          </a:xfrm>
          <a:prstGeom prst="rect">
            <a:avLst/>
          </a:prstGeom>
          <a:solidFill>
            <a:srgbClr val="FFFBEB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35624" y="3376422"/>
            <a:ext cx="64008" cy="98983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3422141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Calibri"/>
              </a:rPr>
              <a:t>中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3422141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Victor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3650741"/>
            <a:ext cx="2505456" cy="38633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2400E"/>
                </a:solidFill>
                <a:latin typeface="Calibri"/>
              </a:rPr>
              <a:t>2.07 DB Schema 升級腳本（已逾期 9 天）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4073652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D97706"/>
                </a:solidFill>
                <a:latin typeface="Calibri"/>
              </a:rPr>
              <a:t>→  需協助：釐清阻礙因素，評估是否調整計畫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90488" y="4594860"/>
            <a:ext cx="25603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A1A1AA"/>
                </a:solidFill>
                <a:latin typeface="Calibri"/>
              </a:rPr>
              <a:t>另有 2 件風險議題，詳見彙整頁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Leo　·　2026/03/01 — 2026/10/30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C2626"/>
                </a:solidFill>
                <a:latin typeface="Calibri"/>
              </a:rPr>
              <a:t>警報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完成UAT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91B1B"/>
                </a:solidFill>
                <a:latin typeface="Calibri"/>
              </a:rPr>
              <a:t>7 個任務出現嚴重風險，影響整體上線時程，需立即裁示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1A1AA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預估完工（資料不足）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1A1AA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8%　·　時間 32%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309798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06382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39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281353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2833" y="3950208"/>
            <a:ext cx="93784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618" y="3950208"/>
            <a:ext cx="656492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3110" y="3950208"/>
            <a:ext cx="2625969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279392"/>
            <a:ext cx="128016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279392"/>
            <a:ext cx="12801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進行中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4279392"/>
            <a:ext cx="128016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風險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279392"/>
            <a:ext cx="128016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4242816"/>
            <a:ext cx="7315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待開始 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里程碑進度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644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2472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9725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8013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4097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925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1425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3254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7550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9378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4878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6707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2207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036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8331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0160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31959" y="1234440"/>
            <a:ext cx="27432" cy="3543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1355" y="4631436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C2626"/>
                </a:solidFill>
                <a:latin typeface="Calibri"/>
              </a:rPr>
              <a:t>今日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98848" y="14538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UAT 規劃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14538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43%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06440" y="1609343"/>
            <a:ext cx="662281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06440" y="1609343"/>
            <a:ext cx="284781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6153" y="14538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3/7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1911095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98848" y="1911095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核心業務功能測試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1911095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Calibri"/>
              </a:rPr>
              <a:t>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48306" y="2066543"/>
            <a:ext cx="939235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48306" y="2066543"/>
            <a:ext cx="37569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4974" y="1911095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8848" y="23682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介面與整合測試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49240" y="23682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82837" y="2523744"/>
            <a:ext cx="565949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2837" y="25237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76218" y="2368296"/>
            <a:ext cx="5029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0/8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89120" y="2825496"/>
            <a:ext cx="4526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98848" y="28254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缺陷修復與驗收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49240" y="28254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04288" y="2980944"/>
            <a:ext cx="1047608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04288" y="29809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98848" y="3282696"/>
            <a:ext cx="960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B"/>
                </a:solidFill>
                <a:latin typeface="Calibri"/>
              </a:rPr>
              <a:t>結案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49240" y="3282696"/>
            <a:ext cx="4114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91690" y="3438144"/>
            <a:ext cx="240829" cy="146304"/>
          </a:xfrm>
          <a:prstGeom prst="rect">
            <a:avLst/>
          </a:prstGeom>
          <a:solidFill>
            <a:srgbClr val="F8FAFC"/>
          </a:solidFill>
          <a:ln w="762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91690" y="3438144"/>
            <a:ext cx="36576" cy="14630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風險與決策事項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風險決策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86384"/>
            <a:ext cx="206197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本期完成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86384"/>
            <a:ext cx="206197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 / 到期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86384"/>
            <a:ext cx="206197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風險議題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86384"/>
            <a:ext cx="20619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86384"/>
            <a:ext cx="2061972" cy="54864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859536"/>
            <a:ext cx="2061972" cy="4274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1A1AA"/>
                </a:solidFill>
                <a:latin typeface="Calibri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1271016"/>
            <a:ext cx="206197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待開始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728216"/>
            <a:ext cx="278892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天完成（0）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152394"/>
            <a:ext cx="27889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A1A1AA"/>
                </a:solidFill>
                <a:latin typeface="Calibri"/>
              </a:rPr>
              <a:t>本期無完成任務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7248" y="1728216"/>
            <a:ext cx="2788920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7248" y="1728216"/>
            <a:ext cx="27889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1819656"/>
            <a:ext cx="245973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 / 即將到期（8）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2167128"/>
            <a:ext cx="278892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88" y="2240279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82696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2276856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測試案例設計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56432" y="2514600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2514600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2" y="2514600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SL-Kenny  ·  截止 04/04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2660903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2696" y="2779776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2697479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高風險案例設計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2935224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2935224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2935224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SL-Kenny  ·  截止 04/11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3081527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82696" y="3200400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3118103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UAT 測試環境建置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6432" y="3355848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3355848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355848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SL-Frank  ·  截止 04/11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3502151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82696" y="362102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3538727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UAT 測試資料準備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56432" y="3776472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6432" y="3776472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776472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Sam  ·  截止 04/25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18688" y="3922776"/>
            <a:ext cx="2606039" cy="38404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282696" y="4041648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56432" y="3959351"/>
            <a:ext cx="23317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保費計算模組測試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56432" y="4197096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56432" y="4197096"/>
            <a:ext cx="41148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延遲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2" y="4197096"/>
            <a:ext cx="1874519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1717A"/>
                </a:solidFill>
                <a:latin typeface="Calibri"/>
              </a:rPr>
              <a:t>SL-Kenny  ·  截止 05/02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25896" y="1728216"/>
            <a:ext cx="2889504" cy="31226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25896" y="1728216"/>
            <a:ext cx="288950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90488" y="1819656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風險議題與建議行動（7）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25896" y="2167128"/>
            <a:ext cx="2889504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35624" y="2295144"/>
            <a:ext cx="2670048" cy="989838"/>
          </a:xfrm>
          <a:prstGeom prst="rect">
            <a:avLst/>
          </a:prstGeom>
          <a:solidFill>
            <a:srgbClr val="FEF2F2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35624" y="2295144"/>
            <a:ext cx="64008" cy="98983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2340863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C2626"/>
                </a:solidFill>
                <a:latin typeface="Calibri"/>
              </a:rPr>
              <a:t>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0840" y="2340863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SL-Kenny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2569463"/>
            <a:ext cx="2505456" cy="38633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91B1B"/>
                </a:solidFill>
                <a:latin typeface="Calibri"/>
              </a:rPr>
              <a:t>1.03 測試案例設計（已逾期 44 天）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2992374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DC2626"/>
                </a:solidFill>
                <a:latin typeface="Calibri"/>
              </a:rPr>
              <a:t>→  需裁示：加派人力 / 縮減範圍 / 調整上線時程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35624" y="3376422"/>
            <a:ext cx="2670048" cy="989838"/>
          </a:xfrm>
          <a:prstGeom prst="rect">
            <a:avLst/>
          </a:prstGeom>
          <a:solidFill>
            <a:srgbClr val="FEF2F2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35624" y="3376422"/>
            <a:ext cx="64008" cy="98983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3422141"/>
            <a:ext cx="41148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C2626"/>
                </a:solidFill>
                <a:latin typeface="Calibri"/>
              </a:rPr>
              <a:t>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0840" y="3422141"/>
            <a:ext cx="204825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1717A"/>
                </a:solidFill>
                <a:latin typeface="Calibri"/>
              </a:rPr>
              <a:t>SL-Kenny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650741"/>
            <a:ext cx="2505456" cy="38633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91B1B"/>
                </a:solidFill>
                <a:latin typeface="Calibri"/>
              </a:rPr>
              <a:t>1.04 高風險案例設計（已逾期 37 天）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4073652"/>
            <a:ext cx="2505456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1" i="0">
                <a:solidFill>
                  <a:srgbClr val="DC2626"/>
                </a:solidFill>
                <a:latin typeface="Calibri"/>
              </a:rPr>
              <a:t>→  需裁示：加派人力 / 縮減範圍 / 調整上線時程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90488" y="4594860"/>
            <a:ext cx="25603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A1A1AA"/>
                </a:solidFill>
                <a:latin typeface="Calibri"/>
              </a:rPr>
              <a:t>另有 5 件風險議題，詳見彙整頁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需主管裁示事項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高嚴重度 6　·　中嚴重度 4　·　2026/05/18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41248"/>
            <a:ext cx="5029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41248"/>
            <a:ext cx="50292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嚴重度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841248"/>
            <a:ext cx="14173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41248"/>
            <a:ext cx="141732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專案 /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841248"/>
            <a:ext cx="24231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841248"/>
            <a:ext cx="242316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議題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841248"/>
            <a:ext cx="21031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841248"/>
            <a:ext cx="210312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影響說明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841248"/>
            <a:ext cx="214884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841248"/>
            <a:ext cx="214884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建議行動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152144"/>
            <a:ext cx="8595360" cy="51141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1298448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298448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1216152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1517904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SL-Kenny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1207008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1.03 測試案例設計（已逾期 44 天）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207008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案例設計嚴重落後，已逾期 5 週；複雜度超預期，已申請追加 2 名測試人力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207008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需裁示：加派人力 / 縮減範圍 / 調整上線時程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663554"/>
            <a:ext cx="8595360" cy="51141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1809858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1809858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1727562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029314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SL-Kenny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1718418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1.04 高風險案例設計（已逾期 37 天）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1718418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依賴 1.03 結果，預估再延後 3 週；範圍恐需重新評估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1718418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需裁示：加派人力 / 縮減範圍 / 調整上線時程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174965"/>
            <a:ext cx="8595360" cy="51141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" y="2321269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321269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2238973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2540725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SL-Frank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2229829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1.05 UAT 測試環境建置（已逾期 37 天）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229829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環境異常（DB connection pool / API gateway 設定），Infra 修復中，阻塞所有測試啟動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229829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需裁示：加派人力 / 縮減範圍 / 調整上線時程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686376"/>
            <a:ext cx="8595360" cy="51141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760" y="2832680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832680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750384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" y="3052136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Sam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2741240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1.06 UAT 測試資料準備（已逾期 23 天）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741240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資料客戶遮罩規則異常需重新匯出，影響資料量約 30%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2741240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需裁示：加派人力 / 縮減範圍 / 調整上線時程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197787"/>
            <a:ext cx="8595360" cy="51141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5760" y="3344091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344091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3261795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" y="3563547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SL-Kenny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3252651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2.01 保費計算模組測試（已逾期 16 天）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252651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保費計算結果與精算系統差異達 5%，業務衝擊大，已升級至 PM 與開發團隊處理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3252651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需裁示：加派人力 / 縮減範圍 / 調整上線時程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709198"/>
            <a:ext cx="8595360" cy="51141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" y="3855502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855502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3773206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UAT高風險處理案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" y="4074958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SL-Frank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3764062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2.02 核保流程完整測試（已逾期 9 天）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3764062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核保規則邏輯缺陷影響 30% 案件，需求變更單已開立；預估增加 2 週開發週期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3764062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需裁示：加派人力 / 縮減範圍 / 調整上線時程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220609"/>
            <a:ext cx="8595360" cy="51141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65760" y="4366913"/>
            <a:ext cx="329184" cy="218802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4366913"/>
            <a:ext cx="329184" cy="21880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" y="4284617"/>
            <a:ext cx="1271016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" y="4586369"/>
            <a:ext cx="1271016" cy="54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Kate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000" y="4275473"/>
            <a:ext cx="224027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181B"/>
                </a:solidFill>
                <a:latin typeface="Calibri"/>
              </a:rPr>
              <a:t>2.04 Eportal 借支模組整合（已逾期 16 天）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60" y="4275473"/>
            <a:ext cx="1920239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1717A"/>
                </a:solidFill>
                <a:latin typeface="Calibri"/>
              </a:rPr>
              <a:t>Eportal 廠商 API 規格異動，待 5/14 廠商確認；可能延後 1 週影響 2.06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12280" y="4275473"/>
            <a:ext cx="1965960" cy="4016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需協助：釐清阻礙因素，評估是否調整計畫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4823459"/>
            <a:ext cx="859536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A1A1AA"/>
                </a:solidFill>
                <a:latin typeface="Calibri"/>
              </a:rPr>
              <a:t>另有 3 件高/中嚴重度事項　·　另有 6 件低嚴重度事項，請參閱各專案 Page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8181B"/>
                </a:solidFill>
                <a:latin typeface="Calibri"/>
              </a:rPr>
              <a:t>謝謝聆聽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743200"/>
            <a:ext cx="2743200" cy="731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914400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717A"/>
                </a:solidFill>
                <a:latin typeface="Calibri"/>
              </a:rPr>
              <a:t>本期報告　2026/05/18　　·　　下次回報　2026/05/25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