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4864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8181B"/>
                </a:solidFill>
                <a:latin typeface="Calibri"/>
              </a:rPr>
              <a:t>專案管理週報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48640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71717A"/>
                </a:solidFill>
                <a:latin typeface="Calibri"/>
              </a:rPr>
              <a:t>Executive Status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95728"/>
            <a:ext cx="2560320" cy="731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560320"/>
            <a:ext cx="3657600" cy="640080"/>
          </a:xfrm>
          <a:prstGeom prst="roundRect">
            <a:avLst>
              <a:gd name="adj" fmla="val 18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Calibri"/>
              </a:rPr>
              <a:t>1 個專案需立即關注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56432"/>
            <a:ext cx="457200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1717A"/>
                </a:solidFill>
                <a:latin typeface="Calibri"/>
              </a:rPr>
              <a:t>報告日期　2026/05/26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03904"/>
            <a:ext cx="4572000" cy="3108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1717A"/>
                </a:solidFill>
                <a:latin typeface="Calibri"/>
              </a:rPr>
              <a:t>下次回報　2026/06/02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0"/>
            <a:ext cx="2743200" cy="5486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216152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18872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6A34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645920"/>
            <a:ext cx="16459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健康 專案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2267712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4028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97706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97480"/>
            <a:ext cx="16459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注意 專案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319272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291839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49039"/>
            <a:ext cx="16459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警報 專案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專案一覽　·　2026/05/26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41248"/>
            <a:ext cx="269748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41248"/>
            <a:ext cx="64008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822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841248"/>
            <a:ext cx="16459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1717A"/>
                </a:solidFill>
                <a:latin typeface="Calibri"/>
              </a:rPr>
              <a:t>需立即關注　專案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79" y="841248"/>
            <a:ext cx="2697480" cy="777240"/>
          </a:xfrm>
          <a:prstGeom prst="rect">
            <a:avLst/>
          </a:prstGeom>
          <a:solidFill>
            <a:srgbClr val="FFFBEB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841248"/>
            <a:ext cx="6400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41248"/>
            <a:ext cx="822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D97706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841248"/>
            <a:ext cx="16459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1717A"/>
                </a:solidFill>
                <a:latin typeface="Calibri"/>
              </a:rPr>
              <a:t>需要觀察　專案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841248"/>
            <a:ext cx="2697480" cy="777240"/>
          </a:xfrm>
          <a:prstGeom prst="rect">
            <a:avLst/>
          </a:prstGeom>
          <a:solidFill>
            <a:srgbClr val="F0FDF4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64008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841248"/>
            <a:ext cx="822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A34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841248"/>
            <a:ext cx="16459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1717A"/>
                </a:solidFill>
                <a:latin typeface="Calibri"/>
              </a:rPr>
              <a:t>進度健康　專案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10512"/>
            <a:ext cx="3657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810512"/>
            <a:ext cx="36576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1810512"/>
            <a:ext cx="16916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810512"/>
            <a:ext cx="16916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專案 /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1810512"/>
            <a:ext cx="7772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1810512"/>
            <a:ext cx="7772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1810512"/>
            <a:ext cx="14173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1810512"/>
            <a:ext cx="14173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進度 / 時間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1810512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810512"/>
            <a:ext cx="1188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1810512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1810512"/>
            <a:ext cx="82296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偏差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1810512"/>
            <a:ext cx="2331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810512"/>
            <a:ext cx="2331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1717A"/>
                </a:solidFill>
                <a:latin typeface="Calibri"/>
              </a:rPr>
              <a:t>本期關鍵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103120"/>
            <a:ext cx="85953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6616" y="2253996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1" y="2157984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預算報支專案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" y="2377439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C2626"/>
                </a:solidFill>
                <a:latin typeface="Calibri"/>
              </a:rPr>
              <a:t>Jeffery  ·  警報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21031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48%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18688" y="230886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18688" y="2308860"/>
            <a:ext cx="574974" cy="1188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18855" y="225399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18688" y="2441447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43%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2157984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2026/10/25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2377439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2026/11/30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210312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-36 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210312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7706"/>
                </a:solidFill>
                <a:latin typeface="Calibri"/>
              </a:rPr>
              <a:t>4.1.5 審核流程 API (含分層簽核) ⚠（已逾期 4 天）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606039"/>
            <a:ext cx="8595360" cy="50292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6616" y="2756915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1" y="2660903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理賠前掃優化案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1" y="2880359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97706"/>
                </a:solidFill>
                <a:latin typeface="Calibri"/>
              </a:rPr>
              <a:t>Edward  ·  注意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2606039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38%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18688" y="2811779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18688" y="2811779"/>
            <a:ext cx="452792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88909" y="2756915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18688" y="2944367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40%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2660903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2026/10/14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2880359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2026/09/30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0" y="2606039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Calibri"/>
              </a:rPr>
              <a:t>+14 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2606039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97706"/>
                </a:solidFill>
                <a:latin typeface="Calibri"/>
              </a:rPr>
              <a:t>9.1.3 緊急需求變更(總公司新政策)（已逾期 11 天）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108960"/>
            <a:ext cx="85953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6616" y="3259836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1" y="3163824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KH 升級案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1" y="3383279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6A34A"/>
                </a:solidFill>
                <a:latin typeface="Calibri"/>
              </a:rPr>
              <a:t>ChunYi  ·  健康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310896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26%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18688" y="331470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218688" y="3314700"/>
            <a:ext cx="315038" cy="1188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08031" y="325983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18688" y="3447288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25%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6280" y="3163824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2026/12/13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6280" y="3383279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2026/12/25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0" y="310896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-12 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9400" y="310896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6A34A"/>
                </a:solidFill>
                <a:latin typeface="Calibri"/>
              </a:rPr>
              <a:t>進度正常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6616" y="3762756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1" y="3666744"/>
            <a:ext cx="1545336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B"/>
                </a:solidFill>
                <a:latin typeface="Calibri"/>
              </a:rPr>
              <a:t>IFRS17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1" y="3886200"/>
            <a:ext cx="154533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6A34A"/>
                </a:solidFill>
                <a:latin typeface="Calibri"/>
              </a:rPr>
              <a:t>Edward  ·  健康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1720" y="361188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8181B"/>
                </a:solidFill>
                <a:latin typeface="Calibri"/>
              </a:rPr>
              <a:t>19%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18688" y="3817620"/>
            <a:ext cx="1197864" cy="118872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18688" y="3817620"/>
            <a:ext cx="227594" cy="1188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49913" y="3762756"/>
            <a:ext cx="27432" cy="2286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18688" y="3950208"/>
            <a:ext cx="1197864" cy="14630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時間 12%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80" y="3666744"/>
            <a:ext cx="1188720" cy="24688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B"/>
                </a:solidFill>
                <a:latin typeface="Calibri"/>
              </a:rPr>
              <a:t>2027/05/01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8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1A1AA"/>
                </a:solidFill>
                <a:latin typeface="Calibri"/>
              </a:rPr>
              <a:t>目標 2027/06/30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15000" y="3611880"/>
            <a:ext cx="8229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-60 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3611880"/>
            <a:ext cx="21488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6A34A"/>
                </a:solidFill>
                <a:latin typeface="Calibri"/>
              </a:rPr>
              <a:t>進度正常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251960"/>
            <a:ext cx="859536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A1A1AA"/>
                </a:solidFill>
                <a:latin typeface="Calibri"/>
              </a:rPr>
              <a:t>需主管裁示事項：9 件　·　詳見各專案 Page 2 與彙整頁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預算報支專案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Jeffery　·　2026/01/05 — 2026/11/30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C2626"/>
                </a:solidFill>
                <a:latin typeface="Calibri"/>
              </a:rPr>
              <a:t>警報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系統上線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762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91B1B"/>
                </a:solidFill>
                <a:latin typeface="Calibri"/>
              </a:rPr>
              <a:t>4 個任務已延遲,影響上線時程,需立即裁示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10/25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-36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48%　·　時間 43%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931212" cy="14630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40905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102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1757082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68562" y="3950208"/>
            <a:ext cx="394447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3009" y="3950208"/>
            <a:ext cx="143435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06444" y="3950208"/>
            <a:ext cx="71717" cy="1828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78162" y="3950208"/>
            <a:ext cx="1290917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279392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完成 49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427939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930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進行中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4279392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延遲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39" y="4279392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5234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風險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59" y="4279392"/>
            <a:ext cx="109728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83863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待開始 36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階段進度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2344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173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4181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010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2月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3904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5733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5741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7570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873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8702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8710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0539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9842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1671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1679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3507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3515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5344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4647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6476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10月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64845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83133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11月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7616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9445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12月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80559" y="1453895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1.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1453895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需求分析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96712" y="1453895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51624" y="1563624"/>
            <a:ext cx="443776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51624" y="1563624"/>
            <a:ext cx="443776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89120" y="1837943"/>
            <a:ext cx="452628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80559" y="1837943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2.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6320" y="1837943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系統分析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96712" y="1837943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88356" y="1947672"/>
            <a:ext cx="253586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788356" y="1947672"/>
            <a:ext cx="253586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59" y="2221991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3.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6320" y="2221991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系統設計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96712" y="2221991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92634" y="2331720"/>
            <a:ext cx="246542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992634" y="2331720"/>
            <a:ext cx="246542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89120" y="2606039"/>
            <a:ext cx="452628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80559" y="2606039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4.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2606039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系統開發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96712" y="2606039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DC2626"/>
                </a:solidFill>
                <a:latin typeface="Calibri"/>
              </a:rPr>
              <a:t>37%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89868" y="2715768"/>
            <a:ext cx="422644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189868" y="2715768"/>
            <a:ext cx="156378" cy="164592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59" y="2990087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5.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2990087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系統測試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96712" y="2990087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3%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84336" y="3099815"/>
            <a:ext cx="788935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84336" y="3099815"/>
            <a:ext cx="36576" cy="164592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89120" y="3374136"/>
            <a:ext cx="452628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80559" y="3374136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6.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46320" y="3374136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系統上線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96712" y="3374136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373272" y="3483864"/>
            <a:ext cx="316983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80559" y="3758183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7.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46320" y="3758183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專案管理 (全期)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96712" y="3758183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50%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51624" y="3867911"/>
            <a:ext cx="2338631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6351624" y="3867911"/>
            <a:ext cx="1169315" cy="16459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333865" y="1234440"/>
            <a:ext cx="21945" cy="3543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161958" y="4576572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70518" y="4576572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C2626"/>
                </a:solidFill>
                <a:latin typeface="Calibri"/>
              </a:rPr>
              <a:t>今日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預算報支專案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任務細項　·　2026/05/26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任務細項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68096"/>
            <a:ext cx="2061972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已延遲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68096"/>
            <a:ext cx="2061972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1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47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68096"/>
            <a:ext cx="206197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68096"/>
            <a:ext cx="2061972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65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81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近 14 天完成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225296"/>
            <a:ext cx="429768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已延遲（4）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32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已逾期且未完成,需立即處理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" y="1664208"/>
            <a:ext cx="36576" cy="22231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164592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C2626"/>
                </a:solidFill>
                <a:latin typeface="Calibri"/>
              </a:rPr>
              <a:t>4.1.5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164592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審核流程 API (含分層簽核) 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1810512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1B1B"/>
                </a:solidFill>
                <a:latin typeface="Calibri"/>
              </a:rPr>
              <a:t>Andy　·　預定 05/22　·　已逾期 4 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" y="1959673"/>
            <a:ext cx="4078224" cy="29546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" y="1996249"/>
            <a:ext cx="36576" cy="22231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1977961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C2626"/>
                </a:solidFill>
                <a:latin typeface="Calibri"/>
              </a:rPr>
              <a:t>4.1.7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1977961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與 ERP 整合介接 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2142553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1B1B"/>
                </a:solidFill>
                <a:latin typeface="Calibri"/>
              </a:rPr>
              <a:t>Leo　·　預定 05/29　·　已逾期 0 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" y="2328291"/>
            <a:ext cx="36576" cy="22231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2310003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C2626"/>
                </a:solidFill>
                <a:latin typeface="Calibri"/>
              </a:rPr>
              <a:t>4.1.8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2310003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Code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2474595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1B1B"/>
                </a:solidFill>
                <a:latin typeface="Calibri"/>
              </a:rPr>
              <a:t>Andy　·　預定 06/01　·　已逾期 0 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" y="2623756"/>
            <a:ext cx="4078224" cy="29546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3192" y="2660332"/>
            <a:ext cx="36576" cy="22231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264204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C2626"/>
                </a:solidFill>
                <a:latin typeface="Calibri"/>
              </a:rPr>
              <a:t>4.1.9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264204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單元測試撰寫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2806636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1B1B"/>
                </a:solidFill>
                <a:latin typeface="Calibri"/>
              </a:rPr>
              <a:t>Andy　·　預定 06/01　·　已逾期 0 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3120390"/>
            <a:ext cx="42976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Calibri"/>
              </a:rPr>
              <a:t>風險（2）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232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尚未發生但可能影響進度的任務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3192" y="3559302"/>
            <a:ext cx="36576" cy="3474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" y="354101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4.2.3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" y="354101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審核工作台畫面 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" y="3705606"/>
            <a:ext cx="3877056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Calibri"/>
              </a:rPr>
              <a:t>Ruby　·　06/01~06/26　·　前端人力同時支援他案, 排程恐受影響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" y="3979926"/>
            <a:ext cx="4078224" cy="4206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3192" y="4016502"/>
            <a:ext cx="36576" cy="3474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632" y="3998213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5.1.2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" y="3998213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測試資料整備 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" y="4162806"/>
            <a:ext cx="3877056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Calibri"/>
              </a:rPr>
              <a:t>Kang　·　08/10~08/21　·　測試資料需 ERP 端配合, 目前對方尚未排程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2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17720" y="1225296"/>
            <a:ext cx="4297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8231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進行中（2）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8144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目前正在執行的任務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8231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82312" y="1664208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73752" y="164592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4.2.2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58968" y="164592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申請單畫面開發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3752" y="1810512"/>
            <a:ext cx="3877056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Ruby　·　預定截止 05/29　·　還有 3 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27448" y="2084832"/>
            <a:ext cx="4078224" cy="4206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82312" y="2121408"/>
            <a:ext cx="36576" cy="347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73752" y="210312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4.1.6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58968" y="210312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管理者統計報表 API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3752" y="2267712"/>
            <a:ext cx="3877056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Andy　·　預定截止 06/05　·　還有 10 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1772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17720" y="3120390"/>
            <a:ext cx="429768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8231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天完成（4）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8144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本期已實際完成的任務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8231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82312" y="3559302"/>
            <a:ext cx="36576" cy="22231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73752" y="354101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4.1.2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58968" y="354101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權限管理 API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73752" y="3705606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Andy　·　完成 05/22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27448" y="3854767"/>
            <a:ext cx="4078224" cy="29546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782312" y="3891343"/>
            <a:ext cx="36576" cy="22231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73752" y="3873055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4.1.3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58968" y="3873055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申請單建立/送出 API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73752" y="4037647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Andy　·　完成 05/22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82312" y="4223385"/>
            <a:ext cx="36576" cy="22231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73752" y="4205097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4.1.4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58968" y="4205097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個人報支查詢 API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73752" y="4369689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Andy　·　完成 05/22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27448" y="4518850"/>
            <a:ext cx="4078224" cy="29546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782312" y="4555426"/>
            <a:ext cx="36576" cy="22231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73752" y="4537138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4.1.1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8968" y="4537138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使用者管理 API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73752" y="4701730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Andy　·　完成 05/14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理賠前掃優化案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Edward　·　2026/03/01 — 2026/09/30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97706"/>
                </a:solidFill>
                <a:latin typeface="Calibri"/>
              </a:rPr>
              <a:t>注意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系統上線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76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1 個任務延遲、2 個風險,整體仍可控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Calibr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10/14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+14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38%　·　時間 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520830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0321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98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1380930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92410" y="3950208"/>
            <a:ext cx="485191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77602" y="3950208"/>
            <a:ext cx="37322" cy="182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14924" y="3950208"/>
            <a:ext cx="74644" cy="1828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89569" y="3950208"/>
            <a:ext cx="1679510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279392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完成 37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427939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930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進行中 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4279392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延遲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39" y="4279392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5234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風險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59" y="4279392"/>
            <a:ext cx="109728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83863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待開始 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階段進度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263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091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8797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626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1250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3079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4785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614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7238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9067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07735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26023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3083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1371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67613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5901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10月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59" y="1453895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1.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1453895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議題盤點與優化機會…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96712" y="1453895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63448" y="1540535"/>
            <a:ext cx="302894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363448" y="1540535"/>
            <a:ext cx="302894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0" y="1791766"/>
            <a:ext cx="4526280" cy="33787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59" y="1791766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2.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6320" y="1791766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需求確認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96712" y="1791766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66343" y="1878406"/>
            <a:ext cx="454342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666343" y="1878406"/>
            <a:ext cx="454342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59" y="2129637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3.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6320" y="2129637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系統分析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96712" y="2129637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91%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01691" y="2216276"/>
            <a:ext cx="346165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001691" y="2216276"/>
            <a:ext cx="315010" cy="16459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89120" y="2467508"/>
            <a:ext cx="4526280" cy="33787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80559" y="2467508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4.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2467508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系統設計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96712" y="2467508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21%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04586" y="2554147"/>
            <a:ext cx="194718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304586" y="2554147"/>
            <a:ext cx="40890" cy="164592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80559" y="2805379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5.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46320" y="2805379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系統開發 (3 個…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96712" y="2805379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80310" y="2892018"/>
            <a:ext cx="800508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89120" y="3143250"/>
            <a:ext cx="4526280" cy="33787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80559" y="3143250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6.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46320" y="3143250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系統測試與 UAT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96712" y="3143250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5%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607481" y="3229889"/>
            <a:ext cx="951955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607481" y="3229889"/>
            <a:ext cx="47597" cy="164592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80559" y="3481120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7.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46320" y="3481120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系統滾動式上線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96712" y="3481120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559437" y="3567760"/>
            <a:ext cx="129812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89120" y="3818991"/>
            <a:ext cx="4526280" cy="33787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480559" y="3818991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8.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0" y="3818991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維運交接與結案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96712" y="3818991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59437" y="3905631"/>
            <a:ext cx="129812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480559" y="4156862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9.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6320" y="4156862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計畫外臨時議題處理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96712" y="4156862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DC2626"/>
                </a:solidFill>
                <a:latin typeface="Calibri"/>
              </a:rPr>
              <a:t>90%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742067" y="4243501"/>
            <a:ext cx="454342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6742067" y="4243501"/>
            <a:ext cx="408908" cy="164592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389120" y="4494733"/>
            <a:ext cx="4526280" cy="33787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480559" y="4494733"/>
            <a:ext cx="329184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10.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46320" y="4494733"/>
            <a:ext cx="868680" cy="337870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專案管理 (全期)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96712" y="4494733"/>
            <a:ext cx="548640" cy="33787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50%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52630" y="4581372"/>
            <a:ext cx="2336618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352630" y="4581372"/>
            <a:ext cx="1168309" cy="16459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71978" y="1234440"/>
            <a:ext cx="21945" cy="3543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100071" y="4576572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008631" y="4576572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7706"/>
                </a:solidFill>
                <a:latin typeface="Calibri"/>
              </a:rPr>
              <a:t>今日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理賠前掃優化案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任務細項　·　2026/05/26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任務細項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68096"/>
            <a:ext cx="2061972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已延遲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68096"/>
            <a:ext cx="2061972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1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47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68096"/>
            <a:ext cx="206197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68096"/>
            <a:ext cx="2061972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65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81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近 14 天完成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225296"/>
            <a:ext cx="429768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已延遲（1）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32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已逾期且未完成,需立即處理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" y="1664208"/>
            <a:ext cx="36576" cy="34747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164592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C2626"/>
                </a:solidFill>
                <a:latin typeface="Calibri"/>
              </a:rPr>
              <a:t>9.1.3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164592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緊急需求變更(總公司新政策)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1810512"/>
            <a:ext cx="3877056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1B1B"/>
                </a:solidFill>
                <a:latin typeface="Calibri"/>
              </a:rPr>
              <a:t>Edward　·　預定 05/15　·　已逾期 11 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3120390"/>
            <a:ext cx="42976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Calibri"/>
              </a:rPr>
              <a:t>風險（2）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32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尚未發生但可能影響進度的任務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3192" y="3559302"/>
            <a:ext cx="36576" cy="3474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354101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4.1.2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354101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規則設定後台 UI 設計 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3705606"/>
            <a:ext cx="3877056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Calibri"/>
              </a:rPr>
              <a:t>Ruby　·　06/01~06/12　·　UI/UX 人力被高優先案佔用, 可能延後 1 週起步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" y="3979926"/>
            <a:ext cx="4078224" cy="4206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3192" y="4016502"/>
            <a:ext cx="36576" cy="3474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3998213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Calibri"/>
              </a:rPr>
              <a:t>6.1.2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3998213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效能與壓力測試 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4162806"/>
            <a:ext cx="3877056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Calibri"/>
              </a:rPr>
              <a:t>Kang　·　08/24~08/28　·　批次掃描效能尚未基準化, 風險待釐清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1225296"/>
            <a:ext cx="4297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8231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進行中（4）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8144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目前正在執行的任務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8231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82312" y="1664208"/>
            <a:ext cx="36576" cy="22231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73752" y="164592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3.1.4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8968" y="164592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技術評估文件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73752" y="1810512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Leo　·　預定截止 06/01　·　還有 6 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27448" y="1959673"/>
            <a:ext cx="4078224" cy="29546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82312" y="1996249"/>
            <a:ext cx="36576" cy="22231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73752" y="1977961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3.1.5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58968" y="1977961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POC 概念驗證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73752" y="2142553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Leo　·　預定截止 06/01　·　還有 6 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82312" y="2328291"/>
            <a:ext cx="36576" cy="22231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73752" y="2310003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4.1.6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58968" y="2310003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分析文件 Review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2474595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Leo　·　預定截止 06/02　·　還有 7 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27448" y="2623756"/>
            <a:ext cx="4078224" cy="29546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82312" y="2660332"/>
            <a:ext cx="36576" cy="22231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73752" y="264204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4.1.7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58968" y="264204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跨系統影響評估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3752" y="2806636"/>
            <a:ext cx="3877056" cy="11258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Leo　·　預定截止 06/02　·　還有 7 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1772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617720" y="3120390"/>
            <a:ext cx="429768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8231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天完成（3）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144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本期已實際完成的任務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8231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82312" y="3559302"/>
            <a:ext cx="36576" cy="33299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73752" y="354101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3.1.2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58968" y="354101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掃描引擎效能評估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73752" y="3705606"/>
            <a:ext cx="3877056" cy="22326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Leo　·　完成 05/22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27448" y="3965448"/>
            <a:ext cx="4078224" cy="406146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82312" y="4002024"/>
            <a:ext cx="36576" cy="33299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73752" y="398373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3.1.1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58968" y="3983736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現有系統影響分析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73752" y="4148328"/>
            <a:ext cx="3877056" cy="22326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Leo　·　完成 05/15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82312" y="4444746"/>
            <a:ext cx="36576" cy="33299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73752" y="4426457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3.2.5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58968" y="4426457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需求簽核流程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73752" y="4591050"/>
            <a:ext cx="3877056" cy="223265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Edward　·　完成 05/15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KH 升級案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ChunYi　·　2026/03/15 — 2026/12/25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6A34A"/>
                </a:solidFill>
                <a:latin typeface="Calibri"/>
              </a:rPr>
              <a:t>健康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完成系統導入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532D"/>
                </a:solidFill>
                <a:latin typeface="Calibri"/>
              </a:rPr>
              <a:t>進度依計畫推進,整體狀況良好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12/13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-12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26%　·　時間 25%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1058143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32794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95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962526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74006" y="3950208"/>
            <a:ext cx="346509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20515" y="3950208"/>
            <a:ext cx="2348564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279392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完成 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427939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930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進行中 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4279392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延遲 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39" y="4279392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234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風險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59" y="4279392"/>
            <a:ext cx="109728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83863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待開始 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階段進度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88251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6539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32193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50481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8426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0255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820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4649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8028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57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3235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064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629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9458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10月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837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666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11月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72314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90602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12月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2438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4267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59" y="1453895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1.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6320" y="1453895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採購與合約簽訂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96712" y="1453895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58148" y="1531391"/>
            <a:ext cx="39843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358148" y="1531391"/>
            <a:ext cx="398439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0" y="1773478"/>
            <a:ext cx="4526280" cy="31958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0559" y="1773478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2.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1773478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需求訪談與差異分析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96712" y="1773478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756587" y="1850974"/>
            <a:ext cx="260205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756587" y="1850974"/>
            <a:ext cx="260205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0559" y="2093061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3.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46320" y="2093061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系統整體規劃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96712" y="2093061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55026" y="2170557"/>
            <a:ext cx="28459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89120" y="2412644"/>
            <a:ext cx="4526280" cy="31958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80559" y="2412644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4.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46320" y="2412644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客製化設計 (廠商…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96712" y="2412644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39625" y="2490139"/>
            <a:ext cx="28459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80559" y="2732227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5.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46320" y="2732227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客製化開發 (廠商…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96712" y="2732227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724225" y="2809722"/>
            <a:ext cx="39843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89120" y="3051810"/>
            <a:ext cx="4526280" cy="31958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80559" y="3051810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6.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46320" y="3051810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環境建置與資料遷移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96712" y="3051810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50%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756587" y="3129305"/>
            <a:ext cx="1593756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756587" y="3129305"/>
            <a:ext cx="796878" cy="16459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80559" y="3371392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7.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46320" y="3371392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系統測試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96712" y="3371392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122664" y="3448888"/>
            <a:ext cx="39843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89120" y="3690975"/>
            <a:ext cx="4526280" cy="31958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480559" y="3690975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8.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0" y="3690975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全行教育訓練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96712" y="3690975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236504" y="3768471"/>
            <a:ext cx="34151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480559" y="4010558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9.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6320" y="4010558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系統正式上線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96712" y="4010558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521103" y="4088053"/>
            <a:ext cx="11383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89120" y="4330141"/>
            <a:ext cx="4526280" cy="31958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80559" y="4330141"/>
            <a:ext cx="329184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10.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46320" y="4330141"/>
            <a:ext cx="868680" cy="319582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並行運作與結案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96712" y="4330141"/>
            <a:ext cx="548640" cy="31958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578023" y="4407636"/>
            <a:ext cx="113839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24505" y="1234440"/>
            <a:ext cx="21945" cy="33604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752598" y="4393692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661158" y="4393692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6A34A"/>
                </a:solidFill>
                <a:latin typeface="Calibri"/>
              </a:rPr>
              <a:t>今日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53712" y="4668012"/>
            <a:ext cx="4197096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1">
                <a:solidFill>
                  <a:srgbClr val="A1A1AA"/>
                </a:solidFill>
                <a:latin typeface="Calibri"/>
              </a:rPr>
              <a:t>另有 1 個階段未顯示, 詳見 WBS 明細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KH 升級案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任務細項　·　2026/05/26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任務細項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68096"/>
            <a:ext cx="2061972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已延遲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68096"/>
            <a:ext cx="2061972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1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47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68096"/>
            <a:ext cx="206197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68096"/>
            <a:ext cx="2061972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65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81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近 14 天完成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225296"/>
            <a:ext cx="429768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已延遲（0）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32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已逾期且未完成,需立即處理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2017394"/>
            <a:ext cx="3749040" cy="5486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017394"/>
            <a:ext cx="374904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✓ 目前無延遲任務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120390"/>
            <a:ext cx="42976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Calibri"/>
              </a:rPr>
              <a:t>風險（0）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232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尚未發生但可能影響進度的任務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3912488"/>
            <a:ext cx="3749040" cy="5486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12488"/>
            <a:ext cx="374904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✓ 目前無風險任務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17720" y="1225296"/>
            <a:ext cx="4297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8231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進行中（0）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144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目前正在執行的任務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8231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92040" y="2017394"/>
            <a:ext cx="374904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2017394"/>
            <a:ext cx="374904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1A1AA"/>
                </a:solidFill>
                <a:latin typeface="Calibri"/>
              </a:rPr>
              <a:t>目前無進行中任務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17720" y="3120390"/>
            <a:ext cx="429768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8231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天完成（9）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144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本期已實際完成的任務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8231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82312" y="3559302"/>
            <a:ext cx="36576" cy="26593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3752" y="354101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2.1.2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8968" y="354101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部門需求收集(共 12 單位)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3752" y="3705606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Kate　·　完成 05/22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27448" y="3898392"/>
            <a:ext cx="4078224" cy="33909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82312" y="3934968"/>
            <a:ext cx="36576" cy="26593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73752" y="391668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2.2.4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58968" y="391668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訪談記錄整理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73752" y="4081272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Kate　·　完成 05/22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82312" y="4310634"/>
            <a:ext cx="36576" cy="26593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73752" y="4292345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2.2.5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58968" y="4292345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需求變更追蹤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73752" y="4456938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ChunYi　·　完成 05/22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82312" y="4686300"/>
            <a:ext cx="396849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A1A1AA"/>
                </a:solidFill>
                <a:latin typeface="Calibri"/>
              </a:rPr>
              <a:t>另有 6 件,詳見 WBS 明細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IFRS17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PM　Edward　·　2026/04/01 — 2027/06/30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專案概況　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199" y="950976"/>
            <a:ext cx="310896" cy="310896"/>
          </a:xfrm>
          <a:prstGeom prst="ellipse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70" y="1010046"/>
            <a:ext cx="192755" cy="192755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905256"/>
            <a:ext cx="2286000" cy="42062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6A34A"/>
                </a:solidFill>
                <a:latin typeface="Calibri"/>
              </a:rPr>
              <a:t>健康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3246120" cy="21945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法規上線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563624"/>
            <a:ext cx="3694176" cy="53949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3419856" cy="5394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532D"/>
                </a:solidFill>
                <a:latin typeface="Calibri"/>
              </a:rPr>
              <a:t>進度超前約 7%,依計畫順利推進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完成率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972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972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8181B"/>
                </a:solidFill>
                <a:latin typeface="Calibri"/>
              </a:rPr>
              <a:t>05/01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972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預估完工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10840" y="2267712"/>
            <a:ext cx="1341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0840" y="2340864"/>
            <a:ext cx="1341120" cy="4526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-60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840" y="2798064"/>
            <a:ext cx="1341120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與目標偏差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163824"/>
            <a:ext cx="182880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1717A"/>
                </a:solidFill>
                <a:latin typeface="Calibri"/>
              </a:rPr>
              <a:t>進度 vs 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63824"/>
            <a:ext cx="2194560" cy="16459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1717A"/>
                </a:solidFill>
                <a:latin typeface="Calibri"/>
              </a:rPr>
              <a:t>完成 19%　·　時間 12%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34670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" y="3346704"/>
            <a:ext cx="764438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1710" y="3291840"/>
            <a:ext cx="27432" cy="25603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584448"/>
            <a:ext cx="4023360" cy="12847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1717A"/>
                </a:solidFill>
                <a:latin typeface="Calibri"/>
              </a:rPr>
              <a:t>任務分佈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9312"/>
            <a:ext cx="369417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1A1AA"/>
                </a:solidFill>
                <a:latin typeface="Calibri"/>
              </a:rPr>
              <a:t>共 100 個任務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50208"/>
            <a:ext cx="694944" cy="18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6424" y="3950208"/>
            <a:ext cx="548640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55064" y="3950208"/>
            <a:ext cx="2414016" cy="18288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279392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完成 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427939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930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進行中 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4279392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延遲 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39" y="4279392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2344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風險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59" y="4279392"/>
            <a:ext cx="109728" cy="109728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83863" y="424281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待開始 66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777240"/>
            <a:ext cx="4526280" cy="40919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8686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B"/>
                </a:solidFill>
                <a:latin typeface="Calibri"/>
              </a:rPr>
              <a:t>階段進度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1197864"/>
            <a:ext cx="452628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17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346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07896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6184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6570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8399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8427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6715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23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452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8月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4048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52336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9月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8676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0505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10月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44579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62867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11月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9730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1558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12月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5511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339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1月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12921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31209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2月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55460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73748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3月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13271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31559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4月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65991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84279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5月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2380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4209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6月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76522" y="1234440"/>
            <a:ext cx="5486" cy="363474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94810" y="1252728"/>
            <a:ext cx="36576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A1A1AA"/>
                </a:solidFill>
                <a:latin typeface="Calibri"/>
              </a:rPr>
              <a:t>7月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59" y="1453895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1.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6320" y="1453895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專案啟動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96712" y="1453895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55176" y="1563624"/>
            <a:ext cx="132357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355176" y="1563624"/>
            <a:ext cx="132357" cy="164592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89120" y="1837943"/>
            <a:ext cx="452628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0559" y="1837943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2.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6320" y="1837943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法規研讀與差異分析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96712" y="1837943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85%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87533" y="1947672"/>
            <a:ext cx="213808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487533" y="1947672"/>
            <a:ext cx="181736" cy="16459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80559" y="2221991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3.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2221991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會計政策制定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96712" y="2221991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4%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80979" y="2331720"/>
            <a:ext cx="305440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680979" y="2331720"/>
            <a:ext cx="36576" cy="16459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389120" y="2606039"/>
            <a:ext cx="452628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80559" y="2606039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4.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6320" y="2606039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精算模型建置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96712" y="2606039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38789" y="2715768"/>
            <a:ext cx="717784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480559" y="2990087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5.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46320" y="2990087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IFRS17 系統…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96712" y="2990087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986419" y="3099815"/>
            <a:ext cx="1140310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389120" y="3374136"/>
            <a:ext cx="452628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80559" y="3374136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6.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46320" y="3374136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平行測算與資料移轉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96712" y="3374136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266406" y="3483864"/>
            <a:ext cx="1181035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80559" y="3758183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7.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46320" y="3758183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教育訓練與正式上線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96712" y="3758183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1A1AA"/>
                </a:solidFill>
                <a:latin typeface="Calibri"/>
              </a:rPr>
              <a:t>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43116" y="3867911"/>
            <a:ext cx="1043587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389120" y="4142231"/>
            <a:ext cx="452628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480559" y="4142231"/>
            <a:ext cx="329184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71717A"/>
                </a:solidFill>
                <a:latin typeface="Calibri"/>
              </a:rPr>
              <a:t>8.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46320" y="4142231"/>
            <a:ext cx="868680" cy="384048"/>
          </a:xfrm>
          <a:prstGeom prst="rect">
            <a:avLst/>
          </a:prstGeom>
          <a:noFill/>
        </p:spPr>
        <p:txBody>
          <a:bodyPr wrap="none" lIns="36000" rIns="36000" tIns="18000" bIns="1800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B"/>
                </a:solidFill>
                <a:latin typeface="Calibri"/>
              </a:rPr>
              <a:t>專案管理 (全期)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96712" y="4142231"/>
            <a:ext cx="5486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50%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355176" y="4251959"/>
            <a:ext cx="2331527" cy="164592"/>
          </a:xfrm>
          <a:prstGeom prst="roundRect">
            <a:avLst>
              <a:gd name="adj" fmla="val 40000"/>
            </a:avLst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355176" y="4251959"/>
            <a:ext cx="1165763" cy="16459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624190" y="1234440"/>
            <a:ext cx="21945" cy="35433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52283" y="4576572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60843" y="4576572"/>
            <a:ext cx="54864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6A34A"/>
                </a:solidFill>
                <a:latin typeface="Calibri"/>
              </a:rPr>
              <a:t>今日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B"/>
                </a:solidFill>
                <a:latin typeface="Calibri"/>
              </a:rPr>
              <a:t>IFRS17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91440"/>
            <a:ext cx="2834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1717A"/>
                </a:solidFill>
                <a:latin typeface="Calibri"/>
              </a:rPr>
              <a:t>任務細項　·　2026/05/26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9144000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869180"/>
            <a:ext cx="8961120" cy="1828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A1A1AA"/>
                </a:solidFill>
                <a:latin typeface="Calibri"/>
              </a:rPr>
              <a:t>任務細項　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68096"/>
            <a:ext cx="2061972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已延遲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768096"/>
            <a:ext cx="2061972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1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47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風險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768096"/>
            <a:ext cx="206197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進行中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768096"/>
            <a:ext cx="206197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3700" y="768096"/>
            <a:ext cx="2061972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6580" y="768096"/>
            <a:ext cx="7315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8100" y="768096"/>
            <a:ext cx="1056131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1717A"/>
                </a:solidFill>
                <a:latin typeface="Calibri"/>
              </a:rPr>
              <a:t>近 14 天完成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1225296"/>
            <a:ext cx="429768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已延遲（0）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32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已逾期且未完成,需立即處理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2017394"/>
            <a:ext cx="3749040" cy="5486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017394"/>
            <a:ext cx="374904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✓ 目前無延遲任務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120390"/>
            <a:ext cx="42976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Calibri"/>
              </a:rPr>
              <a:t>風險（0）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232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尚未發生但可能影響進度的任務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3912488"/>
            <a:ext cx="3749040" cy="5486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12488"/>
            <a:ext cx="374904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✓ 目前無風險任務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1225296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17720" y="1225296"/>
            <a:ext cx="4297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82312" y="1298448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進行中（5）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1444" y="1298448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目前正在執行的任務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82312" y="1572768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82312" y="1664208"/>
            <a:ext cx="36576" cy="26593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73752" y="164592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2.2.3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8968" y="164592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系統影響範圍盤點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3752" y="1810512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Martin　·　預定截止 05/29　·　還有 3 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7448" y="2003298"/>
            <a:ext cx="4078224" cy="33909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82312" y="2039874"/>
            <a:ext cx="36576" cy="26593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3752" y="2021586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2.2.4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8968" y="2021586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差異分析報告與會審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73752" y="2186178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Gina　·　預定截止 06/05　·　還有 10 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82312" y="2415540"/>
            <a:ext cx="36576" cy="26593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73752" y="2397252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2.2.5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8968" y="2397252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法規問答彙整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73752" y="2561844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1717A"/>
                </a:solidFill>
                <a:latin typeface="Calibri"/>
              </a:rPr>
              <a:t>Gina　·　預定截止 06/08　·　還有 13 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82312" y="2791206"/>
            <a:ext cx="396849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A1A1AA"/>
                </a:solidFill>
                <a:latin typeface="Calibri"/>
              </a:rPr>
              <a:t>另有 2 件,詳見 WBS 明細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3120390"/>
            <a:ext cx="4297680" cy="1803654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17720" y="3120390"/>
            <a:ext cx="429768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82312" y="3193542"/>
            <a:ext cx="2363724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近 14 天完成（8）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81444" y="3193542"/>
            <a:ext cx="1848002" cy="23774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71717A"/>
                </a:solidFill>
                <a:latin typeface="Calibri"/>
              </a:rPr>
              <a:t>本期已實際完成的任務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82312" y="3467862"/>
            <a:ext cx="3968496" cy="5486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82312" y="3559302"/>
            <a:ext cx="36576" cy="26593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73752" y="3541014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2.2.1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58968" y="3541014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會計政策現況 vs IFRS17 差異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73752" y="3705606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Gina　·　完成 05/22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27448" y="3898392"/>
            <a:ext cx="4078224" cy="33909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82312" y="3934968"/>
            <a:ext cx="36576" cy="26593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73752" y="3916680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2.2.2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58968" y="3916680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精算模型差異盤點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73752" y="4081272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浩倫　·　完成 05/22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82312" y="4310634"/>
            <a:ext cx="36576" cy="26593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73752" y="4292345"/>
            <a:ext cx="56692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6A34A"/>
                </a:solidFill>
                <a:latin typeface="Calibri"/>
              </a:rPr>
              <a:t>2.2.7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58968" y="4292345"/>
            <a:ext cx="3264408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181B"/>
                </a:solidFill>
                <a:latin typeface="Calibri"/>
              </a:rPr>
              <a:t>法規影響分析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3752" y="4456938"/>
            <a:ext cx="3877056" cy="15621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4532D"/>
                </a:solidFill>
                <a:latin typeface="Calibri"/>
              </a:rPr>
              <a:t>浩倫　·　完成 05/22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82312" y="4686300"/>
            <a:ext cx="3968496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A1A1AA"/>
                </a:solidFill>
                <a:latin typeface="Calibri"/>
              </a:rPr>
              <a:t>另有 5 件,詳見 WBS 明細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8181B"/>
                </a:solidFill>
                <a:latin typeface="Calibri"/>
              </a:rPr>
              <a:t>謝謝聆聽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743200"/>
            <a:ext cx="2743200" cy="731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914400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717A"/>
                </a:solidFill>
                <a:latin typeface="Calibri"/>
              </a:rPr>
              <a:t>本期報告　2026/05/26　　·　　下次回報　2026/06/02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